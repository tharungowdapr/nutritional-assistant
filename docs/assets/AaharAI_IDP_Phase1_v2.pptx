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264" r:id="rId3"/>
    <p:sldId id="797" r:id="rId4"/>
    <p:sldId id="798" r:id="rId16"/>
    <p:sldId id="790" r:id="rId5"/>
    <p:sldId id="265" r:id="rId6"/>
    <p:sldId id="803" r:id="rId20"/>
    <p:sldId id="804" r:id="rId21"/>
    <p:sldId id="805" r:id="rId22"/>
    <p:sldId id="29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varScale="1">
        <p:scale>
          <a:sx n="113" d="100"/>
          <a:sy n="113" d="100"/>
        </p:scale>
        <p:origin x="510" y="10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14" Type="http://schemas.openxmlformats.org/officeDocument/2006/relationships/theme" Target="theme/theme1.xml"/><Relationship Id="rId16" Type="http://schemas.openxmlformats.org/officeDocument/2006/relationships/slide" Target="slides/slide10.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FCD484A-CDC6-4265-8E78-593B314B8390}"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AD587-BA54-4B24-898D-F65FF3229E02}" type="slidenum">
              <a:rPr lang="en-IN" smtClean="0"/>
              <a:t>‹#›</a:t>
            </a:fld>
            <a:endParaRPr lang="en-IN"/>
          </a:p>
        </p:txBody>
      </p:sp>
    </p:spTree>
    <p:extLst>
      <p:ext uri="{BB962C8B-B14F-4D97-AF65-F5344CB8AC3E}">
        <p14:creationId xmlns:p14="http://schemas.microsoft.com/office/powerpoint/2010/main" val="1857594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3740110"/>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522300" y="12454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3"/>
          <p:cNvSpPr txBox="1">
            <a:spLocks noGrp="1"/>
          </p:cNvSpPr>
          <p:nvPr>
            <p:ph type="body" idx="1"/>
          </p:nvPr>
        </p:nvSpPr>
        <p:spPr>
          <a:xfrm>
            <a:off x="337667" y="2476667"/>
            <a:ext cx="11360800" cy="4555200"/>
          </a:xfrm>
          <a:prstGeom prst="rect">
            <a:avLst/>
          </a:prstGeom>
        </p:spPr>
        <p:txBody>
          <a:bodyPr spcFirstLastPara="1" wrap="square" lIns="91425" tIns="91425" rIns="91425" bIns="91425" anchor="t" anchorCtr="0">
            <a:normAutofit/>
          </a:bodyPr>
          <a:lstStyle>
            <a:lvl1pPr marL="548627" lvl="0" indent="-411470">
              <a:spcBef>
                <a:spcPts val="0"/>
              </a:spcBef>
              <a:spcAft>
                <a:spcPts val="0"/>
              </a:spcAft>
              <a:buSzPts val="1800"/>
              <a:buChar char="●"/>
              <a:defRPr/>
            </a:lvl1pPr>
            <a:lvl2pPr marL="1097254" lvl="1" indent="-380990">
              <a:spcBef>
                <a:spcPts val="0"/>
              </a:spcBef>
              <a:spcAft>
                <a:spcPts val="0"/>
              </a:spcAft>
              <a:buSzPts val="1400"/>
              <a:buChar char="○"/>
              <a:defRPr/>
            </a:lvl2pPr>
            <a:lvl3pPr marL="1645879" lvl="2" indent="-380990">
              <a:spcBef>
                <a:spcPts val="0"/>
              </a:spcBef>
              <a:spcAft>
                <a:spcPts val="0"/>
              </a:spcAft>
              <a:buSzPts val="1400"/>
              <a:buChar char="■"/>
              <a:defRPr/>
            </a:lvl3pPr>
            <a:lvl4pPr marL="2194505" lvl="3" indent="-380990">
              <a:spcBef>
                <a:spcPts val="0"/>
              </a:spcBef>
              <a:spcAft>
                <a:spcPts val="0"/>
              </a:spcAft>
              <a:buSzPts val="1400"/>
              <a:buChar char="●"/>
              <a:defRPr/>
            </a:lvl4pPr>
            <a:lvl5pPr marL="2743132" lvl="4" indent="-380990">
              <a:spcBef>
                <a:spcPts val="0"/>
              </a:spcBef>
              <a:spcAft>
                <a:spcPts val="0"/>
              </a:spcAft>
              <a:buSzPts val="1400"/>
              <a:buChar char="○"/>
              <a:defRPr/>
            </a:lvl5pPr>
            <a:lvl6pPr marL="3291758" lvl="5" indent="-380990">
              <a:spcBef>
                <a:spcPts val="0"/>
              </a:spcBef>
              <a:spcAft>
                <a:spcPts val="0"/>
              </a:spcAft>
              <a:buSzPts val="1400"/>
              <a:buChar char="■"/>
              <a:defRPr/>
            </a:lvl6pPr>
            <a:lvl7pPr marL="3840384" lvl="6" indent="-380990">
              <a:spcBef>
                <a:spcPts val="0"/>
              </a:spcBef>
              <a:spcAft>
                <a:spcPts val="0"/>
              </a:spcAft>
              <a:buSzPts val="1400"/>
              <a:buChar char="●"/>
              <a:defRPr/>
            </a:lvl7pPr>
            <a:lvl8pPr marL="4389011" lvl="7" indent="-380990">
              <a:spcBef>
                <a:spcPts val="0"/>
              </a:spcBef>
              <a:spcAft>
                <a:spcPts val="0"/>
              </a:spcAft>
              <a:buSzPts val="1400"/>
              <a:buChar char="○"/>
              <a:defRPr/>
            </a:lvl8pPr>
            <a:lvl9pPr marL="4937636" lvl="8" indent="-380990">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11296611" y="6217624"/>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435675403"/>
      </p:ext>
    </p:extLst>
  </p:cSld>
  <p:clrMapOvr>
    <a:masterClrMapping/>
  </p:clrMapOvr>
  <p:extLst>
    <p:ext uri="{DCECCB84-F9BA-43D5-87BE-67443E8EF086}">
      <p15:sldGuideLst xmlns:p15="http://schemas.microsoft.com/office/powerpoint/2012/main">
        <p15:guide id="1" orient="horz" pos="459">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880"/>
            </a:lvl1pPr>
            <a:lvl2pPr lvl="1">
              <a:spcBef>
                <a:spcPts val="0"/>
              </a:spcBef>
              <a:spcAft>
                <a:spcPts val="0"/>
              </a:spcAft>
              <a:buSzPts val="2400"/>
              <a:buNone/>
              <a:defRPr sz="2880"/>
            </a:lvl2pPr>
            <a:lvl3pPr lvl="2">
              <a:spcBef>
                <a:spcPts val="0"/>
              </a:spcBef>
              <a:spcAft>
                <a:spcPts val="0"/>
              </a:spcAft>
              <a:buSzPts val="2400"/>
              <a:buNone/>
              <a:defRPr sz="2880"/>
            </a:lvl3pPr>
            <a:lvl4pPr lvl="3">
              <a:spcBef>
                <a:spcPts val="0"/>
              </a:spcBef>
              <a:spcAft>
                <a:spcPts val="0"/>
              </a:spcAft>
              <a:buSzPts val="2400"/>
              <a:buNone/>
              <a:defRPr sz="2880"/>
            </a:lvl4pPr>
            <a:lvl5pPr lvl="4">
              <a:spcBef>
                <a:spcPts val="0"/>
              </a:spcBef>
              <a:spcAft>
                <a:spcPts val="0"/>
              </a:spcAft>
              <a:buSzPts val="2400"/>
              <a:buNone/>
              <a:defRPr sz="2880"/>
            </a:lvl5pPr>
            <a:lvl6pPr lvl="5">
              <a:spcBef>
                <a:spcPts val="0"/>
              </a:spcBef>
              <a:spcAft>
                <a:spcPts val="0"/>
              </a:spcAft>
              <a:buSzPts val="2400"/>
              <a:buNone/>
              <a:defRPr sz="2880"/>
            </a:lvl6pPr>
            <a:lvl7pPr lvl="6">
              <a:spcBef>
                <a:spcPts val="0"/>
              </a:spcBef>
              <a:spcAft>
                <a:spcPts val="0"/>
              </a:spcAft>
              <a:buSzPts val="2400"/>
              <a:buNone/>
              <a:defRPr sz="2880"/>
            </a:lvl7pPr>
            <a:lvl8pPr lvl="7">
              <a:spcBef>
                <a:spcPts val="0"/>
              </a:spcBef>
              <a:spcAft>
                <a:spcPts val="0"/>
              </a:spcAft>
              <a:buSzPts val="2400"/>
              <a:buNone/>
              <a:defRPr sz="2880"/>
            </a:lvl8pPr>
            <a:lvl9pPr lvl="8">
              <a:spcBef>
                <a:spcPts val="0"/>
              </a:spcBef>
              <a:spcAft>
                <a:spcPts val="0"/>
              </a:spcAft>
              <a:buSzPts val="2400"/>
              <a:buNone/>
              <a:defRPr sz="2880"/>
            </a:lvl9pPr>
          </a:lstStyle>
          <a:p>
            <a:endParaRPr/>
          </a:p>
        </p:txBody>
      </p:sp>
      <p:sp>
        <p:nvSpPr>
          <p:cNvPr id="30" name="Google Shape;30;p6"/>
          <p:cNvSpPr txBox="1">
            <a:spLocks noGrp="1"/>
          </p:cNvSpPr>
          <p:nvPr>
            <p:ph type="body" idx="1"/>
          </p:nvPr>
        </p:nvSpPr>
        <p:spPr>
          <a:xfrm>
            <a:off x="415600" y="1852801"/>
            <a:ext cx="3744000" cy="4239200"/>
          </a:xfrm>
          <a:prstGeom prst="rect">
            <a:avLst/>
          </a:prstGeom>
        </p:spPr>
        <p:txBody>
          <a:bodyPr spcFirstLastPara="1" wrap="square" lIns="91425" tIns="91425" rIns="91425" bIns="91425" anchor="t" anchorCtr="0">
            <a:normAutofit/>
          </a:bodyPr>
          <a:lstStyle>
            <a:lvl1pPr marL="548627" lvl="0" indent="-365752">
              <a:spcBef>
                <a:spcPts val="0"/>
              </a:spcBef>
              <a:spcAft>
                <a:spcPts val="0"/>
              </a:spcAft>
              <a:buSzPts val="1200"/>
              <a:buChar char="●"/>
              <a:defRPr sz="1440"/>
            </a:lvl1pPr>
            <a:lvl2pPr marL="1097254" lvl="1" indent="-365752">
              <a:spcBef>
                <a:spcPts val="0"/>
              </a:spcBef>
              <a:spcAft>
                <a:spcPts val="0"/>
              </a:spcAft>
              <a:buSzPts val="1200"/>
              <a:buChar char="○"/>
              <a:defRPr sz="1440"/>
            </a:lvl2pPr>
            <a:lvl3pPr marL="1645879" lvl="2" indent="-365752">
              <a:spcBef>
                <a:spcPts val="0"/>
              </a:spcBef>
              <a:spcAft>
                <a:spcPts val="0"/>
              </a:spcAft>
              <a:buSzPts val="1200"/>
              <a:buChar char="■"/>
              <a:defRPr sz="1440"/>
            </a:lvl3pPr>
            <a:lvl4pPr marL="2194505" lvl="3" indent="-365752">
              <a:spcBef>
                <a:spcPts val="0"/>
              </a:spcBef>
              <a:spcAft>
                <a:spcPts val="0"/>
              </a:spcAft>
              <a:buSzPts val="1200"/>
              <a:buChar char="●"/>
              <a:defRPr sz="1440"/>
            </a:lvl4pPr>
            <a:lvl5pPr marL="2743132" lvl="4" indent="-365752">
              <a:spcBef>
                <a:spcPts val="0"/>
              </a:spcBef>
              <a:spcAft>
                <a:spcPts val="0"/>
              </a:spcAft>
              <a:buSzPts val="1200"/>
              <a:buChar char="○"/>
              <a:defRPr sz="1440"/>
            </a:lvl5pPr>
            <a:lvl6pPr marL="3291758" lvl="5" indent="-365752">
              <a:spcBef>
                <a:spcPts val="0"/>
              </a:spcBef>
              <a:spcAft>
                <a:spcPts val="0"/>
              </a:spcAft>
              <a:buSzPts val="1200"/>
              <a:buChar char="■"/>
              <a:defRPr sz="1440"/>
            </a:lvl6pPr>
            <a:lvl7pPr marL="3840384" lvl="6" indent="-365752">
              <a:spcBef>
                <a:spcPts val="0"/>
              </a:spcBef>
              <a:spcAft>
                <a:spcPts val="0"/>
              </a:spcAft>
              <a:buSzPts val="1200"/>
              <a:buChar char="●"/>
              <a:defRPr sz="1440"/>
            </a:lvl7pPr>
            <a:lvl8pPr marL="4389011" lvl="7" indent="-365752">
              <a:spcBef>
                <a:spcPts val="0"/>
              </a:spcBef>
              <a:spcAft>
                <a:spcPts val="0"/>
              </a:spcAft>
              <a:buSzPts val="1200"/>
              <a:buChar char="○"/>
              <a:defRPr sz="1440"/>
            </a:lvl8pPr>
            <a:lvl9pPr marL="4937636" lvl="8" indent="-365752">
              <a:spcBef>
                <a:spcPts val="0"/>
              </a:spcBef>
              <a:spcAft>
                <a:spcPts val="0"/>
              </a:spcAft>
              <a:buSzPts val="1200"/>
              <a:buChar char="■"/>
              <a:defRPr sz="1440"/>
            </a:lvl9pPr>
          </a:lstStyle>
          <a:p>
            <a:endParaRPr/>
          </a:p>
        </p:txBody>
      </p:sp>
      <p:sp>
        <p:nvSpPr>
          <p:cNvPr id="31" name="Google Shape;31;p6"/>
          <p:cNvSpPr txBox="1">
            <a:spLocks noGrp="1"/>
          </p:cNvSpPr>
          <p:nvPr>
            <p:ph type="sldNum" idx="12"/>
          </p:nvPr>
        </p:nvSpPr>
        <p:spPr>
          <a:xfrm>
            <a:off x="11296611" y="6217624"/>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884698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653667" y="600201"/>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5760"/>
            </a:lvl1pPr>
            <a:lvl2pPr lvl="1">
              <a:spcBef>
                <a:spcPts val="0"/>
              </a:spcBef>
              <a:spcAft>
                <a:spcPts val="0"/>
              </a:spcAft>
              <a:buSzPts val="4800"/>
              <a:buNone/>
              <a:defRPr sz="5760"/>
            </a:lvl2pPr>
            <a:lvl3pPr lvl="2">
              <a:spcBef>
                <a:spcPts val="0"/>
              </a:spcBef>
              <a:spcAft>
                <a:spcPts val="0"/>
              </a:spcAft>
              <a:buSzPts val="4800"/>
              <a:buNone/>
              <a:defRPr sz="5760"/>
            </a:lvl3pPr>
            <a:lvl4pPr lvl="3">
              <a:spcBef>
                <a:spcPts val="0"/>
              </a:spcBef>
              <a:spcAft>
                <a:spcPts val="0"/>
              </a:spcAft>
              <a:buSzPts val="4800"/>
              <a:buNone/>
              <a:defRPr sz="5760"/>
            </a:lvl4pPr>
            <a:lvl5pPr lvl="4">
              <a:spcBef>
                <a:spcPts val="0"/>
              </a:spcBef>
              <a:spcAft>
                <a:spcPts val="0"/>
              </a:spcAft>
              <a:buSzPts val="4800"/>
              <a:buNone/>
              <a:defRPr sz="5760"/>
            </a:lvl5pPr>
            <a:lvl6pPr lvl="5">
              <a:spcBef>
                <a:spcPts val="0"/>
              </a:spcBef>
              <a:spcAft>
                <a:spcPts val="0"/>
              </a:spcAft>
              <a:buSzPts val="4800"/>
              <a:buNone/>
              <a:defRPr sz="5760"/>
            </a:lvl6pPr>
            <a:lvl7pPr lvl="6">
              <a:spcBef>
                <a:spcPts val="0"/>
              </a:spcBef>
              <a:spcAft>
                <a:spcPts val="0"/>
              </a:spcAft>
              <a:buSzPts val="4800"/>
              <a:buNone/>
              <a:defRPr sz="5760"/>
            </a:lvl7pPr>
            <a:lvl8pPr lvl="7">
              <a:spcBef>
                <a:spcPts val="0"/>
              </a:spcBef>
              <a:spcAft>
                <a:spcPts val="0"/>
              </a:spcAft>
              <a:buSzPts val="4800"/>
              <a:buNone/>
              <a:defRPr sz="5760"/>
            </a:lvl8pPr>
            <a:lvl9pPr lvl="8">
              <a:spcBef>
                <a:spcPts val="0"/>
              </a:spcBef>
              <a:spcAft>
                <a:spcPts val="0"/>
              </a:spcAft>
              <a:buSzPts val="4800"/>
              <a:buNone/>
              <a:defRPr sz="5760"/>
            </a:lvl9pPr>
          </a:lstStyle>
          <a:p>
            <a:endParaRPr/>
          </a:p>
        </p:txBody>
      </p:sp>
      <p:sp>
        <p:nvSpPr>
          <p:cNvPr id="34" name="Google Shape;34;p7"/>
          <p:cNvSpPr txBox="1">
            <a:spLocks noGrp="1"/>
          </p:cNvSpPr>
          <p:nvPr>
            <p:ph type="sldNum" idx="12"/>
          </p:nvPr>
        </p:nvSpPr>
        <p:spPr>
          <a:xfrm>
            <a:off x="11296611" y="6217624"/>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060658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8"/>
          <p:cNvSpPr/>
          <p:nvPr/>
        </p:nvSpPr>
        <p:spPr>
          <a:xfrm>
            <a:off x="6096000" y="-167"/>
            <a:ext cx="6096000" cy="6858000"/>
          </a:xfrm>
          <a:prstGeom prst="rect">
            <a:avLst/>
          </a:prstGeom>
          <a:solidFill>
            <a:schemeClr val="lt2"/>
          </a:solidFill>
          <a:ln>
            <a:noFill/>
          </a:ln>
        </p:spPr>
        <p:txBody>
          <a:bodyPr spcFirstLastPara="1" wrap="square" lIns="109710" tIns="109710" rIns="109710" bIns="109710" anchor="ctr" anchorCtr="0">
            <a:noAutofit/>
          </a:bodyPr>
          <a:lstStyle/>
          <a:p>
            <a:pPr marL="0" lvl="0" indent="0" algn="l" rtl="0">
              <a:spcBef>
                <a:spcPts val="0"/>
              </a:spcBef>
              <a:spcAft>
                <a:spcPts val="0"/>
              </a:spcAft>
              <a:buNone/>
            </a:pPr>
            <a:endParaRPr sz="2240"/>
          </a:p>
        </p:txBody>
      </p:sp>
      <p:sp>
        <p:nvSpPr>
          <p:cNvPr id="37" name="Google Shape;37;p8"/>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040"/>
            </a:lvl1pPr>
            <a:lvl2pPr lvl="1" algn="ctr">
              <a:spcBef>
                <a:spcPts val="0"/>
              </a:spcBef>
              <a:spcAft>
                <a:spcPts val="0"/>
              </a:spcAft>
              <a:buSzPts val="4200"/>
              <a:buNone/>
              <a:defRPr sz="5040"/>
            </a:lvl2pPr>
            <a:lvl3pPr lvl="2" algn="ctr">
              <a:spcBef>
                <a:spcPts val="0"/>
              </a:spcBef>
              <a:spcAft>
                <a:spcPts val="0"/>
              </a:spcAft>
              <a:buSzPts val="4200"/>
              <a:buNone/>
              <a:defRPr sz="5040"/>
            </a:lvl3pPr>
            <a:lvl4pPr lvl="3" algn="ctr">
              <a:spcBef>
                <a:spcPts val="0"/>
              </a:spcBef>
              <a:spcAft>
                <a:spcPts val="0"/>
              </a:spcAft>
              <a:buSzPts val="4200"/>
              <a:buNone/>
              <a:defRPr sz="5040"/>
            </a:lvl4pPr>
            <a:lvl5pPr lvl="4" algn="ctr">
              <a:spcBef>
                <a:spcPts val="0"/>
              </a:spcBef>
              <a:spcAft>
                <a:spcPts val="0"/>
              </a:spcAft>
              <a:buSzPts val="4200"/>
              <a:buNone/>
              <a:defRPr sz="5040"/>
            </a:lvl5pPr>
            <a:lvl6pPr lvl="5" algn="ctr">
              <a:spcBef>
                <a:spcPts val="0"/>
              </a:spcBef>
              <a:spcAft>
                <a:spcPts val="0"/>
              </a:spcAft>
              <a:buSzPts val="4200"/>
              <a:buNone/>
              <a:defRPr sz="5040"/>
            </a:lvl6pPr>
            <a:lvl7pPr lvl="6" algn="ctr">
              <a:spcBef>
                <a:spcPts val="0"/>
              </a:spcBef>
              <a:spcAft>
                <a:spcPts val="0"/>
              </a:spcAft>
              <a:buSzPts val="4200"/>
              <a:buNone/>
              <a:defRPr sz="5040"/>
            </a:lvl7pPr>
            <a:lvl8pPr lvl="7" algn="ctr">
              <a:spcBef>
                <a:spcPts val="0"/>
              </a:spcBef>
              <a:spcAft>
                <a:spcPts val="0"/>
              </a:spcAft>
              <a:buSzPts val="4200"/>
              <a:buNone/>
              <a:defRPr sz="5040"/>
            </a:lvl8pPr>
            <a:lvl9pPr lvl="8" algn="ctr">
              <a:spcBef>
                <a:spcPts val="0"/>
              </a:spcBef>
              <a:spcAft>
                <a:spcPts val="0"/>
              </a:spcAft>
              <a:buSzPts val="4200"/>
              <a:buNone/>
              <a:defRPr sz="5040"/>
            </a:lvl9pPr>
          </a:lstStyle>
          <a:p>
            <a:endParaRPr/>
          </a:p>
        </p:txBody>
      </p:sp>
      <p:sp>
        <p:nvSpPr>
          <p:cNvPr id="38" name="Google Shape;38;p8"/>
          <p:cNvSpPr txBox="1">
            <a:spLocks noGrp="1"/>
          </p:cNvSpPr>
          <p:nvPr>
            <p:ph type="subTitle" idx="1"/>
          </p:nvPr>
        </p:nvSpPr>
        <p:spPr>
          <a:xfrm>
            <a:off x="354000" y="3737434"/>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520"/>
            </a:lvl1pPr>
            <a:lvl2pPr lvl="1" algn="ctr">
              <a:lnSpc>
                <a:spcPct val="100000"/>
              </a:lnSpc>
              <a:spcBef>
                <a:spcPts val="0"/>
              </a:spcBef>
              <a:spcAft>
                <a:spcPts val="0"/>
              </a:spcAft>
              <a:buSzPts val="2100"/>
              <a:buNone/>
              <a:defRPr sz="2520"/>
            </a:lvl2pPr>
            <a:lvl3pPr lvl="2" algn="ctr">
              <a:lnSpc>
                <a:spcPct val="100000"/>
              </a:lnSpc>
              <a:spcBef>
                <a:spcPts val="0"/>
              </a:spcBef>
              <a:spcAft>
                <a:spcPts val="0"/>
              </a:spcAft>
              <a:buSzPts val="2100"/>
              <a:buNone/>
              <a:defRPr sz="2520"/>
            </a:lvl3pPr>
            <a:lvl4pPr lvl="3" algn="ctr">
              <a:lnSpc>
                <a:spcPct val="100000"/>
              </a:lnSpc>
              <a:spcBef>
                <a:spcPts val="0"/>
              </a:spcBef>
              <a:spcAft>
                <a:spcPts val="0"/>
              </a:spcAft>
              <a:buSzPts val="2100"/>
              <a:buNone/>
              <a:defRPr sz="2520"/>
            </a:lvl4pPr>
            <a:lvl5pPr lvl="4" algn="ctr">
              <a:lnSpc>
                <a:spcPct val="100000"/>
              </a:lnSpc>
              <a:spcBef>
                <a:spcPts val="0"/>
              </a:spcBef>
              <a:spcAft>
                <a:spcPts val="0"/>
              </a:spcAft>
              <a:buSzPts val="2100"/>
              <a:buNone/>
              <a:defRPr sz="2520"/>
            </a:lvl5pPr>
            <a:lvl6pPr lvl="5" algn="ctr">
              <a:lnSpc>
                <a:spcPct val="100000"/>
              </a:lnSpc>
              <a:spcBef>
                <a:spcPts val="0"/>
              </a:spcBef>
              <a:spcAft>
                <a:spcPts val="0"/>
              </a:spcAft>
              <a:buSzPts val="2100"/>
              <a:buNone/>
              <a:defRPr sz="2520"/>
            </a:lvl6pPr>
            <a:lvl7pPr lvl="6" algn="ctr">
              <a:lnSpc>
                <a:spcPct val="100000"/>
              </a:lnSpc>
              <a:spcBef>
                <a:spcPts val="0"/>
              </a:spcBef>
              <a:spcAft>
                <a:spcPts val="0"/>
              </a:spcAft>
              <a:buSzPts val="2100"/>
              <a:buNone/>
              <a:defRPr sz="2520"/>
            </a:lvl7pPr>
            <a:lvl8pPr lvl="7" algn="ctr">
              <a:lnSpc>
                <a:spcPct val="100000"/>
              </a:lnSpc>
              <a:spcBef>
                <a:spcPts val="0"/>
              </a:spcBef>
              <a:spcAft>
                <a:spcPts val="0"/>
              </a:spcAft>
              <a:buSzPts val="2100"/>
              <a:buNone/>
              <a:defRPr sz="2520"/>
            </a:lvl8pPr>
            <a:lvl9pPr lvl="8" algn="ctr">
              <a:lnSpc>
                <a:spcPct val="100000"/>
              </a:lnSpc>
              <a:spcBef>
                <a:spcPts val="0"/>
              </a:spcBef>
              <a:spcAft>
                <a:spcPts val="0"/>
              </a:spcAft>
              <a:buSzPts val="2100"/>
              <a:buNone/>
              <a:defRPr sz="2520"/>
            </a:lvl9pPr>
          </a:lstStyle>
          <a:p>
            <a:endParaRPr/>
          </a:p>
        </p:txBody>
      </p:sp>
      <p:sp>
        <p:nvSpPr>
          <p:cNvPr id="39" name="Google Shape;39;p8"/>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548627" lvl="0" indent="-411470">
              <a:spcBef>
                <a:spcPts val="0"/>
              </a:spcBef>
              <a:spcAft>
                <a:spcPts val="0"/>
              </a:spcAft>
              <a:buSzPts val="1800"/>
              <a:buChar char="●"/>
              <a:defRPr/>
            </a:lvl1pPr>
            <a:lvl2pPr marL="1097254" lvl="1" indent="-380990">
              <a:spcBef>
                <a:spcPts val="0"/>
              </a:spcBef>
              <a:spcAft>
                <a:spcPts val="0"/>
              </a:spcAft>
              <a:buSzPts val="1400"/>
              <a:buChar char="○"/>
              <a:defRPr/>
            </a:lvl2pPr>
            <a:lvl3pPr marL="1645879" lvl="2" indent="-380990">
              <a:spcBef>
                <a:spcPts val="0"/>
              </a:spcBef>
              <a:spcAft>
                <a:spcPts val="0"/>
              </a:spcAft>
              <a:buSzPts val="1400"/>
              <a:buChar char="■"/>
              <a:defRPr/>
            </a:lvl3pPr>
            <a:lvl4pPr marL="2194505" lvl="3" indent="-380990">
              <a:spcBef>
                <a:spcPts val="0"/>
              </a:spcBef>
              <a:spcAft>
                <a:spcPts val="0"/>
              </a:spcAft>
              <a:buSzPts val="1400"/>
              <a:buChar char="●"/>
              <a:defRPr/>
            </a:lvl4pPr>
            <a:lvl5pPr marL="2743132" lvl="4" indent="-380990">
              <a:spcBef>
                <a:spcPts val="0"/>
              </a:spcBef>
              <a:spcAft>
                <a:spcPts val="0"/>
              </a:spcAft>
              <a:buSzPts val="1400"/>
              <a:buChar char="○"/>
              <a:defRPr/>
            </a:lvl5pPr>
            <a:lvl6pPr marL="3291758" lvl="5" indent="-380990">
              <a:spcBef>
                <a:spcPts val="0"/>
              </a:spcBef>
              <a:spcAft>
                <a:spcPts val="0"/>
              </a:spcAft>
              <a:buSzPts val="1400"/>
              <a:buChar char="■"/>
              <a:defRPr/>
            </a:lvl6pPr>
            <a:lvl7pPr marL="3840384" lvl="6" indent="-380990">
              <a:spcBef>
                <a:spcPts val="0"/>
              </a:spcBef>
              <a:spcAft>
                <a:spcPts val="0"/>
              </a:spcAft>
              <a:buSzPts val="1400"/>
              <a:buChar char="●"/>
              <a:defRPr/>
            </a:lvl7pPr>
            <a:lvl8pPr marL="4389011" lvl="7" indent="-380990">
              <a:spcBef>
                <a:spcPts val="0"/>
              </a:spcBef>
              <a:spcAft>
                <a:spcPts val="0"/>
              </a:spcAft>
              <a:buSzPts val="1400"/>
              <a:buChar char="○"/>
              <a:defRPr/>
            </a:lvl8pPr>
            <a:lvl9pPr marL="4937636" lvl="8" indent="-380990">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11296611" y="6217624"/>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700265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548627" lvl="0" indent="-274313">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11296611" y="6217624"/>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7670943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4400"/>
            </a:lvl1pPr>
            <a:lvl2pPr lvl="1" algn="ctr">
              <a:spcBef>
                <a:spcPts val="0"/>
              </a:spcBef>
              <a:spcAft>
                <a:spcPts val="0"/>
              </a:spcAft>
              <a:buSzPts val="12000"/>
              <a:buNone/>
              <a:defRPr sz="14400"/>
            </a:lvl2pPr>
            <a:lvl3pPr lvl="2" algn="ctr">
              <a:spcBef>
                <a:spcPts val="0"/>
              </a:spcBef>
              <a:spcAft>
                <a:spcPts val="0"/>
              </a:spcAft>
              <a:buSzPts val="12000"/>
              <a:buNone/>
              <a:defRPr sz="14400"/>
            </a:lvl3pPr>
            <a:lvl4pPr lvl="3" algn="ctr">
              <a:spcBef>
                <a:spcPts val="0"/>
              </a:spcBef>
              <a:spcAft>
                <a:spcPts val="0"/>
              </a:spcAft>
              <a:buSzPts val="12000"/>
              <a:buNone/>
              <a:defRPr sz="14400"/>
            </a:lvl4pPr>
            <a:lvl5pPr lvl="4" algn="ctr">
              <a:spcBef>
                <a:spcPts val="0"/>
              </a:spcBef>
              <a:spcAft>
                <a:spcPts val="0"/>
              </a:spcAft>
              <a:buSzPts val="12000"/>
              <a:buNone/>
              <a:defRPr sz="14400"/>
            </a:lvl5pPr>
            <a:lvl6pPr lvl="5" algn="ctr">
              <a:spcBef>
                <a:spcPts val="0"/>
              </a:spcBef>
              <a:spcAft>
                <a:spcPts val="0"/>
              </a:spcAft>
              <a:buSzPts val="12000"/>
              <a:buNone/>
              <a:defRPr sz="14400"/>
            </a:lvl6pPr>
            <a:lvl7pPr lvl="6" algn="ctr">
              <a:spcBef>
                <a:spcPts val="0"/>
              </a:spcBef>
              <a:spcAft>
                <a:spcPts val="0"/>
              </a:spcAft>
              <a:buSzPts val="12000"/>
              <a:buNone/>
              <a:defRPr sz="14400"/>
            </a:lvl7pPr>
            <a:lvl8pPr lvl="7" algn="ctr">
              <a:spcBef>
                <a:spcPts val="0"/>
              </a:spcBef>
              <a:spcAft>
                <a:spcPts val="0"/>
              </a:spcAft>
              <a:buSzPts val="12000"/>
              <a:buNone/>
              <a:defRPr sz="14400"/>
            </a:lvl8pPr>
            <a:lvl9pPr lvl="8" algn="ctr">
              <a:spcBef>
                <a:spcPts val="0"/>
              </a:spcBef>
              <a:spcAft>
                <a:spcPts val="0"/>
              </a:spcAft>
              <a:buSzPts val="12000"/>
              <a:buNone/>
              <a:defRPr sz="14400"/>
            </a:lvl9pPr>
          </a:lstStyle>
          <a:p>
            <a:r>
              <a:t>xx%</a:t>
            </a:r>
          </a:p>
        </p:txBody>
      </p:sp>
      <p:sp>
        <p:nvSpPr>
          <p:cNvPr id="46" name="Google Shape;46;p10"/>
          <p:cNvSpPr txBox="1">
            <a:spLocks noGrp="1"/>
          </p:cNvSpPr>
          <p:nvPr>
            <p:ph type="body" idx="1"/>
          </p:nvPr>
        </p:nvSpPr>
        <p:spPr>
          <a:xfrm>
            <a:off x="415600" y="4202968"/>
            <a:ext cx="11360800" cy="1734400"/>
          </a:xfrm>
          <a:prstGeom prst="rect">
            <a:avLst/>
          </a:prstGeom>
        </p:spPr>
        <p:txBody>
          <a:bodyPr spcFirstLastPara="1" wrap="square" lIns="91425" tIns="91425" rIns="91425" bIns="91425" anchor="t" anchorCtr="0">
            <a:normAutofit/>
          </a:bodyPr>
          <a:lstStyle>
            <a:lvl1pPr marL="548627" lvl="0" indent="-411470" algn="ctr">
              <a:spcBef>
                <a:spcPts val="0"/>
              </a:spcBef>
              <a:spcAft>
                <a:spcPts val="0"/>
              </a:spcAft>
              <a:buSzPts val="1800"/>
              <a:buChar char="●"/>
              <a:defRPr/>
            </a:lvl1pPr>
            <a:lvl2pPr marL="1097254" lvl="1" indent="-380990" algn="ctr">
              <a:spcBef>
                <a:spcPts val="0"/>
              </a:spcBef>
              <a:spcAft>
                <a:spcPts val="0"/>
              </a:spcAft>
              <a:buSzPts val="1400"/>
              <a:buChar char="○"/>
              <a:defRPr/>
            </a:lvl2pPr>
            <a:lvl3pPr marL="1645879" lvl="2" indent="-380990" algn="ctr">
              <a:spcBef>
                <a:spcPts val="0"/>
              </a:spcBef>
              <a:spcAft>
                <a:spcPts val="0"/>
              </a:spcAft>
              <a:buSzPts val="1400"/>
              <a:buChar char="■"/>
              <a:defRPr/>
            </a:lvl3pPr>
            <a:lvl4pPr marL="2194505" lvl="3" indent="-380990" algn="ctr">
              <a:spcBef>
                <a:spcPts val="0"/>
              </a:spcBef>
              <a:spcAft>
                <a:spcPts val="0"/>
              </a:spcAft>
              <a:buSzPts val="1400"/>
              <a:buChar char="●"/>
              <a:defRPr/>
            </a:lvl4pPr>
            <a:lvl5pPr marL="2743132" lvl="4" indent="-380990" algn="ctr">
              <a:spcBef>
                <a:spcPts val="0"/>
              </a:spcBef>
              <a:spcAft>
                <a:spcPts val="0"/>
              </a:spcAft>
              <a:buSzPts val="1400"/>
              <a:buChar char="○"/>
              <a:defRPr/>
            </a:lvl5pPr>
            <a:lvl6pPr marL="3291758" lvl="5" indent="-380990" algn="ctr">
              <a:spcBef>
                <a:spcPts val="0"/>
              </a:spcBef>
              <a:spcAft>
                <a:spcPts val="0"/>
              </a:spcAft>
              <a:buSzPts val="1400"/>
              <a:buChar char="■"/>
              <a:defRPr/>
            </a:lvl6pPr>
            <a:lvl7pPr marL="3840384" lvl="6" indent="-380990" algn="ctr">
              <a:spcBef>
                <a:spcPts val="0"/>
              </a:spcBef>
              <a:spcAft>
                <a:spcPts val="0"/>
              </a:spcAft>
              <a:buSzPts val="1400"/>
              <a:buChar char="●"/>
              <a:defRPr/>
            </a:lvl7pPr>
            <a:lvl8pPr marL="4389011" lvl="7" indent="-380990" algn="ctr">
              <a:spcBef>
                <a:spcPts val="0"/>
              </a:spcBef>
              <a:spcAft>
                <a:spcPts val="0"/>
              </a:spcAft>
              <a:buSzPts val="1400"/>
              <a:buChar char="○"/>
              <a:defRPr/>
            </a:lvl8pPr>
            <a:lvl9pPr marL="4937636" lvl="8" indent="-380990"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11296611" y="6217624"/>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226231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2006048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93330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1041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8543552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22874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fld id="{4D10452C-DE0B-4653-995C-CBB1B8446CC4}" type="datetimeFigureOut">
              <a:rPr lang="en-IN">
                <a:solidFill>
                  <a:prstClr val="black">
                    <a:tint val="75000"/>
                  </a:prstClr>
                </a:solidFill>
              </a:rPr>
              <a:pPr>
                <a:defRPr/>
              </a:pPr>
              <a:t>14-03-2026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469DA81-0C37-42EA-8A4F-5C8E8D014C90}" type="slidenum">
              <a:rPr lang="en-IN" altLang="en-US"/>
              <a:pPr>
                <a:defRPr/>
              </a:pPr>
              <a:t>‹#›</a:t>
            </a:fld>
            <a:endParaRPr lang="en-IN" altLang="en-US"/>
          </a:p>
        </p:txBody>
      </p:sp>
    </p:spTree>
    <p:extLst>
      <p:ext uri="{BB962C8B-B14F-4D97-AF65-F5344CB8AC3E}">
        <p14:creationId xmlns:p14="http://schemas.microsoft.com/office/powerpoint/2010/main" val="706695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_HEADER_2">
  <p:cSld name="SECTION_HEADER_2">
    <p:spTree>
      <p:nvGrpSpPr>
        <p:cNvPr id="1" name="Shape 95"/>
        <p:cNvGrpSpPr/>
        <p:nvPr/>
      </p:nvGrpSpPr>
      <p:grpSpPr>
        <a:xfrm>
          <a:off x="0" y="0"/>
          <a:ext cx="0" cy="0"/>
          <a:chOff x="0" y="0"/>
          <a:chExt cx="0" cy="0"/>
        </a:xfrm>
      </p:grpSpPr>
      <p:sp>
        <p:nvSpPr>
          <p:cNvPr id="99" name="Google Shape;99;p16"/>
          <p:cNvSpPr txBox="1">
            <a:spLocks noGrp="1"/>
          </p:cNvSpPr>
          <p:nvPr>
            <p:ph type="title"/>
          </p:nvPr>
        </p:nvSpPr>
        <p:spPr>
          <a:xfrm>
            <a:off x="972600" y="1763267"/>
            <a:ext cx="10251300" cy="2024700"/>
          </a:xfrm>
          <a:prstGeom prst="rect">
            <a:avLst/>
          </a:prstGeom>
        </p:spPr>
        <p:txBody>
          <a:bodyPr spcFirstLastPara="1" wrap="square" lIns="91425" tIns="45700" rIns="91425" bIns="45700" anchor="ctr" anchorCtr="0">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100" name="Google Shape;100;p16"/>
          <p:cNvSpPr txBox="1">
            <a:spLocks noGrp="1"/>
          </p:cNvSpPr>
          <p:nvPr>
            <p:ph type="sldNum" idx="12"/>
          </p:nvPr>
        </p:nvSpPr>
        <p:spPr>
          <a:xfrm>
            <a:off x="11381736" y="6333134"/>
            <a:ext cx="731700" cy="524700"/>
          </a:xfrm>
          <a:prstGeom prst="rect">
            <a:avLst/>
          </a:prstGeom>
        </p:spPr>
        <p:txBody>
          <a:bodyPr spcFirstLastPara="1" wrap="square" lIns="91425" tIns="45700" rIns="91425" bIns="4570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en-IN"/>
              <a:t>‹#›</a:t>
            </a:fld>
            <a:endParaRPr/>
          </a:p>
        </p:txBody>
      </p:sp>
    </p:spTree>
    <p:extLst>
      <p:ext uri="{BB962C8B-B14F-4D97-AF65-F5344CB8AC3E}">
        <p14:creationId xmlns:p14="http://schemas.microsoft.com/office/powerpoint/2010/main" val="2169786031"/>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5">
            <a:alphaModFix/>
          </a:blip>
          <a:stretch>
            <a:fillRect/>
          </a:stretch>
        </a:blipFill>
        <a:effectLst/>
      </p:bgPr>
    </p:bg>
    <p:spTree>
      <p:nvGrpSpPr>
        <p:cNvPr id="1" name="Shape 5"/>
        <p:cNvGrpSpPr/>
        <p:nvPr/>
      </p:nvGrpSpPr>
      <p:grpSpPr>
        <a:xfrm>
          <a:off x="0" y="0"/>
          <a:ext cx="0" cy="0"/>
          <a:chOff x="0" y="0"/>
          <a:chExt cx="0" cy="0"/>
        </a:xfrm>
      </p:grpSpPr>
      <p:pic>
        <p:nvPicPr>
          <p:cNvPr id="9" name="Google Shape;9;p1"/>
          <p:cNvPicPr preferRelativeResize="0"/>
          <p:nvPr/>
        </p:nvPicPr>
        <p:blipFill>
          <a:blip r:embed="rId16">
            <a:alphaModFix/>
          </a:blip>
          <a:stretch>
            <a:fillRect/>
          </a:stretch>
        </p:blipFill>
        <p:spPr>
          <a:xfrm>
            <a:off x="70830" y="59348"/>
            <a:ext cx="1529369" cy="649312"/>
          </a:xfrm>
          <a:prstGeom prst="rect">
            <a:avLst/>
          </a:prstGeom>
          <a:noFill/>
          <a:ln>
            <a:noFill/>
          </a:ln>
        </p:spPr>
      </p:pic>
      <p:pic>
        <p:nvPicPr>
          <p:cNvPr id="3" name="Google Shape;14;p2">
            <a:extLst>
              <a:ext uri="{FF2B5EF4-FFF2-40B4-BE49-F238E27FC236}">
                <a16:creationId xmlns:a16="http://schemas.microsoft.com/office/drawing/2014/main" id="{4A31C244-C94D-67BB-1C6A-18D75A0AC397}"/>
              </a:ext>
            </a:extLst>
          </p:cNvPr>
          <p:cNvPicPr preferRelativeResize="0"/>
          <p:nvPr userDrawn="1"/>
        </p:nvPicPr>
        <p:blipFill>
          <a:blip r:embed="rId17">
            <a:alphaModFix/>
          </a:blip>
          <a:stretch>
            <a:fillRect/>
          </a:stretch>
        </p:blipFill>
        <p:spPr>
          <a:xfrm>
            <a:off x="10260329" y="59348"/>
            <a:ext cx="1860840" cy="340703"/>
          </a:xfrm>
          <a:prstGeom prst="rect">
            <a:avLst/>
          </a:prstGeom>
          <a:noFill/>
          <a:ln>
            <a:noFill/>
          </a:ln>
        </p:spPr>
      </p:pic>
    </p:spTree>
    <p:extLst>
      <p:ext uri="{BB962C8B-B14F-4D97-AF65-F5344CB8AC3E}">
        <p14:creationId xmlns:p14="http://schemas.microsoft.com/office/powerpoint/2010/main" val="1427780578"/>
      </p:ext>
    </p:extLst>
  </p:cSld>
  <p:clrMap bg1="lt1" tx1="dk1" bg2="dk2" tx2="lt2" accent1="accent1" accent2="accent2" accent3="accent3" accent4="accent4" accent5="accent5" accent6="accent6" hlink="hlink" folHlink="folHlink"/>
  <p:sldLayoutIdLst>
    <p:sldLayoutId id="2147483661"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680" b="0" i="0" u="none" strike="noStrike" cap="non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5510" y="0"/>
            <a:ext cx="6070728" cy="3817638"/>
          </a:xfrm>
          <a:prstGeom prst="rect">
            <a:avLst/>
          </a:prstGeom>
        </p:spPr>
      </p:pic>
      <p:sp>
        <p:nvSpPr>
          <p:cNvPr id="3" name="Text Box 5"/>
          <p:cNvSpPr txBox="1">
            <a:spLocks noChangeArrowheads="1"/>
          </p:cNvSpPr>
          <p:nvPr/>
        </p:nvSpPr>
        <p:spPr bwMode="auto">
          <a:xfrm>
            <a:off x="350921" y="4106396"/>
            <a:ext cx="11476121" cy="1754326"/>
          </a:xfrm>
          <a:prstGeom prst="rect">
            <a:avLst/>
          </a:prstGeom>
          <a:solidFill>
            <a:schemeClr val="bg1"/>
          </a:solidFill>
          <a:ln w="9525">
            <a:noFill/>
            <a:miter lim="800000"/>
            <a:headEnd/>
            <a:tailEnd/>
          </a:ln>
        </p:spPr>
        <p:txBody>
          <a:bodyPr wrap="square">
            <a:spAutoFit/>
          </a:bodyPr>
          <a:lstStyle/>
          <a:p>
            <a:pPr algn="ctr" eaLnBrk="1" hangingPunct="1"/>
            <a:r>
              <a:rPr lang="en-US" altLang="ja-JP" sz="3600" b="1" dirty="0">
                <a:solidFill>
                  <a:srgbClr val="0000FF"/>
                </a:solidFill>
                <a:latin typeface="Times New Roman" panose="02020603050405020304" pitchFamily="18" charset="0"/>
                <a:ea typeface="Roboto" panose="02000000000000000000" pitchFamily="2" charset="0"/>
                <a:cs typeface="Times New Roman" panose="02020603050405020304" pitchFamily="18" charset="0"/>
              </a:rPr>
              <a:t>AaharAI — India-First Nutrition Intelligence Platform</a:t>
            </a:r>
          </a:p>
          <a:p>
            <a:pPr algn="ctr" eaLnBrk="1" hangingPunct="1"/>
            <a:r>
              <a:rPr lang="en-US" altLang="ja-JP" sz="2000" b="0" dirty="0">
                <a:solidFill>
                  <a:srgbClr val="1A237E"/>
                </a:solidFill>
                <a:latin typeface="Times New Roman" panose="02020603050405020304" pitchFamily="18" charset="0"/>
                <a:ea typeface="Roboto" panose="02000000000000000000" pitchFamily="2" charset="0"/>
                <a:cs typeface="Times New Roman" panose="02020603050405020304" pitchFamily="18" charset="0"/>
              </a:rPr>
              <a:t>An AI-Powered Personalised Nutrition Platform for Indian Users</a:t>
            </a:r>
          </a:p>
          <a:p>
            <a:pPr algn="ctr" eaLnBrk="1" hangingPunct="1"/>
            <a:r>
              <a:rPr lang="en-US" altLang="ja-JP" sz="1800" b="0" dirty="0">
                <a:solidFill>
                  <a:srgbClr val="333333"/>
                </a:solidFill>
                <a:latin typeface="Times New Roman" panose="02020603050405020304" pitchFamily="18" charset="0"/>
                <a:cs typeface="Times New Roman" panose="02020603050405020304" pitchFamily="18" charset="0"/>
              </a:rPr>
              <a:t>Team Members: [Member 1] | [Member 2] | [Member 3] | [Member 4]</a:t>
            </a:r>
          </a:p>
          <a:p>
            <a:pPr algn="ctr" eaLnBrk="1" hangingPunct="1"/>
            <a:r>
              <a:rPr lang="en-US" altLang="ja-JP" sz="1800" b="0" dirty="0">
                <a:solidFill>
                  <a:srgbClr val="333333"/>
                </a:solidFill>
                <a:latin typeface="Times New Roman" panose="02020603050405020304" pitchFamily="18" charset="0"/>
                <a:cs typeface="Times New Roman" panose="02020603050405020304" pitchFamily="18" charset="0"/>
              </a:rPr>
              <a:t>Guide: [Guide Name] | Interdisciplinary Phase 1 Presentation | March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2582109" y="131214"/>
            <a:ext cx="6837661" cy="584775"/>
          </a:xfrm>
          <a:prstGeom prst="rect">
            <a:avLst/>
          </a:prstGeom>
        </p:spPr>
        <p:txBody>
          <a:bodyPr wrap="square">
            <a:spAutoFit/>
          </a:bodyPr>
          <a:lstStyle/>
          <a:p>
            <a:pPr algn="ctr"/>
            <a:r>
              <a:rPr lang="en-US" sz="3200" b="1" dirty="0">
                <a:solidFill>
                  <a:srgbClr val="0000FF"/>
                </a:solidFill>
                <a:latin typeface="Times New Roman" pitchFamily="18" charset="0"/>
              </a:rPr>
              <a:t>INTRODUCTION</a:t>
            </a:r>
          </a:p>
        </p:txBody>
      </p:sp>
      <p:sp>
        <p:nvSpPr>
          <p:cNvPr id="3" name="Content"/>
          <p:cNvSpPr/>
          <p:nvPr/>
        </p:nvSpPr>
        <p:spPr>
          <a:xfrm>
            <a:off x="300000" y="870000"/>
            <a:ext cx="11500000" cy="5600000"/>
          </a:xfrm>
          <a:prstGeom prst="rect">
            <a:avLst/>
          </a:prstGeom>
        </p:spPr>
        <p:txBody>
          <a:bodyPr wrap="square">
            <a:normAutofit/>
          </a:bodyPr>
          <a:lstStyle/>
          <a:p>
            <a:pPr marL="457200" indent="-457200" algn="just">
              <a:lnSpc>
                <a:spcPct val="120000"/>
              </a:lnSpc>
              <a:spcAft>
                <a:spcPts val="300"/>
              </a:spcAft>
              <a:buFont typeface="Wingdings" charset="2"/>
              <a:buChar char="Ø"/>
            </a:pPr>
            <a:r>
              <a:rPr lang="en-US" sz="1900" b="1" dirty="0">
                <a:solidFill>
                  <a:srgbClr val="1A237E"/>
                </a:solidFill>
                <a:latin typeface="Calibri" pitchFamily="34" charset="0"/>
              </a:rPr>
              <a:t>What is AaharAI?</a:t>
            </a:r>
          </a:p>
          <a:p>
            <a:pPr marL="800000" algn="just">
              <a:lnSpc>
                <a:spcPct val="115000"/>
              </a:lnSpc>
              <a:spcAft>
                <a:spcPts val="500"/>
              </a:spcAft>
              <a:buNone/>
            </a:pPr>
            <a:r>
              <a:rPr lang="en-US" sz="1700" dirty="0">
                <a:solidFill>
                  <a:srgbClr val="212121"/>
                </a:solidFill>
                <a:latin typeface="Calibri" pitchFamily="34" charset="0"/>
              </a:rPr>
              <a:t>AaharAI is an AI-powered conversational nutrition platform designed exclusively for India. It generates personalised daily meal plans based on who the user is, where they live, what health condition they have, and which medicines they are taking — using verified Indian nutritional science (IFCT 2017 and ICMR-NIN 2024 guidelines).</a:t>
            </a:r>
          </a:p>
          <a:p>
            <a:pPr marL="457200" indent="-457200" algn="just">
              <a:lnSpc>
                <a:spcPct val="120000"/>
              </a:lnSpc>
              <a:spcAft>
                <a:spcPts val="300"/>
              </a:spcAft>
              <a:buFont typeface="Wingdings" charset="2"/>
              <a:buChar char="Ø"/>
            </a:pPr>
            <a:r>
              <a:rPr lang="en-US" sz="1900" b="1" dirty="0">
                <a:solidFill>
                  <a:srgbClr val="1A237E"/>
                </a:solidFill>
                <a:latin typeface="Calibri" pitchFamily="34" charset="0"/>
              </a:rPr>
              <a:t>Why is it needed?</a:t>
            </a:r>
          </a:p>
          <a:p>
            <a:pPr marL="800000" algn="just">
              <a:lnSpc>
                <a:spcPct val="115000"/>
              </a:lnSpc>
              <a:spcAft>
                <a:spcPts val="500"/>
              </a:spcAft>
              <a:buNone/>
            </a:pPr>
            <a:r>
              <a:rPr lang="en-US" sz="1700" dirty="0">
                <a:solidFill>
                  <a:srgbClr val="212121"/>
                </a:solidFill>
                <a:latin typeface="Calibri" pitchFamily="34" charset="0"/>
              </a:rPr>
              <a:t>India has 77 million diabetics, 200 million+ hypertensive patients, and 57% anaemia prevalence among women of reproductive age. Existing nutrition apps are built on Western databases and ignore India’s regional food diversity across 700+ districts, and drug-nutrient interactions from Indian pharmacopeia. No current platform unifies these into one personalised system.</a:t>
            </a:r>
          </a:p>
          <a:p>
            <a:pPr marL="457200" indent="-457200" algn="just">
              <a:lnSpc>
                <a:spcPct val="120000"/>
              </a:lnSpc>
              <a:spcAft>
                <a:spcPts val="300"/>
              </a:spcAft>
              <a:buFont typeface="Wingdings" charset="2"/>
              <a:buChar char="Ø"/>
            </a:pPr>
            <a:r>
              <a:rPr lang="en-US" sz="1900" b="1" dirty="0">
                <a:solidFill>
                  <a:srgbClr val="1A237E"/>
                </a:solidFill>
                <a:latin typeface="Calibri" pitchFamily="34" charset="0"/>
              </a:rPr>
              <a:t>Key Features</a:t>
            </a:r>
          </a:p>
          <a:p>
            <a:pPr marL="800000" indent="-300000" algn="just">
              <a:lnSpc>
                <a:spcPct val="115000"/>
              </a:lnSpc>
              <a:spcAft>
                <a:spcPts val="150"/>
              </a:spcAft>
              <a:buChar char="•"/>
            </a:pPr>
            <a:r>
              <a:rPr lang="en-US" sz="1700" dirty="0">
                <a:solidFill>
                  <a:srgbClr val="212121"/>
                </a:solidFill>
                <a:latin typeface="Calibri" pitchFamily="34" charset="0"/>
              </a:rPr>
              <a:t>User profiling across 5 dimensions: age group, profession/activity, state and district, health condition, and current medications</a:t>
            </a:r>
          </a:p>
          <a:p>
            <a:pPr marL="800000" indent="-300000" algn="just">
              <a:lnSpc>
                <a:spcPct val="115000"/>
              </a:lnSpc>
              <a:spcAft>
                <a:spcPts val="150"/>
              </a:spcAft>
              <a:buChar char="•"/>
            </a:pPr>
            <a:r>
              <a:rPr lang="en-US" sz="1700" dirty="0">
                <a:solidFill>
                  <a:srgbClr val="212121"/>
                </a:solidFill>
                <a:latin typeface="Calibri" pitchFamily="34" charset="0"/>
              </a:rPr>
              <a:t>District-level Indian food culture database (Zone → State → District) using IFCT 2017 food composition data</a:t>
            </a:r>
          </a:p>
          <a:p>
            <a:pPr marL="800000" indent="-300000" algn="just">
              <a:lnSpc>
                <a:spcPct val="115000"/>
              </a:lnSpc>
              <a:spcAft>
                <a:spcPts val="150"/>
              </a:spcAft>
              <a:buChar char="•"/>
            </a:pPr>
            <a:r>
              <a:rPr lang="en-US" sz="1700" dirty="0">
                <a:solidFill>
                  <a:srgbClr val="212121"/>
                </a:solidFill>
                <a:latin typeface="Calibri" pitchFamily="34" charset="0"/>
              </a:rPr>
              <a:t>Drug-nutrient interaction catalog for 200+ common Indian medicines (Metformin, Thyronorm, Ferrous Sulphate, INH, etc.)</a:t>
            </a:r>
          </a:p>
          <a:p>
            <a:pPr marL="800000" indent="-300000" algn="just">
              <a:lnSpc>
                <a:spcPct val="115000"/>
              </a:lnSpc>
              <a:spcAft>
                <a:spcPts val="150"/>
              </a:spcAft>
              <a:buChar char="•"/>
            </a:pPr>
            <a:r>
              <a:rPr lang="en-US" sz="1700" dirty="0">
                <a:solidFill>
                  <a:srgbClr val="212121"/>
                </a:solidFill>
                <a:latin typeface="Calibri" pitchFamily="34" charset="0"/>
              </a:rPr>
              <a:t>LangGraph stateful AI agent with session memory; per-meal nutrient calculation in Indian portion units (katori, chapati, glass)</a:t>
            </a:r>
          </a:p>
          <a:p>
            <a:pPr marL="800000" indent="-300000" algn="just">
              <a:lnSpc>
                <a:spcPct val="115000"/>
              </a:lnSpc>
              <a:spcAft>
                <a:spcPts val="150"/>
              </a:spcAft>
              <a:buChar char="•"/>
            </a:pPr>
            <a:r>
              <a:rPr lang="en-US" sz="1700" dirty="0">
                <a:solidFill>
                  <a:srgbClr val="212121"/>
                </a:solidFill>
                <a:latin typeface="Calibri" pitchFamily="34" charset="0"/>
              </a:rPr>
              <a:t>Admin dashboard for food/medicine database management and population-level health trend monitoring</a:t>
            </a:r>
          </a:p>
          <a:p>
            <a:pPr marL="457200" indent="-457200" algn="just">
              <a:lnSpc>
                <a:spcPct val="120000"/>
              </a:lnSpc>
              <a:spcBef>
                <a:spcPts val="300"/>
              </a:spcBef>
              <a:spcAft>
                <a:spcPts val="200"/>
              </a:spcAft>
              <a:buFont typeface="Wingdings" charset="2"/>
              <a:buChar char="Ø"/>
            </a:pPr>
            <a:r>
              <a:rPr lang="en-US" sz="1900" b="1" dirty="0">
                <a:solidFill>
                  <a:srgbClr val="1A237E"/>
                </a:solidFill>
                <a:latin typeface="Calibri" pitchFamily="34" charset="0"/>
              </a:rPr>
              <a:t>Technology Stack</a:t>
            </a:r>
          </a:p>
          <a:p>
            <a:pPr marL="800000" algn="just">
              <a:lnSpc>
                <a:spcPct val="115000"/>
              </a:lnSpc>
              <a:spcAft>
                <a:spcPts val="200"/>
              </a:spcAft>
              <a:buNone/>
            </a:pPr>
            <a:r>
              <a:rPr lang="en-US" sz="1700" dirty="0">
                <a:solidFill>
                  <a:srgbClr val="212121"/>
                </a:solidFill>
                <a:latin typeface="Calibri" pitchFamily="34" charset="0"/>
              </a:rPr>
              <a:t>Python (FastAPI) | LangGraph + LangChain | Claude API (claude-sonnet-4-6) | Next.js 15 | PostgreSQL via Supabase | IFCT 2017 | ICMR-NIN 2024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2582109" y="131214"/>
            <a:ext cx="6837661" cy="584775"/>
          </a:xfrm>
          <a:prstGeom prst="rect">
            <a:avLst/>
          </a:prstGeom>
        </p:spPr>
        <p:txBody>
          <a:bodyPr wrap="square">
            <a:spAutoFit/>
          </a:bodyPr>
          <a:lstStyle/>
          <a:p>
            <a:pPr algn="ctr"/>
            <a:r>
              <a:rPr lang="en-US" sz="2800" b="1" dirty="0">
                <a:solidFill>
                  <a:srgbClr val="0000FF"/>
                </a:solidFill>
                <a:latin typeface="Times New Roman" pitchFamily="18" charset="0"/>
              </a:rPr>
              <a:t>LITERATURE SURVEY (1 of 2)</a:t>
            </a:r>
          </a:p>
        </p:txBody>
      </p:sp>
      <p:graphicFrame>
        <p:nvGraphicFramePr>
          <p:cNvPr id="3" name="LitTable"/>
          <p:cNvGraphicFramePr>
            <a:graphicFrameLocks noGrp="1"/>
          </p:cNvGraphicFramePr>
          <p:nvPr/>
        </p:nvGraphicFramePr>
        <p:xfrm>
          <a:off x="200000" y="720000"/>
          <a:ext cx="11800000" cy="5900000"/>
        </p:xfrm>
        <a:graphic>
          <a:graphicData uri="http://schemas.openxmlformats.org/drawingml/2006/table">
            <a:tbl>
              <a:tblPr firstRow="1" bandRow="1">
                <a:tableStyleId>{5C22544A-7EE6-4342-B048-85BDC9FD1C3A}</a:tableStyleId>
              </a:tblPr>
              <a:tblGrid>
                <a:gridCol w="400000"/>
                <a:gridCol w="2600000"/>
                <a:gridCol w="1600000"/>
                <a:gridCol w="1400000"/>
                <a:gridCol w="3400000"/>
                <a:gridCol w="2400000"/>
              </a:tblGrid>
              <a:tr h="480000">
                <a:tc>
                  <a:txBody>
                    <a:bodyPr/>
                    <a:lstStyle/>
                    <a:p>
                      <a:r>
                        <a:rPr lang="en-US" sz="1300" b="1" dirty="0">
                          <a:solidFill>
                            <a:srgbClr val="FFFFFF"/>
                          </a:solidFill>
                          <a:latin typeface="Calibri" pitchFamily="34" charset="0"/>
                        </a:rPr>
                        <a:t>#</a:t>
                      </a:r>
                    </a:p>
                  </a:txBody>
                  <a:tcPr>
                    <a:solidFill>
                      <a:srgbClr val="1A237E"/>
                    </a:solidFill>
                  </a:tcPr>
                </a:tc>
                <a:tc>
                  <a:txBody>
                    <a:bodyPr/>
                    <a:lstStyle/>
                    <a:p>
                      <a:r>
                        <a:rPr lang="en-US" sz="1300" b="1" dirty="0">
                          <a:solidFill>
                            <a:srgbClr val="FFFFFF"/>
                          </a:solidFill>
                          <a:latin typeface="Calibri" pitchFamily="34" charset="0"/>
                        </a:rPr>
                        <a:t>Author(s) / Title</a:t>
                      </a:r>
                    </a:p>
                  </a:txBody>
                  <a:tcPr>
                    <a:solidFill>
                      <a:srgbClr val="1A237E"/>
                    </a:solidFill>
                  </a:tcPr>
                </a:tc>
                <a:tc>
                  <a:txBody>
                    <a:bodyPr/>
                    <a:lstStyle/>
                    <a:p>
                      <a:r>
                        <a:rPr lang="en-US" sz="1300" b="1" dirty="0">
                          <a:solidFill>
                            <a:srgbClr val="FFFFFF"/>
                          </a:solidFill>
                          <a:latin typeface="Calibri" pitchFamily="34" charset="0"/>
                        </a:rPr>
                        <a:t>Journal/Source</a:t>
                      </a:r>
                    </a:p>
                  </a:txBody>
                  <a:tcPr>
                    <a:solidFill>
                      <a:srgbClr val="1A237E"/>
                    </a:solidFill>
                  </a:tcPr>
                </a:tc>
                <a:tc>
                  <a:txBody>
                    <a:bodyPr/>
                    <a:lstStyle/>
                    <a:p>
                      <a:r>
                        <a:rPr lang="en-US" sz="1300" b="1" dirty="0">
                          <a:solidFill>
                            <a:srgbClr val="FFFFFF"/>
                          </a:solidFill>
                          <a:latin typeface="Calibri" pitchFamily="34" charset="0"/>
                        </a:rPr>
                        <a:t>Year</a:t>
                      </a:r>
                    </a:p>
                  </a:txBody>
                  <a:tcPr>
                    <a:solidFill>
                      <a:srgbClr val="1A237E"/>
                    </a:solidFill>
                  </a:tcPr>
                </a:tc>
                <a:tc>
                  <a:txBody>
                    <a:bodyPr/>
                    <a:lstStyle/>
                    <a:p>
                      <a:r>
                        <a:rPr lang="en-US" sz="1300" b="1" dirty="0">
                          <a:solidFill>
                            <a:srgbClr val="FFFFFF"/>
                          </a:solidFill>
                          <a:latin typeface="Calibri" pitchFamily="34" charset="0"/>
                        </a:rPr>
                        <a:t>Key Contribution</a:t>
                      </a:r>
                    </a:p>
                  </a:txBody>
                  <a:tcPr>
                    <a:solidFill>
                      <a:srgbClr val="1A237E"/>
                    </a:solidFill>
                  </a:tcPr>
                </a:tc>
                <a:tc>
                  <a:txBody>
                    <a:bodyPr/>
                    <a:lstStyle/>
                    <a:p>
                      <a:r>
                        <a:rPr lang="en-US" sz="1300" b="1" dirty="0">
                          <a:solidFill>
                            <a:srgbClr val="FFFFFF"/>
                          </a:solidFill>
                          <a:latin typeface="Calibri" pitchFamily="34" charset="0"/>
                        </a:rPr>
                        <a:t>Limitation</a:t>
                      </a:r>
                    </a:p>
                  </a:txBody>
                  <a:tcPr>
                    <a:solidFill>
                      <a:srgbClr val="1A237E"/>
                    </a:solidFill>
                  </a:tcPr>
                </a:tc>
              </a:tr>
              <a:tr h="430000">
                <a:tc>
                  <a:txBody>
                    <a:bodyPr/>
                    <a:lstStyle/>
                    <a:p>
                      <a:r>
                        <a:rPr lang="en-US" sz="1100" dirty="0">
                          <a:solidFill>
                            <a:srgbClr val="111111"/>
                          </a:solidFill>
                          <a:latin typeface="Calibri" pitchFamily="34" charset="0"/>
                        </a:rPr>
                        <a:t>1</a:t>
                      </a:r>
                    </a:p>
                  </a:txBody>
                  <a:tcPr>
                    <a:solidFill>
                      <a:srgbClr val="EEF2FF"/>
                    </a:solidFill>
                  </a:tcPr>
                </a:tc>
                <a:tc>
                  <a:txBody>
                    <a:bodyPr/>
                    <a:lstStyle/>
                    <a:p>
                      <a:r>
                        <a:rPr lang="en-US" sz="1100" dirty="0">
                          <a:solidFill>
                            <a:srgbClr val="111111"/>
                          </a:solidFill>
                          <a:latin typeface="Calibri" pitchFamily="34" charset="0"/>
                        </a:rPr>
                        <a:t>Jayanthi et al. / Diet recommendation using ML for diabetic patients</a:t>
                      </a:r>
                    </a:p>
                  </a:txBody>
                  <a:tcPr>
                    <a:solidFill>
                      <a:srgbClr val="EEF2FF"/>
                    </a:solidFill>
                  </a:tcPr>
                </a:tc>
                <a:tc>
                  <a:txBody>
                    <a:bodyPr/>
                    <a:lstStyle/>
                    <a:p>
                      <a:r>
                        <a:rPr lang="en-US" sz="1100" dirty="0">
                          <a:solidFill>
                            <a:srgbClr val="111111"/>
                          </a:solidFill>
                          <a:latin typeface="Calibri" pitchFamily="34" charset="0"/>
                        </a:rPr>
                        <a:t>J. Health Informatics</a:t>
                      </a:r>
                    </a:p>
                  </a:txBody>
                  <a:tcPr>
                    <a:solidFill>
                      <a:srgbClr val="EEF2FF"/>
                    </a:solidFill>
                  </a:tcPr>
                </a:tc>
                <a:tc>
                  <a:txBody>
                    <a:bodyPr/>
                    <a:lstStyle/>
                    <a:p>
                      <a:r>
                        <a:rPr lang="en-US" sz="1100" dirty="0">
                          <a:solidFill>
                            <a:srgbClr val="111111"/>
                          </a:solidFill>
                          <a:latin typeface="Calibri" pitchFamily="34" charset="0"/>
                        </a:rPr>
                        <a:t>2022</a:t>
                      </a:r>
                    </a:p>
                  </a:txBody>
                  <a:tcPr>
                    <a:solidFill>
                      <a:srgbClr val="EEF2FF"/>
                    </a:solidFill>
                  </a:tcPr>
                </a:tc>
                <a:tc>
                  <a:txBody>
                    <a:bodyPr/>
                    <a:lstStyle/>
                    <a:p>
                      <a:r>
                        <a:rPr lang="en-US" sz="1100" dirty="0">
                          <a:solidFill>
                            <a:srgbClr val="111111"/>
                          </a:solidFill>
                          <a:latin typeface="Calibri" pitchFamily="34" charset="0"/>
                        </a:rPr>
                        <a:t>ML model personalises diet for Type 2 diabetes using glycaemic index data</a:t>
                      </a:r>
                    </a:p>
                  </a:txBody>
                  <a:tcPr>
                    <a:solidFill>
                      <a:srgbClr val="EEF2FF"/>
                    </a:solidFill>
                  </a:tcPr>
                </a:tc>
                <a:tc>
                  <a:txBody>
                    <a:bodyPr/>
                    <a:lstStyle/>
                    <a:p>
                      <a:r>
                        <a:rPr lang="en-US" sz="1100" dirty="0">
                          <a:solidFill>
                            <a:srgbClr val="111111"/>
                          </a:solidFill>
                          <a:latin typeface="Calibri" pitchFamily="34" charset="0"/>
                        </a:rPr>
                        <a:t>Uses generic Western food database; no Indian regional foods</a:t>
                      </a:r>
                    </a:p>
                  </a:txBody>
                  <a:tcPr>
                    <a:solidFill>
                      <a:srgbClr val="EEF2FF"/>
                    </a:solidFill>
                  </a:tcPr>
                </a:tc>
              </a:tr>
              <a:tr h="430000">
                <a:tc>
                  <a:txBody>
                    <a:bodyPr/>
                    <a:lstStyle/>
                    <a:p>
                      <a:r>
                        <a:rPr lang="en-US" sz="1100" dirty="0">
                          <a:solidFill>
                            <a:srgbClr val="111111"/>
                          </a:solidFill>
                          <a:latin typeface="Calibri" pitchFamily="34" charset="0"/>
                        </a:rPr>
                        <a:t>2</a:t>
                      </a:r>
                    </a:p>
                  </a:txBody>
                  <a:tcPr>
                    <a:solidFill>
                      <a:srgbClr val="FFFFFF"/>
                    </a:solidFill>
                  </a:tcPr>
                </a:tc>
                <a:tc>
                  <a:txBody>
                    <a:bodyPr/>
                    <a:lstStyle/>
                    <a:p>
                      <a:r>
                        <a:rPr lang="en-US" sz="1100" dirty="0">
                          <a:solidFill>
                            <a:srgbClr val="111111"/>
                          </a:solidFill>
                          <a:latin typeface="Calibri" pitchFamily="34" charset="0"/>
                        </a:rPr>
                        <a:t>Ravindra et al. / Personalised nutrition using IoT and AI</a:t>
                      </a:r>
                    </a:p>
                  </a:txBody>
                  <a:tcPr>
                    <a:solidFill>
                      <a:srgbClr val="FFFFFF"/>
                    </a:solidFill>
                  </a:tcPr>
                </a:tc>
                <a:tc>
                  <a:txBody>
                    <a:bodyPr/>
                    <a:lstStyle/>
                    <a:p>
                      <a:r>
                        <a:rPr lang="en-US" sz="1100" dirty="0">
                          <a:solidFill>
                            <a:srgbClr val="111111"/>
                          </a:solidFill>
                          <a:latin typeface="Calibri" pitchFamily="34" charset="0"/>
                        </a:rPr>
                        <a:t>IEEE IOTM</a:t>
                      </a:r>
                    </a:p>
                  </a:txBody>
                  <a:tcPr>
                    <a:solidFill>
                      <a:srgbClr val="FFFFFF"/>
                    </a:solidFill>
                  </a:tcPr>
                </a:tc>
                <a:tc>
                  <a:txBody>
                    <a:bodyPr/>
                    <a:lstStyle/>
                    <a:p>
                      <a:r>
                        <a:rPr lang="en-US" sz="1100" dirty="0">
                          <a:solidFill>
                            <a:srgbClr val="111111"/>
                          </a:solidFill>
                          <a:latin typeface="Calibri" pitchFamily="34" charset="0"/>
                        </a:rPr>
                        <a:t>2023</a:t>
                      </a:r>
                    </a:p>
                  </a:txBody>
                  <a:tcPr>
                    <a:solidFill>
                      <a:srgbClr val="FFFFFF"/>
                    </a:solidFill>
                  </a:tcPr>
                </a:tc>
                <a:tc>
                  <a:txBody>
                    <a:bodyPr/>
                    <a:lstStyle/>
                    <a:p>
                      <a:r>
                        <a:rPr lang="en-US" sz="1100" dirty="0">
                          <a:solidFill>
                            <a:srgbClr val="111111"/>
                          </a:solidFill>
                          <a:latin typeface="Calibri" pitchFamily="34" charset="0"/>
                        </a:rPr>
                        <a:t>IoT sensor + AI pipeline for real-time dietary monitoring</a:t>
                      </a:r>
                    </a:p>
                  </a:txBody>
                  <a:tcPr>
                    <a:solidFill>
                      <a:srgbClr val="FFFFFF"/>
                    </a:solidFill>
                  </a:tcPr>
                </a:tc>
                <a:tc>
                  <a:txBody>
                    <a:bodyPr/>
                    <a:lstStyle/>
                    <a:p>
                      <a:r>
                        <a:rPr lang="en-US" sz="1100" dirty="0">
                          <a:solidFill>
                            <a:srgbClr val="111111"/>
                          </a:solidFill>
                          <a:latin typeface="Calibri" pitchFamily="34" charset="0"/>
                        </a:rPr>
                        <a:t>No medication-nutrition interaction; limited to urban users</a:t>
                      </a:r>
                    </a:p>
                  </a:txBody>
                  <a:tcPr>
                    <a:solidFill>
                      <a:srgbClr val="FFFFFF"/>
                    </a:solidFill>
                  </a:tcPr>
                </a:tc>
              </a:tr>
              <a:tr h="430000">
                <a:tc>
                  <a:txBody>
                    <a:bodyPr/>
                    <a:lstStyle/>
                    <a:p>
                      <a:r>
                        <a:rPr lang="en-US" sz="1100" dirty="0">
                          <a:solidFill>
                            <a:srgbClr val="111111"/>
                          </a:solidFill>
                          <a:latin typeface="Calibri" pitchFamily="34" charset="0"/>
                        </a:rPr>
                        <a:t>3</a:t>
                      </a:r>
                    </a:p>
                  </a:txBody>
                  <a:tcPr>
                    <a:solidFill>
                      <a:srgbClr val="EEF2FF"/>
                    </a:solidFill>
                  </a:tcPr>
                </a:tc>
                <a:tc>
                  <a:txBody>
                    <a:bodyPr/>
                    <a:lstStyle/>
                    <a:p>
                      <a:r>
                        <a:rPr lang="en-US" sz="1100" dirty="0">
                          <a:solidFill>
                            <a:srgbClr val="111111"/>
                          </a:solidFill>
                          <a:latin typeface="Calibri" pitchFamily="34" charset="0"/>
                        </a:rPr>
                        <a:t>Deshpande &amp; Kulkarni / IFCT-based mobile nutrition app</a:t>
                      </a:r>
                    </a:p>
                  </a:txBody>
                  <a:tcPr>
                    <a:solidFill>
                      <a:srgbClr val="EEF2FF"/>
                    </a:solidFill>
                  </a:tcPr>
                </a:tc>
                <a:tc>
                  <a:txBody>
                    <a:bodyPr/>
                    <a:lstStyle/>
                    <a:p>
                      <a:r>
                        <a:rPr lang="en-US" sz="1100" dirty="0">
                          <a:solidFill>
                            <a:srgbClr val="111111"/>
                          </a:solidFill>
                          <a:latin typeface="Calibri" pitchFamily="34" charset="0"/>
                        </a:rPr>
                        <a:t>Indian J. Nutr. Dietetics</a:t>
                      </a:r>
                    </a:p>
                  </a:txBody>
                  <a:tcPr>
                    <a:solidFill>
                      <a:srgbClr val="EEF2FF"/>
                    </a:solidFill>
                  </a:tcPr>
                </a:tc>
                <a:tc>
                  <a:txBody>
                    <a:bodyPr/>
                    <a:lstStyle/>
                    <a:p>
                      <a:r>
                        <a:rPr lang="en-US" sz="1100" dirty="0">
                          <a:solidFill>
                            <a:srgbClr val="111111"/>
                          </a:solidFill>
                          <a:latin typeface="Calibri" pitchFamily="34" charset="0"/>
                        </a:rPr>
                        <a:t>2021</a:t>
                      </a:r>
                    </a:p>
                  </a:txBody>
                  <a:tcPr>
                    <a:solidFill>
                      <a:srgbClr val="EEF2FF"/>
                    </a:solidFill>
                  </a:tcPr>
                </a:tc>
                <a:tc>
                  <a:txBody>
                    <a:bodyPr/>
                    <a:lstStyle/>
                    <a:p>
                      <a:r>
                        <a:rPr lang="en-US" sz="1100" dirty="0">
                          <a:solidFill>
                            <a:srgbClr val="111111"/>
                          </a:solidFill>
                          <a:latin typeface="Calibri" pitchFamily="34" charset="0"/>
                        </a:rPr>
                        <a:t>First app using IFCT 2017 for Indian food nutrient lookup</a:t>
                      </a:r>
                    </a:p>
                  </a:txBody>
                  <a:tcPr>
                    <a:solidFill>
                      <a:srgbClr val="EEF2FF"/>
                    </a:solidFill>
                  </a:tcPr>
                </a:tc>
                <a:tc>
                  <a:txBody>
                    <a:bodyPr/>
                    <a:lstStyle/>
                    <a:p>
                      <a:r>
                        <a:rPr lang="en-US" sz="1100" dirty="0">
                          <a:solidFill>
                            <a:srgbClr val="111111"/>
                          </a:solidFill>
                          <a:latin typeface="Calibri" pitchFamily="34" charset="0"/>
                        </a:rPr>
                        <a:t>No AI personalisation; only static food look-up</a:t>
                      </a:r>
                    </a:p>
                  </a:txBody>
                  <a:tcPr>
                    <a:solidFill>
                      <a:srgbClr val="EEF2FF"/>
                    </a:solidFill>
                  </a:tcPr>
                </a:tc>
              </a:tr>
              <a:tr h="430000">
                <a:tc>
                  <a:txBody>
                    <a:bodyPr/>
                    <a:lstStyle/>
                    <a:p>
                      <a:r>
                        <a:rPr lang="en-US" sz="1100" dirty="0">
                          <a:solidFill>
                            <a:srgbClr val="111111"/>
                          </a:solidFill>
                          <a:latin typeface="Calibri" pitchFamily="34" charset="0"/>
                        </a:rPr>
                        <a:t>4</a:t>
                      </a:r>
                    </a:p>
                  </a:txBody>
                  <a:tcPr>
                    <a:solidFill>
                      <a:srgbClr val="FFFFFF"/>
                    </a:solidFill>
                  </a:tcPr>
                </a:tc>
                <a:tc>
                  <a:txBody>
                    <a:bodyPr/>
                    <a:lstStyle/>
                    <a:p>
                      <a:r>
                        <a:rPr lang="en-US" sz="1100" dirty="0">
                          <a:solidFill>
                            <a:srgbClr val="111111"/>
                          </a:solidFill>
                          <a:latin typeface="Calibri" pitchFamily="34" charset="0"/>
                        </a:rPr>
                        <a:t>Srivastava et al. / Drug-nutrient interactions in Indian patients</a:t>
                      </a:r>
                    </a:p>
                  </a:txBody>
                  <a:tcPr>
                    <a:solidFill>
                      <a:srgbClr val="FFFFFF"/>
                    </a:solidFill>
                  </a:tcPr>
                </a:tc>
                <a:tc>
                  <a:txBody>
                    <a:bodyPr/>
                    <a:lstStyle/>
                    <a:p>
                      <a:r>
                        <a:rPr lang="en-US" sz="1100" dirty="0">
                          <a:solidFill>
                            <a:srgbClr val="111111"/>
                          </a:solidFill>
                          <a:latin typeface="Calibri" pitchFamily="34" charset="0"/>
                        </a:rPr>
                        <a:t>Indian J. Pharmacology</a:t>
                      </a:r>
                    </a:p>
                  </a:txBody>
                  <a:tcPr>
                    <a:solidFill>
                      <a:srgbClr val="FFFFFF"/>
                    </a:solidFill>
                  </a:tcPr>
                </a:tc>
                <a:tc>
                  <a:txBody>
                    <a:bodyPr/>
                    <a:lstStyle/>
                    <a:p>
                      <a:r>
                        <a:rPr lang="en-US" sz="1100" dirty="0">
                          <a:solidFill>
                            <a:srgbClr val="111111"/>
                          </a:solidFill>
                          <a:latin typeface="Calibri" pitchFamily="34" charset="0"/>
                        </a:rPr>
                        <a:t>2022</a:t>
                      </a:r>
                    </a:p>
                  </a:txBody>
                  <a:tcPr>
                    <a:solidFill>
                      <a:srgbClr val="FFFFFF"/>
                    </a:solidFill>
                  </a:tcPr>
                </a:tc>
                <a:tc>
                  <a:txBody>
                    <a:bodyPr/>
                    <a:lstStyle/>
                    <a:p>
                      <a:r>
                        <a:rPr lang="en-US" sz="1100" dirty="0">
                          <a:solidFill>
                            <a:srgbClr val="111111"/>
                          </a:solidFill>
                          <a:latin typeface="Calibri" pitchFamily="34" charset="0"/>
                        </a:rPr>
                        <a:t>Documents B12 depletion from Metformin in Indian diabetic cohort</a:t>
                      </a:r>
                    </a:p>
                  </a:txBody>
                  <a:tcPr>
                    <a:solidFill>
                      <a:srgbClr val="FFFFFF"/>
                    </a:solidFill>
                  </a:tcPr>
                </a:tc>
                <a:tc>
                  <a:txBody>
                    <a:bodyPr/>
                    <a:lstStyle/>
                    <a:p>
                      <a:r>
                        <a:rPr lang="en-US" sz="1100" dirty="0">
                          <a:solidFill>
                            <a:srgbClr val="111111"/>
                          </a:solidFill>
                          <a:latin typeface="Calibri" pitchFamily="34" charset="0"/>
                        </a:rPr>
                        <a:t>Clinical study only; not integrated into a software system</a:t>
                      </a:r>
                    </a:p>
                  </a:txBody>
                  <a:tcPr>
                    <a:solidFill>
                      <a:srgbClr val="FFFFFF"/>
                    </a:solidFill>
                  </a:tcPr>
                </a:tc>
              </a:tr>
              <a:tr h="430000">
                <a:tc>
                  <a:txBody>
                    <a:bodyPr/>
                    <a:lstStyle/>
                    <a:p>
                      <a:r>
                        <a:rPr lang="en-US" sz="1100" dirty="0">
                          <a:solidFill>
                            <a:srgbClr val="111111"/>
                          </a:solidFill>
                          <a:latin typeface="Calibri" pitchFamily="34" charset="0"/>
                        </a:rPr>
                        <a:t>5</a:t>
                      </a:r>
                    </a:p>
                  </a:txBody>
                  <a:tcPr>
                    <a:solidFill>
                      <a:srgbClr val="EEF2FF"/>
                    </a:solidFill>
                  </a:tcPr>
                </a:tc>
                <a:tc>
                  <a:txBody>
                    <a:bodyPr/>
                    <a:lstStyle/>
                    <a:p>
                      <a:r>
                        <a:rPr lang="en-US" sz="1100" dirty="0">
                          <a:solidFill>
                            <a:srgbClr val="111111"/>
                          </a:solidFill>
                          <a:latin typeface="Calibri" pitchFamily="34" charset="0"/>
                        </a:rPr>
                        <a:t>Goyal &amp; Sharma / NLP chatbot for diet counselling in Hindi</a:t>
                      </a:r>
                    </a:p>
                  </a:txBody>
                  <a:tcPr>
                    <a:solidFill>
                      <a:srgbClr val="EEF2FF"/>
                    </a:solidFill>
                  </a:tcPr>
                </a:tc>
                <a:tc>
                  <a:txBody>
                    <a:bodyPr/>
                    <a:lstStyle/>
                    <a:p>
                      <a:r>
                        <a:rPr lang="en-US" sz="1100" dirty="0">
                          <a:solidFill>
                            <a:srgbClr val="111111"/>
                          </a:solidFill>
                          <a:latin typeface="Calibri" pitchFamily="34" charset="0"/>
                        </a:rPr>
                        <a:t>ACL India Workshop</a:t>
                      </a:r>
                    </a:p>
                  </a:txBody>
                  <a:tcPr>
                    <a:solidFill>
                      <a:srgbClr val="EEF2FF"/>
                    </a:solidFill>
                  </a:tcPr>
                </a:tc>
                <a:tc>
                  <a:txBody>
                    <a:bodyPr/>
                    <a:lstStyle/>
                    <a:p>
                      <a:r>
                        <a:rPr lang="en-US" sz="1100" dirty="0">
                          <a:solidFill>
                            <a:srgbClr val="111111"/>
                          </a:solidFill>
                          <a:latin typeface="Calibri" pitchFamily="34" charset="0"/>
                        </a:rPr>
                        <a:t>2023</a:t>
                      </a:r>
                    </a:p>
                  </a:txBody>
                  <a:tcPr>
                    <a:solidFill>
                      <a:srgbClr val="EEF2FF"/>
                    </a:solidFill>
                  </a:tcPr>
                </a:tc>
                <a:tc>
                  <a:txBody>
                    <a:bodyPr/>
                    <a:lstStyle/>
                    <a:p>
                      <a:r>
                        <a:rPr lang="en-US" sz="1100" dirty="0">
                          <a:solidFill>
                            <a:srgbClr val="111111"/>
                          </a:solidFill>
                          <a:latin typeface="Calibri" pitchFamily="34" charset="0"/>
                        </a:rPr>
                        <a:t>Hindi-language chatbot for basic dietary Q&amp;A using NLP</a:t>
                      </a:r>
                    </a:p>
                  </a:txBody>
                  <a:tcPr>
                    <a:solidFill>
                      <a:srgbClr val="EEF2FF"/>
                    </a:solidFill>
                  </a:tcPr>
                </a:tc>
                <a:tc>
                  <a:txBody>
                    <a:bodyPr/>
                    <a:lstStyle/>
                    <a:p>
                      <a:r>
                        <a:rPr lang="en-US" sz="1100" dirty="0">
                          <a:solidFill>
                            <a:srgbClr val="111111"/>
                          </a:solidFill>
                          <a:latin typeface="Calibri" pitchFamily="34" charset="0"/>
                        </a:rPr>
                        <a:t>No stateful memory; no health-condition-aware meal planning</a:t>
                      </a:r>
                    </a:p>
                  </a:txBody>
                  <a:tcPr>
                    <a:solidFill>
                      <a:srgbClr val="EEF2FF"/>
                    </a:solidFill>
                  </a:tcPr>
                </a:tc>
              </a:tr>
              <a:tr h="430000">
                <a:tc>
                  <a:txBody>
                    <a:bodyPr/>
                    <a:lstStyle/>
                    <a:p>
                      <a:r>
                        <a:rPr lang="en-US" sz="1100" dirty="0">
                          <a:solidFill>
                            <a:srgbClr val="111111"/>
                          </a:solidFill>
                          <a:latin typeface="Calibri" pitchFamily="34" charset="0"/>
                        </a:rPr>
                        <a:t>6</a:t>
                      </a:r>
                    </a:p>
                  </a:txBody>
                  <a:tcPr>
                    <a:solidFill>
                      <a:srgbClr val="FFFFFF"/>
                    </a:solidFill>
                  </a:tcPr>
                </a:tc>
                <a:tc>
                  <a:txBody>
                    <a:bodyPr/>
                    <a:lstStyle/>
                    <a:p>
                      <a:r>
                        <a:rPr lang="en-US" sz="1100" dirty="0">
                          <a:solidFill>
                            <a:srgbClr val="111111"/>
                          </a:solidFill>
                          <a:latin typeface="Calibri" pitchFamily="34" charset="0"/>
                        </a:rPr>
                        <a:t>Verma et al. / Region-wise dietary patterns across Indian states</a:t>
                      </a:r>
                    </a:p>
                  </a:txBody>
                  <a:tcPr>
                    <a:solidFill>
                      <a:srgbClr val="FFFFFF"/>
                    </a:solidFill>
                  </a:tcPr>
                </a:tc>
                <a:tc>
                  <a:txBody>
                    <a:bodyPr/>
                    <a:lstStyle/>
                    <a:p>
                      <a:r>
                        <a:rPr lang="en-US" sz="1100" dirty="0">
                          <a:solidFill>
                            <a:srgbClr val="111111"/>
                          </a:solidFill>
                          <a:latin typeface="Calibri" pitchFamily="34" charset="0"/>
                        </a:rPr>
                        <a:t>Nutrition Journal</a:t>
                      </a:r>
                    </a:p>
                  </a:txBody>
                  <a:tcPr>
                    <a:solidFill>
                      <a:srgbClr val="FFFFFF"/>
                    </a:solidFill>
                  </a:tcPr>
                </a:tc>
                <a:tc>
                  <a:txBody>
                    <a:bodyPr/>
                    <a:lstStyle/>
                    <a:p>
                      <a:r>
                        <a:rPr lang="en-US" sz="1100" dirty="0">
                          <a:solidFill>
                            <a:srgbClr val="111111"/>
                          </a:solidFill>
                          <a:latin typeface="Calibri" pitchFamily="34" charset="0"/>
                        </a:rPr>
                        <a:t>2021</a:t>
                      </a:r>
                    </a:p>
                  </a:txBody>
                  <a:tcPr>
                    <a:solidFill>
                      <a:srgbClr val="FFFFFF"/>
                    </a:solidFill>
                  </a:tcPr>
                </a:tc>
                <a:tc>
                  <a:txBody>
                    <a:bodyPr/>
                    <a:lstStyle/>
                    <a:p>
                      <a:r>
                        <a:rPr lang="en-US" sz="1100" dirty="0">
                          <a:solidFill>
                            <a:srgbClr val="111111"/>
                          </a:solidFill>
                          <a:latin typeface="Calibri" pitchFamily="34" charset="0"/>
                        </a:rPr>
                        <a:t>Maps state-level food consumption using NSSO survey data</a:t>
                      </a:r>
                    </a:p>
                  </a:txBody>
                  <a:tcPr>
                    <a:solidFill>
                      <a:srgbClr val="FFFFFF"/>
                    </a:solidFill>
                  </a:tcPr>
                </a:tc>
                <a:tc>
                  <a:txBody>
                    <a:bodyPr/>
                    <a:lstStyle/>
                    <a:p>
                      <a:r>
                        <a:rPr lang="en-US" sz="1100" dirty="0">
                          <a:solidFill>
                            <a:srgbClr val="111111"/>
                          </a:solidFill>
                          <a:latin typeface="Calibri" pitchFamily="34" charset="0"/>
                        </a:rPr>
                        <a:t>State-level only; no district granularity or AI integration</a:t>
                      </a:r>
                    </a:p>
                  </a:txBody>
                  <a:tcPr>
                    <a:solidFill>
                      <a:srgbClr val="FFFFFF"/>
                    </a:solidFill>
                  </a:tcPr>
                </a:tc>
              </a:tr>
              <a:tr h="430000">
                <a:tc>
                  <a:txBody>
                    <a:bodyPr/>
                    <a:lstStyle/>
                    <a:p>
                      <a:r>
                        <a:rPr lang="en-US" sz="1100" dirty="0">
                          <a:solidFill>
                            <a:srgbClr val="111111"/>
                          </a:solidFill>
                          <a:latin typeface="Calibri" pitchFamily="34" charset="0"/>
                        </a:rPr>
                        <a:t>7</a:t>
                      </a:r>
                    </a:p>
                  </a:txBody>
                  <a:tcPr>
                    <a:solidFill>
                      <a:srgbClr val="EEF2FF"/>
                    </a:solidFill>
                  </a:tcPr>
                </a:tc>
                <a:tc>
                  <a:txBody>
                    <a:bodyPr/>
                    <a:lstStyle/>
                    <a:p>
                      <a:r>
                        <a:rPr lang="en-US" sz="1100" dirty="0">
                          <a:solidFill>
                            <a:srgbClr val="111111"/>
                          </a:solidFill>
                          <a:latin typeface="Calibri" pitchFamily="34" charset="0"/>
                        </a:rPr>
                        <a:t>Anand et al. / LLM-based meal plan generation</a:t>
                      </a:r>
                    </a:p>
                  </a:txBody>
                  <a:tcPr>
                    <a:solidFill>
                      <a:srgbClr val="EEF2FF"/>
                    </a:solidFill>
                  </a:tcPr>
                </a:tc>
                <a:tc>
                  <a:txBody>
                    <a:bodyPr/>
                    <a:lstStyle/>
                    <a:p>
                      <a:r>
                        <a:rPr lang="en-US" sz="1100" dirty="0">
                          <a:solidFill>
                            <a:srgbClr val="111111"/>
                          </a:solidFill>
                          <a:latin typeface="Calibri" pitchFamily="34" charset="0"/>
                        </a:rPr>
                        <a:t>arXiv / NeurIPS</a:t>
                      </a:r>
                    </a:p>
                  </a:txBody>
                  <a:tcPr>
                    <a:solidFill>
                      <a:srgbClr val="EEF2FF"/>
                    </a:solidFill>
                  </a:tcPr>
                </a:tc>
                <a:tc>
                  <a:txBody>
                    <a:bodyPr/>
                    <a:lstStyle/>
                    <a:p>
                      <a:r>
                        <a:rPr lang="en-US" sz="1100" dirty="0">
                          <a:solidFill>
                            <a:srgbClr val="111111"/>
                          </a:solidFill>
                          <a:latin typeface="Calibri" pitchFamily="34" charset="0"/>
                        </a:rPr>
                        <a:t>2024</a:t>
                      </a:r>
                    </a:p>
                  </a:txBody>
                  <a:tcPr>
                    <a:solidFill>
                      <a:srgbClr val="EEF2FF"/>
                    </a:solidFill>
                  </a:tcPr>
                </a:tc>
                <a:tc>
                  <a:txBody>
                    <a:bodyPr/>
                    <a:lstStyle/>
                    <a:p>
                      <a:r>
                        <a:rPr lang="en-US" sz="1100" dirty="0">
                          <a:solidFill>
                            <a:srgbClr val="111111"/>
                          </a:solidFill>
                          <a:latin typeface="Calibri" pitchFamily="34" charset="0"/>
                        </a:rPr>
                        <a:t>GPT-4 generates USDA-aligned meal plans with nutrient constraints</a:t>
                      </a:r>
                    </a:p>
                  </a:txBody>
                  <a:tcPr>
                    <a:solidFill>
                      <a:srgbClr val="EEF2FF"/>
                    </a:solidFill>
                  </a:tcPr>
                </a:tc>
                <a:tc>
                  <a:txBody>
                    <a:bodyPr/>
                    <a:lstStyle/>
                    <a:p>
                      <a:r>
                        <a:rPr lang="en-US" sz="1100" dirty="0">
                          <a:solidFill>
                            <a:srgbClr val="111111"/>
                          </a:solidFill>
                          <a:latin typeface="Calibri" pitchFamily="34" charset="0"/>
                        </a:rPr>
                        <a:t>USDA-centric; no Indian food data; no regional personalisation</a:t>
                      </a:r>
                    </a:p>
                  </a:txBody>
                  <a:tcPr>
                    <a:solidFill>
                      <a:srgbClr val="EEF2FF"/>
                    </a:solidFill>
                  </a:tcPr>
                </a:tc>
              </a:tr>
              <a:tr h="430000">
                <a:tc>
                  <a:txBody>
                    <a:bodyPr/>
                    <a:lstStyle/>
                    <a:p>
                      <a:r>
                        <a:rPr lang="en-US" sz="1100" dirty="0">
                          <a:solidFill>
                            <a:srgbClr val="111111"/>
                          </a:solidFill>
                          <a:latin typeface="Calibri" pitchFamily="34" charset="0"/>
                        </a:rPr>
                        <a:t>8</a:t>
                      </a:r>
                    </a:p>
                  </a:txBody>
                  <a:tcPr>
                    <a:solidFill>
                      <a:srgbClr val="FFFFFF"/>
                    </a:solidFill>
                  </a:tcPr>
                </a:tc>
                <a:tc>
                  <a:txBody>
                    <a:bodyPr/>
                    <a:lstStyle/>
                    <a:p>
                      <a:r>
                        <a:rPr lang="en-US" sz="1100" dirty="0">
                          <a:solidFill>
                            <a:srgbClr val="111111"/>
                          </a:solidFill>
                          <a:latin typeface="Calibri" pitchFamily="34" charset="0"/>
                        </a:rPr>
                        <a:t>Kumar &amp; Prasad / Anaemia-specific nutrition intervention app</a:t>
                      </a:r>
                    </a:p>
                  </a:txBody>
                  <a:tcPr>
                    <a:solidFill>
                      <a:srgbClr val="FFFFFF"/>
                    </a:solidFill>
                  </a:tcPr>
                </a:tc>
                <a:tc>
                  <a:txBody>
                    <a:bodyPr/>
                    <a:lstStyle/>
                    <a:p>
                      <a:r>
                        <a:rPr lang="en-US" sz="1100" dirty="0">
                          <a:solidFill>
                            <a:srgbClr val="111111"/>
                          </a:solidFill>
                          <a:latin typeface="Calibri" pitchFamily="34" charset="0"/>
                        </a:rPr>
                        <a:t>JAMIA</a:t>
                      </a:r>
                    </a:p>
                  </a:txBody>
                  <a:tcPr>
                    <a:solidFill>
                      <a:srgbClr val="FFFFFF"/>
                    </a:solidFill>
                  </a:tcPr>
                </a:tc>
                <a:tc>
                  <a:txBody>
                    <a:bodyPr/>
                    <a:lstStyle/>
                    <a:p>
                      <a:r>
                        <a:rPr lang="en-US" sz="1100" dirty="0">
                          <a:solidFill>
                            <a:srgbClr val="111111"/>
                          </a:solidFill>
                          <a:latin typeface="Calibri" pitchFamily="34" charset="0"/>
                        </a:rPr>
                        <a:t>2022</a:t>
                      </a:r>
                    </a:p>
                  </a:txBody>
                  <a:tcPr>
                    <a:solidFill>
                      <a:srgbClr val="FFFFFF"/>
                    </a:solidFill>
                  </a:tcPr>
                </a:tc>
                <a:tc>
                  <a:txBody>
                    <a:bodyPr/>
                    <a:lstStyle/>
                    <a:p>
                      <a:r>
                        <a:rPr lang="en-US" sz="1100" dirty="0">
                          <a:solidFill>
                            <a:srgbClr val="111111"/>
                          </a:solidFill>
                          <a:latin typeface="Calibri" pitchFamily="34" charset="0"/>
                        </a:rPr>
                        <a:t>Mobile app for iron-deficiency anaemia with food pairing logic</a:t>
                      </a:r>
                    </a:p>
                  </a:txBody>
                  <a:tcPr>
                    <a:solidFill>
                      <a:srgbClr val="FFFFFF"/>
                    </a:solidFill>
                  </a:tcPr>
                </a:tc>
                <a:tc>
                  <a:txBody>
                    <a:bodyPr/>
                    <a:lstStyle/>
                    <a:p>
                      <a:r>
                        <a:rPr lang="en-US" sz="1100" dirty="0">
                          <a:solidFill>
                            <a:srgbClr val="111111"/>
                          </a:solidFill>
                          <a:latin typeface="Calibri" pitchFamily="34" charset="0"/>
                        </a:rPr>
                        <a:t>Single condition; no multi-condition or medication context</a:t>
                      </a:r>
                    </a:p>
                  </a:txBody>
                  <a:tcPr>
                    <a:solidFill>
                      <a:srgbClr val="FFFFFF"/>
                    </a:solidFill>
                  </a:tcPr>
                </a:tc>
              </a:tr>
              <a:tr h="430000">
                <a:tc>
                  <a:txBody>
                    <a:bodyPr/>
                    <a:lstStyle/>
                    <a:p>
                      <a:r>
                        <a:rPr lang="en-US" sz="1100" dirty="0">
                          <a:solidFill>
                            <a:srgbClr val="111111"/>
                          </a:solidFill>
                          <a:latin typeface="Calibri" pitchFamily="34" charset="0"/>
                        </a:rPr>
                        <a:t>9</a:t>
                      </a:r>
                    </a:p>
                  </a:txBody>
                  <a:tcPr>
                    <a:solidFill>
                      <a:srgbClr val="EEF2FF"/>
                    </a:solidFill>
                  </a:tcPr>
                </a:tc>
                <a:tc>
                  <a:txBody>
                    <a:bodyPr/>
                    <a:lstStyle/>
                    <a:p>
                      <a:r>
                        <a:rPr lang="en-US" sz="1100" dirty="0">
                          <a:solidFill>
                            <a:srgbClr val="111111"/>
                          </a:solidFill>
                          <a:latin typeface="Calibri" pitchFamily="34" charset="0"/>
                        </a:rPr>
                        <a:t>Pillai et al. / Pregnancy nutrition tracker for Indian women</a:t>
                      </a:r>
                    </a:p>
                  </a:txBody>
                  <a:tcPr>
                    <a:solidFill>
                      <a:srgbClr val="EEF2FF"/>
                    </a:solidFill>
                  </a:tcPr>
                </a:tc>
                <a:tc>
                  <a:txBody>
                    <a:bodyPr/>
                    <a:lstStyle/>
                    <a:p>
                      <a:r>
                        <a:rPr lang="en-US" sz="1100" dirty="0">
                          <a:solidFill>
                            <a:srgbClr val="111111"/>
                          </a:solidFill>
                          <a:latin typeface="Calibri" pitchFamily="34" charset="0"/>
                        </a:rPr>
                        <a:t>BMC Pregnancy Childbirth</a:t>
                      </a:r>
                    </a:p>
                  </a:txBody>
                  <a:tcPr>
                    <a:solidFill>
                      <a:srgbClr val="EEF2FF"/>
                    </a:solidFill>
                  </a:tcPr>
                </a:tc>
                <a:tc>
                  <a:txBody>
                    <a:bodyPr/>
                    <a:lstStyle/>
                    <a:p>
                      <a:r>
                        <a:rPr lang="en-US" sz="1100" dirty="0">
                          <a:solidFill>
                            <a:srgbClr val="111111"/>
                          </a:solidFill>
                          <a:latin typeface="Calibri" pitchFamily="34" charset="0"/>
                        </a:rPr>
                        <a:t>2023</a:t>
                      </a:r>
                    </a:p>
                  </a:txBody>
                  <a:tcPr>
                    <a:solidFill>
                      <a:srgbClr val="EEF2FF"/>
                    </a:solidFill>
                  </a:tcPr>
                </a:tc>
                <a:tc>
                  <a:txBody>
                    <a:bodyPr/>
                    <a:lstStyle/>
                    <a:p>
                      <a:r>
                        <a:rPr lang="en-US" sz="1100" dirty="0">
                          <a:solidFill>
                            <a:srgbClr val="111111"/>
                          </a:solidFill>
                          <a:latin typeface="Calibri" pitchFamily="34" charset="0"/>
                        </a:rPr>
                        <a:t>Trimester-based micronutrient tracker using ICMR-NIN targets</a:t>
                      </a:r>
                    </a:p>
                  </a:txBody>
                  <a:tcPr>
                    <a:solidFill>
                      <a:srgbClr val="EEF2FF"/>
                    </a:solidFill>
                  </a:tcPr>
                </a:tc>
                <a:tc>
                  <a:txBody>
                    <a:bodyPr/>
                    <a:lstStyle/>
                    <a:p>
                      <a:r>
                        <a:rPr lang="en-US" sz="1100" dirty="0">
                          <a:solidFill>
                            <a:srgbClr val="111111"/>
                          </a:solidFill>
                          <a:latin typeface="Calibri" pitchFamily="34" charset="0"/>
                        </a:rPr>
                        <a:t>Pregnancy-only; no life-stage switching or AI reasoning</a:t>
                      </a:r>
                    </a:p>
                  </a:txBody>
                  <a:tcPr>
                    <a:solidFill>
                      <a:srgbClr val="EEF2FF"/>
                    </a:solidFill>
                  </a:tcPr>
                </a:tc>
              </a:tr>
              <a:tr h="430000">
                <a:tc>
                  <a:txBody>
                    <a:bodyPr/>
                    <a:lstStyle/>
                    <a:p>
                      <a:r>
                        <a:rPr lang="en-US" sz="1100" dirty="0">
                          <a:solidFill>
                            <a:srgbClr val="111111"/>
                          </a:solidFill>
                          <a:latin typeface="Calibri" pitchFamily="34" charset="0"/>
                        </a:rPr>
                        <a:t>10</a:t>
                      </a:r>
                    </a:p>
                  </a:txBody>
                  <a:tcPr>
                    <a:solidFill>
                      <a:srgbClr val="FFFFFF"/>
                    </a:solidFill>
                  </a:tcPr>
                </a:tc>
                <a:tc>
                  <a:txBody>
                    <a:bodyPr/>
                    <a:lstStyle/>
                    <a:p>
                      <a:r>
                        <a:rPr lang="en-US" sz="1100" dirty="0">
                          <a:solidFill>
                            <a:srgbClr val="111111"/>
                          </a:solidFill>
                          <a:latin typeface="Calibri" pitchFamily="34" charset="0"/>
                        </a:rPr>
                        <a:t>Bhatt &amp; Iyer / Conversational AI for chronic disease diet management</a:t>
                      </a:r>
                    </a:p>
                  </a:txBody>
                  <a:tcPr>
                    <a:solidFill>
                      <a:srgbClr val="FFFFFF"/>
                    </a:solidFill>
                  </a:tcPr>
                </a:tc>
                <a:tc>
                  <a:txBody>
                    <a:bodyPr/>
                    <a:lstStyle/>
                    <a:p>
                      <a:r>
                        <a:rPr lang="en-US" sz="1100" dirty="0">
                          <a:solidFill>
                            <a:srgbClr val="111111"/>
                          </a:solidFill>
                          <a:latin typeface="Calibri" pitchFamily="34" charset="0"/>
                        </a:rPr>
                        <a:t>Health Informatics J.</a:t>
                      </a:r>
                    </a:p>
                  </a:txBody>
                  <a:tcPr>
                    <a:solidFill>
                      <a:srgbClr val="FFFFFF"/>
                    </a:solidFill>
                  </a:tcPr>
                </a:tc>
                <a:tc>
                  <a:txBody>
                    <a:bodyPr/>
                    <a:lstStyle/>
                    <a:p>
                      <a:r>
                        <a:rPr lang="en-US" sz="1100" dirty="0">
                          <a:solidFill>
                            <a:srgbClr val="111111"/>
                          </a:solidFill>
                          <a:latin typeface="Calibri" pitchFamily="34" charset="0"/>
                        </a:rPr>
                        <a:t>2024</a:t>
                      </a:r>
                    </a:p>
                  </a:txBody>
                  <a:tcPr>
                    <a:solidFill>
                      <a:srgbClr val="FFFFFF"/>
                    </a:solidFill>
                  </a:tcPr>
                </a:tc>
                <a:tc>
                  <a:txBody>
                    <a:bodyPr/>
                    <a:lstStyle/>
                    <a:p>
                      <a:r>
                        <a:rPr lang="en-US" sz="1100" dirty="0">
                          <a:solidFill>
                            <a:srgbClr val="111111"/>
                          </a:solidFill>
                          <a:latin typeface="Calibri" pitchFamily="34" charset="0"/>
                        </a:rPr>
                        <a:t>LangChain agent for chronic disease dietary guidance</a:t>
                      </a:r>
                    </a:p>
                  </a:txBody>
                  <a:tcPr>
                    <a:solidFill>
                      <a:srgbClr val="FFFFFF"/>
                    </a:solidFill>
                  </a:tcPr>
                </a:tc>
                <a:tc>
                  <a:txBody>
                    <a:bodyPr/>
                    <a:lstStyle/>
                    <a:p>
                      <a:r>
                        <a:rPr lang="en-US" sz="1100" dirty="0">
                          <a:solidFill>
                            <a:srgbClr val="111111"/>
                          </a:solidFill>
                          <a:latin typeface="Calibri" pitchFamily="34" charset="0"/>
                        </a:rPr>
                        <a:t>No Indian food database; no regional or medication integration</a:t>
                      </a:r>
                    </a:p>
                  </a:txBody>
                  <a:tcPr>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2582109" y="131214"/>
            <a:ext cx="6837661" cy="584775"/>
          </a:xfrm>
          <a:prstGeom prst="rect">
            <a:avLst/>
          </a:prstGeom>
        </p:spPr>
        <p:txBody>
          <a:bodyPr wrap="square">
            <a:spAutoFit/>
          </a:bodyPr>
          <a:lstStyle/>
          <a:p>
            <a:pPr algn="ctr"/>
            <a:r>
              <a:rPr lang="en-US" sz="2400" b="1" dirty="0">
                <a:solidFill>
                  <a:srgbClr val="0000FF"/>
                </a:solidFill>
                <a:latin typeface="Times New Roman" pitchFamily="18" charset="0"/>
              </a:rPr>
              <a:t>PROBLEM STATEMENT AND OBJECTIVES</a:t>
            </a:r>
          </a:p>
        </p:txBody>
      </p:sp>
      <p:sp>
        <p:nvSpPr>
          <p:cNvPr id="3" name="ProblemLabel"/>
          <p:cNvSpPr/>
          <p:nvPr/>
        </p:nvSpPr>
        <p:spPr>
          <a:xfrm>
            <a:off x="300000" y="680000"/>
            <a:ext cx="11500000" cy="440000"/>
          </a:xfrm>
          <a:prstGeom prst="rect">
            <a:avLst/>
          </a:prstGeom>
          <a:solidFill>
            <a:srgbClr val="1A237E"/>
          </a:solidFill>
        </p:spPr>
        <p:txBody>
          <a:bodyPr wrap="square" anchor="ctr">
            <a:spAutoFit/>
          </a:bodyPr>
          <a:lstStyle/>
          <a:p>
            <a:pPr algn="l" marL="200000"/>
            <a:r>
              <a:rPr lang="en-US" sz="2000" b="1" dirty="0">
                <a:solidFill>
                  <a:srgbClr val="FFFFFF"/>
                </a:solidFill>
                <a:latin typeface="Calibri" pitchFamily="34" charset="0"/>
              </a:rPr>
              <a:t>Problem Statement</a:t>
            </a:r>
          </a:p>
        </p:txBody>
      </p:sp>
      <p:sp>
        <p:nvSpPr>
          <p:cNvPr id="4" name="ProblemBody"/>
          <p:cNvSpPr/>
          <p:nvPr/>
        </p:nvSpPr>
        <p:spPr>
          <a:xfrm>
            <a:off x="300000" y="1210000"/>
            <a:ext cx="11500000" cy="1050000"/>
          </a:xfrm>
          <a:prstGeom prst="rect">
            <a:avLst/>
          </a:prstGeom>
          <a:solidFill>
            <a:srgbClr val="EEF2FF"/>
          </a:solidFill>
        </p:spPr>
        <p:txBody>
          <a:bodyPr wrap="square" lIns="150000" rIns="150000" tIns="80000">
            <a:normAutofit/>
          </a:bodyPr>
          <a:lstStyle/>
          <a:p>
            <a:pPr algn="just">
              <a:lnSpc>
                <a:spcPct val="115000"/>
              </a:lnSpc>
            </a:pPr>
            <a:r>
              <a:rPr lang="en-US" sz="1700" dirty="0">
                <a:solidFill>
                  <a:srgbClr val="111111"/>
                </a:solidFill>
                <a:latin typeface="Calibri" pitchFamily="34" charset="0"/>
              </a:rPr>
              <a:t>India’s 1.4 billion population presents one of the world’s most diverse and complex nutritional landscapes, yet no AI-powered nutrition platform currently addresses the combined requirements of Indian regional food culture (at district level), multi-condition health profiling, drug-nutrient interaction management, and ICMR-NIN-aligned dietary guidance within a single personalised system. Existing global platforms use Western food databases inapplicable to Indian diets, offer no medication-aware recommendations, and ignore the dietary diversity across India’s 700+ districts. This results in nutritionally inappropriate and clinically unsafe dietary guidance for the majority of Indian users managing chronic health conditions or undergoing medical treatment.</a:t>
            </a:r>
          </a:p>
        </p:txBody>
      </p:sp>
      <p:sp>
        <p:nvSpPr>
          <p:cNvPr id="5" name="ObjLabel"/>
          <p:cNvSpPr/>
          <p:nvPr/>
        </p:nvSpPr>
        <p:spPr>
          <a:xfrm>
            <a:off x="300000" y="2330000"/>
            <a:ext cx="11500000" cy="440000"/>
          </a:xfrm>
          <a:prstGeom prst="rect">
            <a:avLst/>
          </a:prstGeom>
          <a:solidFill>
            <a:srgbClr val="1A237E"/>
          </a:solidFill>
        </p:spPr>
        <p:txBody>
          <a:bodyPr wrap="square" anchor="ctr">
            <a:spAutoFit/>
          </a:bodyPr>
          <a:lstStyle/>
          <a:p>
            <a:pPr algn="l" marL="200000"/>
            <a:r>
              <a:rPr lang="en-US" sz="2000" b="1" dirty="0">
                <a:solidFill>
                  <a:srgbClr val="FFFFFF"/>
                </a:solidFill>
                <a:latin typeface="Calibri" pitchFamily="34" charset="0"/>
              </a:rPr>
              <a:t>Objectives</a:t>
            </a:r>
          </a:p>
        </p:txBody>
      </p:sp>
      <p:sp>
        <p:nvSpPr>
          <p:cNvPr id="6" name="ObjLeft"/>
          <p:cNvSpPr/>
          <p:nvPr/>
        </p:nvSpPr>
        <p:spPr>
          <a:xfrm>
            <a:off x="300000" y="2790000"/>
            <a:ext cx="5650000" cy="3700000"/>
          </a:xfrm>
          <a:prstGeom prst="rect">
            <a:avLst/>
          </a:prstGeom>
          <a:solidFill>
            <a:srgbClr val="F8F9FF"/>
          </a:solidFill>
          <a:ln w="12700">
            <a:solidFill>
              <a:srgbClr val="C5CAE9"/>
            </a:solidFill>
          </a:ln>
        </p:spPr>
        <p:txBody>
          <a:bodyPr wrap="square" lIns="120000" rIns="120000" tIns="100000">
            <a:normAutofit/>
          </a:bodyPr>
          <a:lstStyle/>
          <a:p>
            <a:pPr algn="l">
              <a:lnSpc>
                <a:spcPct val="110000"/>
              </a:lnSpc>
              <a:spcAft>
                <a:spcPts val="200"/>
              </a:spcAft>
              <a:buNone/>
            </a:pPr>
            <a:r>
              <a:rPr lang="en-US" sz="1600" b="1" dirty="0">
                <a:solidFill>
                  <a:srgbClr val="1A237E"/>
                </a:solidFill>
                <a:latin typeface="Calibri" pitchFamily="34" charset="0"/>
              </a:rPr>
              <a:t>Primary Objectives</a:t>
            </a:r>
          </a:p>
          <a:p>
            <a:pPr marL="300000" indent="-300000" algn="just">
              <a:lnSpc>
                <a:spcPct val="110000"/>
              </a:lnSpc>
              <a:spcAft>
                <a:spcPts val="250"/>
              </a:spcAft>
              <a:buChar char="1."/>
            </a:pPr>
            <a:r>
              <a:rPr lang="en-US" sz="1500" dirty="0">
                <a:solidFill>
                  <a:srgbClr val="111111"/>
                </a:solidFill>
                <a:latin typeface="Calibri" pitchFamily="34" charset="0"/>
              </a:rPr>
              <a:t>Develop an AI-powered nutrition platform tailored for India using IFCT 2017 and ICMR-NIN 2024 dietary data</a:t>
            </a:r>
          </a:p>
          <a:p>
            <a:pPr marL="300000" indent="-300000" algn="just">
              <a:lnSpc>
                <a:spcPct val="110000"/>
              </a:lnSpc>
              <a:spcAft>
                <a:spcPts val="250"/>
              </a:spcAft>
              <a:buChar char="2."/>
            </a:pPr>
            <a:r>
              <a:rPr lang="en-US" sz="1500" dirty="0">
                <a:solidFill>
                  <a:srgbClr val="111111"/>
                </a:solidFill>
                <a:latin typeface="Calibri" pitchFamily="34" charset="0"/>
              </a:rPr>
              <a:t>Implement 5-dimension user classification: age, profession, state/district, health condition, and medication</a:t>
            </a:r>
          </a:p>
          <a:p>
            <a:pPr marL="300000" indent="-300000" algn="just">
              <a:lnSpc>
                <a:spcPct val="110000"/>
              </a:lnSpc>
              <a:spcAft>
                <a:spcPts val="250"/>
              </a:spcAft>
              <a:buChar char="3."/>
            </a:pPr>
            <a:r>
              <a:rPr lang="en-US" sz="1500" dirty="0">
                <a:solidFill>
                  <a:srgbClr val="111111"/>
                </a:solidFill>
                <a:latin typeface="Calibri" pitchFamily="34" charset="0"/>
              </a:rPr>
              <a:t>Build a LangGraph stateful AI agent with persistent session memory and multilingual support (Hindi/English)</a:t>
            </a:r>
          </a:p>
          <a:p>
            <a:pPr marL="300000" indent="-300000" algn="just">
              <a:lnSpc>
                <a:spcPct val="110000"/>
              </a:lnSpc>
              <a:spcAft>
                <a:spcPts val="250"/>
              </a:spcAft>
              <a:buChar char="4."/>
            </a:pPr>
            <a:r>
              <a:rPr lang="en-US" sz="1500" dirty="0">
                <a:solidFill>
                  <a:srgbClr val="111111"/>
                </a:solidFill>
                <a:latin typeface="Calibri" pitchFamily="34" charset="0"/>
              </a:rPr>
              <a:t>Generate per-meal and day-total nutrient calculations against ICMR-NIN targets using IFCT 2017 data</a:t>
            </a:r>
          </a:p>
          <a:p>
            <a:pPr marL="300000" indent="-300000" algn="just">
              <a:lnSpc>
                <a:spcPct val="110000"/>
              </a:lnSpc>
              <a:spcAft>
                <a:spcPts val="250"/>
              </a:spcAft>
              <a:buChar char="5."/>
            </a:pPr>
            <a:r>
              <a:rPr lang="en-US" sz="1500" dirty="0">
                <a:solidFill>
                  <a:srgbClr val="111111"/>
                </a:solidFill>
                <a:latin typeface="Calibri" pitchFamily="34" charset="0"/>
              </a:rPr>
              <a:t>Deploy an Admin Dashboard for food/medicine data management and population health trend monitoring</a:t>
            </a:r>
          </a:p>
        </p:txBody>
      </p:sp>
      <p:sp>
        <p:nvSpPr>
          <p:cNvPr id="7" name="ObjRight"/>
          <p:cNvSpPr/>
          <p:nvPr/>
        </p:nvSpPr>
        <p:spPr>
          <a:xfrm>
            <a:off x="6150000" y="2790000"/>
            <a:ext cx="5650000" cy="3700000"/>
          </a:xfrm>
          <a:prstGeom prst="rect">
            <a:avLst/>
          </a:prstGeom>
          <a:solidFill>
            <a:srgbClr val="F8F9FF"/>
          </a:solidFill>
          <a:ln w="12700">
            <a:solidFill>
              <a:srgbClr val="C5CAE9"/>
            </a:solidFill>
          </a:ln>
        </p:spPr>
        <p:txBody>
          <a:bodyPr wrap="square" lIns="120000" rIns="120000" tIns="100000">
            <a:normAutofit/>
          </a:bodyPr>
          <a:lstStyle/>
          <a:p>
            <a:pPr algn="l">
              <a:lnSpc>
                <a:spcPct val="110000"/>
              </a:lnSpc>
              <a:spcAft>
                <a:spcPts val="200"/>
              </a:spcAft>
              <a:buNone/>
            </a:pPr>
            <a:r>
              <a:rPr lang="en-US" sz="1600" b="1" dirty="0">
                <a:solidFill>
                  <a:srgbClr val="1A237E"/>
                </a:solidFill>
                <a:latin typeface="Calibri" pitchFamily="34" charset="0"/>
              </a:rPr>
              <a:t>Secondary Objectives</a:t>
            </a:r>
          </a:p>
          <a:p>
            <a:pPr marL="300000" indent="-300000" algn="just">
              <a:lnSpc>
                <a:spcPct val="110000"/>
              </a:lnSpc>
              <a:spcAft>
                <a:spcPts val="250"/>
              </a:spcAft>
              <a:buChar char="A."/>
            </a:pPr>
            <a:r>
              <a:rPr lang="en-US" sz="1500" dirty="0">
                <a:solidFill>
                  <a:srgbClr val="111111"/>
                </a:solidFill>
                <a:latin typeface="Calibri" pitchFamily="34" charset="0"/>
              </a:rPr>
              <a:t>Curate a district-level Indian food culture database (Zone → State → District) for 100+ high-population districts at MVP</a:t>
            </a:r>
          </a:p>
          <a:p>
            <a:pPr marL="300000" indent="-300000" algn="just">
              <a:lnSpc>
                <a:spcPct val="110000"/>
              </a:lnSpc>
              <a:spcAft>
                <a:spcPts val="250"/>
              </a:spcAft>
              <a:buChar char="B."/>
            </a:pPr>
            <a:r>
              <a:rPr lang="en-US" sz="1500" dirty="0">
                <a:solidFill>
                  <a:srgbClr val="111111"/>
                </a:solidFill>
                <a:latin typeface="Calibri" pitchFamily="34" charset="0"/>
              </a:rPr>
              <a:t>Build a medicine-nutrition impact catalog for 200+ common Indian drugs with food-timing and depletion flags</a:t>
            </a:r>
          </a:p>
          <a:p>
            <a:pPr marL="300000" indent="-300000" algn="just">
              <a:lnSpc>
                <a:spcPct val="110000"/>
              </a:lnSpc>
              <a:spcAft>
                <a:spcPts val="250"/>
              </a:spcAft>
              <a:buChar char="C."/>
            </a:pPr>
            <a:r>
              <a:rPr lang="en-US" sz="1500" dirty="0">
                <a:solidFill>
                  <a:srgbClr val="111111"/>
                </a:solidFill>
                <a:latin typeface="Calibri" pitchFamily="34" charset="0"/>
              </a:rPr>
              <a:t>Resolve multi-condition nutritional conflicts (e.g., diabetes + hypertension + pregnancy) into a single coherent daily plan</a:t>
            </a:r>
          </a:p>
          <a:p>
            <a:pPr marL="300000" indent="-300000" algn="just">
              <a:lnSpc>
                <a:spcPct val="110000"/>
              </a:lnSpc>
              <a:spcAft>
                <a:spcPts val="250"/>
              </a:spcAft>
              <a:buChar char="D."/>
            </a:pPr>
            <a:r>
              <a:rPr lang="en-US" sz="1500" dirty="0">
                <a:solidFill>
                  <a:srgbClr val="111111"/>
                </a:solidFill>
                <a:latin typeface="Calibri" pitchFamily="34" charset="0"/>
              </a:rPr>
              <a:t>Validate system accuracy against NSSO dietary surveys and NFHS-5 health data for regional relevance</a:t>
            </a:r>
          </a:p>
          <a:p>
            <a:pPr marL="300000" indent="-300000" algn="just">
              <a:lnSpc>
                <a:spcPct val="110000"/>
              </a:lnSpc>
              <a:spcAft>
                <a:spcPts val="250"/>
              </a:spcAft>
              <a:buChar char="E."/>
            </a:pPr>
            <a:r>
              <a:rPr lang="en-US" sz="1500" dirty="0">
                <a:solidFill>
                  <a:srgbClr val="111111"/>
                </a:solidFill>
                <a:latin typeface="Calibri" pitchFamily="34" charset="0"/>
              </a:rPr>
              <a:t>Evaluate user experience across diverse Indian demographic groups and refine the conversational agent accordingly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2582109" y="131214"/>
            <a:ext cx="6837661" cy="584775"/>
          </a:xfrm>
          <a:prstGeom prst="rect">
            <a:avLst/>
          </a:prstGeom>
        </p:spPr>
        <p:txBody>
          <a:bodyPr wrap="square">
            <a:spAutoFit/>
          </a:bodyPr>
          <a:lstStyle/>
          <a:p>
            <a:pPr algn="ctr"/>
            <a:r>
              <a:rPr lang="en-US" sz="2200" b="1" dirty="0">
                <a:solidFill>
                  <a:srgbClr val="0000FF"/>
                </a:solidFill>
                <a:latin typeface="Times New Roman" pitchFamily="18" charset="0"/>
              </a:rPr>
              <a:t>METHODOLOGY (1/4) — System Overview and User Classification</a:t>
            </a:r>
          </a:p>
        </p:txBody>
      </p:sp>
      <p:sp>
        <p:nvSpPr>
          <p:cNvPr id="3" name="Sub"/>
          <p:cNvSpPr/>
          <p:nvPr/>
        </p:nvSpPr>
        <p:spPr>
          <a:xfrm>
            <a:off x="300000" y="770000"/>
            <a:ext cx="11600000" cy="380000"/>
          </a:xfrm>
          <a:prstGeom prst="rect">
            <a:avLst/>
          </a:prstGeom>
          <a:solidFill>
            <a:srgbClr val="E8EAF6"/>
          </a:solidFill>
          <a:ln w="12700">
            <a:solidFill>
              <a:srgbClr val="C5CAE9"/>
            </a:solidFill>
          </a:ln>
        </p:spPr>
        <p:txBody>
          <a:bodyPr wrap="square" anchor="ctr" lIns="80000" rIns="80000" tIns="60000">
            <a:normAutofit/>
          </a:bodyPr>
          <a:lstStyle/>
          <a:p>
            <a:pPr algn="ctr">
              <a:lnSpc>
                <a:spcPct val="110000"/>
              </a:lnSpc>
              <a:spcAft>
                <a:spcPts val="0"/>
              </a:spcAft>
            </a:pPr>
            <a:r>
              <a:rPr lang="en-US" sz="1700" b="0" dirty="0">
                <a:solidFill>
                  <a:srgbClr val="1A237E"/>
                </a:solidFill>
                <a:latin typeface="Calibri" pitchFamily="34" charset="0"/>
              </a:rPr>
              <a:t>AaharAI processes every user request through a 5-stage pipeline. This slide details Stages 1 and 2: User Classification and Profile Resolution.</a:t>
            </a:r>
          </a:p>
        </p:txBody>
      </p:sp>
      <p:sp>
        <p:nvSpPr>
          <p:cNvPr id="4" name="sec_4"/>
          <p:cNvSpPr/>
          <p:nvPr/>
        </p:nvSpPr>
        <p:spPr>
          <a:xfrm>
            <a:off x="300000" y="1230000"/>
            <a:ext cx="11600000" cy="380000"/>
          </a:xfrm>
          <a:prstGeom prst="rect">
            <a:avLst/>
          </a:prstGeom>
          <a:solidFill>
            <a:srgbClr val="1A237E"/>
          </a:solidFill>
          <a:ln w="12700">
            <a:solidFill>
              <a:srgbClr val="1A237E"/>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Stage 1 — User Classification (Onboarding)</a:t>
            </a:r>
          </a:p>
        </p:txBody>
      </p:sp>
      <p:sp>
        <p:nvSpPr>
          <p:cNvPr id="10" name="dim0"/>
          <p:cNvSpPr/>
          <p:nvPr/>
        </p:nvSpPr>
        <p:spPr>
          <a:xfrm>
            <a:off x="300000" y="1690000"/>
            <a:ext cx="2200000" cy="820000"/>
          </a:xfrm>
          <a:prstGeom prst="rect">
            <a:avLst/>
          </a:prstGeom>
          <a:solidFill>
            <a:srgbClr val="1565C0"/>
          </a:solidFill>
          <a:ln w="12700">
            <a:solidFill>
              <a:srgbClr val="0D47A1"/>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Age Group</a:t>
            </a:r>
          </a:p>
          <a:p>
            <a:pPr algn="ctr">
              <a:lnSpc>
                <a:spcPct val="110000"/>
              </a:lnSpc>
              <a:spcAft>
                <a:spcPts val="0"/>
              </a:spcAft>
            </a:pPr>
            <a:r>
              <a:rPr lang="en-US" sz="1300" b="0" dirty="0">
                <a:solidFill>
                  <a:srgbClr val="BBDEFB"/>
                </a:solidFill>
                <a:latin typeface="Calibri" pitchFamily="34" charset="0"/>
              </a:rPr>
              <a:t>Teen · Adult</a:t>
            </a:r>
          </a:p>
          <a:p>
            <a:pPr algn="ctr">
              <a:lnSpc>
                <a:spcPct val="110000"/>
              </a:lnSpc>
              <a:spcAft>
                <a:spcPts val="0"/>
              </a:spcAft>
            </a:pPr>
            <a:r>
              <a:rPr lang="en-US" sz="1300" b="0" dirty="0">
                <a:solidFill>
                  <a:srgbClr val="BBDEFB"/>
                </a:solidFill>
                <a:latin typeface="Calibri" pitchFamily="34" charset="0"/>
              </a:rPr>
              <a:t>Senior · Elderly</a:t>
            </a:r>
          </a:p>
        </p:txBody>
      </p:sp>
      <p:sp>
        <p:nvSpPr>
          <p:cNvPr id="20" name="arr0"/>
          <p:cNvSpPr>
            <a:spLocks noChangeArrowheads="1"/>
          </p:cNvSpPr>
          <p:nvPr/>
        </p:nvSpPr>
        <p:spPr>
          <a:xfrm>
            <a:off x="2500000" y="2050000"/>
            <a:ext cx="80000" cy="110000"/>
          </a:xfrm>
          <a:prstGeom prst="rightArrow">
            <a:avLst>
              <a:gd name="adj1" fmla="val 50000"/>
              <a:gd name="adj2" fmla="val 50000"/>
            </a:avLst>
          </a:prstGeom>
          <a:solidFill>
            <a:srgbClr val="1A237E"/>
          </a:solidFill>
        </p:spPr>
        <p:txBody>
          <a:bodyPr/>
          <a:lstStyle/>
          <a:p/>
        </p:txBody>
      </p:sp>
      <p:sp>
        <p:nvSpPr>
          <p:cNvPr id="11" name="dim1"/>
          <p:cNvSpPr/>
          <p:nvPr/>
        </p:nvSpPr>
        <p:spPr>
          <a:xfrm>
            <a:off x="2580000" y="1690000"/>
            <a:ext cx="2200000" cy="820000"/>
          </a:xfrm>
          <a:prstGeom prst="rect">
            <a:avLst/>
          </a:prstGeom>
          <a:solidFill>
            <a:srgbClr val="1565C0"/>
          </a:solidFill>
          <a:ln w="12700">
            <a:solidFill>
              <a:srgbClr val="0D47A1"/>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Profession</a:t>
            </a:r>
          </a:p>
          <a:p>
            <a:pPr algn="ctr">
              <a:lnSpc>
                <a:spcPct val="110000"/>
              </a:lnSpc>
              <a:spcAft>
                <a:spcPts val="0"/>
              </a:spcAft>
            </a:pPr>
            <a:r>
              <a:rPr lang="en-US" sz="1300" b="0" dirty="0">
                <a:solidFill>
                  <a:srgbClr val="BBDEFB"/>
                </a:solidFill>
                <a:latin typeface="Calibri" pitchFamily="34" charset="0"/>
              </a:rPr>
              <a:t>Sedentary · Light</a:t>
            </a:r>
          </a:p>
          <a:p>
            <a:pPr algn="ctr">
              <a:lnSpc>
                <a:spcPct val="110000"/>
              </a:lnSpc>
              <a:spcAft>
                <a:spcPts val="0"/>
              </a:spcAft>
            </a:pPr>
            <a:r>
              <a:rPr lang="en-US" sz="1300" b="0" dirty="0">
                <a:solidFill>
                  <a:srgbClr val="BBDEFB"/>
                </a:solidFill>
                <a:latin typeface="Calibri" pitchFamily="34" charset="0"/>
              </a:rPr>
              <a:t>Moderate · Heavy</a:t>
            </a:r>
          </a:p>
          <a:p>
            <a:pPr algn="ctr">
              <a:lnSpc>
                <a:spcPct val="110000"/>
              </a:lnSpc>
              <a:spcAft>
                <a:spcPts val="0"/>
              </a:spcAft>
            </a:pPr>
            <a:r>
              <a:rPr lang="en-US" sz="1300" b="0" dirty="0">
                <a:solidFill>
                  <a:srgbClr val="BBDEFB"/>
                </a:solidFill>
                <a:latin typeface="Calibri" pitchFamily="34" charset="0"/>
              </a:rPr>
              <a:t>Athlete</a:t>
            </a:r>
          </a:p>
        </p:txBody>
      </p:sp>
      <p:sp>
        <p:nvSpPr>
          <p:cNvPr id="21" name="arr1"/>
          <p:cNvSpPr>
            <a:spLocks noChangeArrowheads="1"/>
          </p:cNvSpPr>
          <p:nvPr/>
        </p:nvSpPr>
        <p:spPr>
          <a:xfrm>
            <a:off x="4780000" y="2050000"/>
            <a:ext cx="80000" cy="110000"/>
          </a:xfrm>
          <a:prstGeom prst="rightArrow">
            <a:avLst>
              <a:gd name="adj1" fmla="val 50000"/>
              <a:gd name="adj2" fmla="val 50000"/>
            </a:avLst>
          </a:prstGeom>
          <a:solidFill>
            <a:srgbClr val="1A237E"/>
          </a:solidFill>
        </p:spPr>
        <p:txBody>
          <a:bodyPr/>
          <a:lstStyle/>
          <a:p/>
        </p:txBody>
      </p:sp>
      <p:sp>
        <p:nvSpPr>
          <p:cNvPr id="12" name="dim2"/>
          <p:cNvSpPr/>
          <p:nvPr/>
        </p:nvSpPr>
        <p:spPr>
          <a:xfrm>
            <a:off x="4860000" y="1690000"/>
            <a:ext cx="2200000" cy="820000"/>
          </a:xfrm>
          <a:prstGeom prst="rect">
            <a:avLst/>
          </a:prstGeom>
          <a:solidFill>
            <a:srgbClr val="1565C0"/>
          </a:solidFill>
          <a:ln w="12700">
            <a:solidFill>
              <a:srgbClr val="0D47A1"/>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Region</a:t>
            </a:r>
          </a:p>
          <a:p>
            <a:pPr algn="ctr">
              <a:lnSpc>
                <a:spcPct val="110000"/>
              </a:lnSpc>
              <a:spcAft>
                <a:spcPts val="0"/>
              </a:spcAft>
            </a:pPr>
            <a:r>
              <a:rPr lang="en-US" sz="1300" b="0" dirty="0">
                <a:solidFill>
                  <a:srgbClr val="BBDEFB"/>
                </a:solidFill>
                <a:latin typeface="Calibri" pitchFamily="34" charset="0"/>
              </a:rPr>
              <a:t>State (36)</a:t>
            </a:r>
          </a:p>
          <a:p>
            <a:pPr algn="ctr">
              <a:lnSpc>
                <a:spcPct val="110000"/>
              </a:lnSpc>
              <a:spcAft>
                <a:spcPts val="0"/>
              </a:spcAft>
            </a:pPr>
            <a:r>
              <a:rPr lang="en-US" sz="1300" b="0" dirty="0">
                <a:solidFill>
                  <a:srgbClr val="BBDEFB"/>
                </a:solidFill>
                <a:latin typeface="Calibri" pitchFamily="34" charset="0"/>
              </a:rPr>
              <a:t>District (700+)</a:t>
            </a:r>
          </a:p>
          <a:p>
            <a:pPr algn="ctr">
              <a:lnSpc>
                <a:spcPct val="110000"/>
              </a:lnSpc>
              <a:spcAft>
                <a:spcPts val="0"/>
              </a:spcAft>
            </a:pPr>
            <a:r>
              <a:rPr lang="en-US" sz="1300" b="0" dirty="0">
                <a:solidFill>
                  <a:srgbClr val="BBDEFB"/>
                </a:solidFill>
                <a:latin typeface="Calibri" pitchFamily="34" charset="0"/>
              </a:rPr>
              <a:t>Zone (6)</a:t>
            </a:r>
          </a:p>
        </p:txBody>
      </p:sp>
      <p:sp>
        <p:nvSpPr>
          <p:cNvPr id="22" name="arr2"/>
          <p:cNvSpPr>
            <a:spLocks noChangeArrowheads="1"/>
          </p:cNvSpPr>
          <p:nvPr/>
        </p:nvSpPr>
        <p:spPr>
          <a:xfrm>
            <a:off x="7060000" y="2050000"/>
            <a:ext cx="80000" cy="110000"/>
          </a:xfrm>
          <a:prstGeom prst="rightArrow">
            <a:avLst>
              <a:gd name="adj1" fmla="val 50000"/>
              <a:gd name="adj2" fmla="val 50000"/>
            </a:avLst>
          </a:prstGeom>
          <a:solidFill>
            <a:srgbClr val="1A237E"/>
          </a:solidFill>
        </p:spPr>
        <p:txBody>
          <a:bodyPr/>
          <a:lstStyle/>
          <a:p/>
        </p:txBody>
      </p:sp>
      <p:sp>
        <p:nvSpPr>
          <p:cNvPr id="13" name="dim3"/>
          <p:cNvSpPr/>
          <p:nvPr/>
        </p:nvSpPr>
        <p:spPr>
          <a:xfrm>
            <a:off x="7140000" y="1690000"/>
            <a:ext cx="2200000" cy="820000"/>
          </a:xfrm>
          <a:prstGeom prst="rect">
            <a:avLst/>
          </a:prstGeom>
          <a:solidFill>
            <a:srgbClr val="1565C0"/>
          </a:solidFill>
          <a:ln w="12700">
            <a:solidFill>
              <a:srgbClr val="0D47A1"/>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Health Cond.</a:t>
            </a:r>
          </a:p>
          <a:p>
            <a:pPr algn="ctr">
              <a:lnSpc>
                <a:spcPct val="110000"/>
              </a:lnSpc>
              <a:spcAft>
                <a:spcPts val="0"/>
              </a:spcAft>
            </a:pPr>
            <a:r>
              <a:rPr lang="en-US" sz="1300" b="0" dirty="0">
                <a:solidFill>
                  <a:srgbClr val="BBDEFB"/>
                </a:solidFill>
                <a:latin typeface="Calibri" pitchFamily="34" charset="0"/>
              </a:rPr>
              <a:t>Diabetes · BP</a:t>
            </a:r>
          </a:p>
          <a:p>
            <a:pPr algn="ctr">
              <a:lnSpc>
                <a:spcPct val="110000"/>
              </a:lnSpc>
              <a:spcAft>
                <a:spcPts val="0"/>
              </a:spcAft>
            </a:pPr>
            <a:r>
              <a:rPr lang="en-US" sz="1300" b="0" dirty="0">
                <a:solidFill>
                  <a:srgbClr val="BBDEFB"/>
                </a:solidFill>
                <a:latin typeface="Calibri" pitchFamily="34" charset="0"/>
              </a:rPr>
              <a:t>Anaemia · Thyroid</a:t>
            </a:r>
          </a:p>
          <a:p>
            <a:pPr algn="ctr">
              <a:lnSpc>
                <a:spcPct val="110000"/>
              </a:lnSpc>
              <a:spcAft>
                <a:spcPts val="0"/>
              </a:spcAft>
            </a:pPr>
            <a:r>
              <a:rPr lang="en-US" sz="1300" b="0" dirty="0">
                <a:solidFill>
                  <a:srgbClr val="BBDEFB"/>
                </a:solidFill>
                <a:latin typeface="Calibri" pitchFamily="34" charset="0"/>
              </a:rPr>
              <a:t>PCOS · Pregnancy</a:t>
            </a:r>
          </a:p>
          <a:p>
            <a:pPr algn="ctr">
              <a:lnSpc>
                <a:spcPct val="110000"/>
              </a:lnSpc>
              <a:spcAft>
                <a:spcPts val="0"/>
              </a:spcAft>
            </a:pPr>
            <a:r>
              <a:rPr lang="en-US" sz="1300" b="0" dirty="0">
                <a:solidFill>
                  <a:srgbClr val="BBDEFB"/>
                </a:solidFill>
                <a:latin typeface="Calibri" pitchFamily="34" charset="0"/>
              </a:rPr>
              <a:t>+ 6 more</a:t>
            </a:r>
          </a:p>
        </p:txBody>
      </p:sp>
      <p:sp>
        <p:nvSpPr>
          <p:cNvPr id="23" name="arr3"/>
          <p:cNvSpPr>
            <a:spLocks noChangeArrowheads="1"/>
          </p:cNvSpPr>
          <p:nvPr/>
        </p:nvSpPr>
        <p:spPr>
          <a:xfrm>
            <a:off x="9340000" y="2050000"/>
            <a:ext cx="80000" cy="110000"/>
          </a:xfrm>
          <a:prstGeom prst="rightArrow">
            <a:avLst>
              <a:gd name="adj1" fmla="val 50000"/>
              <a:gd name="adj2" fmla="val 50000"/>
            </a:avLst>
          </a:prstGeom>
          <a:solidFill>
            <a:srgbClr val="1A237E"/>
          </a:solidFill>
        </p:spPr>
        <p:txBody>
          <a:bodyPr/>
          <a:lstStyle/>
          <a:p/>
        </p:txBody>
      </p:sp>
      <p:sp>
        <p:nvSpPr>
          <p:cNvPr id="14" name="dim4"/>
          <p:cNvSpPr/>
          <p:nvPr/>
        </p:nvSpPr>
        <p:spPr>
          <a:xfrm>
            <a:off x="9420000" y="1690000"/>
            <a:ext cx="2200000" cy="820000"/>
          </a:xfrm>
          <a:prstGeom prst="rect">
            <a:avLst/>
          </a:prstGeom>
          <a:solidFill>
            <a:srgbClr val="1565C0"/>
          </a:solidFill>
          <a:ln w="12700">
            <a:solidFill>
              <a:srgbClr val="0D47A1"/>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Medication</a:t>
            </a:r>
          </a:p>
          <a:p>
            <a:pPr algn="ctr">
              <a:lnSpc>
                <a:spcPct val="110000"/>
              </a:lnSpc>
              <a:spcAft>
                <a:spcPts val="0"/>
              </a:spcAft>
            </a:pPr>
            <a:r>
              <a:rPr lang="en-US" sz="1300" b="0" dirty="0">
                <a:solidFill>
                  <a:srgbClr val="BBDEFB"/>
                </a:solidFill>
                <a:latin typeface="Calibri" pitchFamily="34" charset="0"/>
              </a:rPr>
              <a:t>Active medicines</a:t>
            </a:r>
          </a:p>
          <a:p>
            <a:pPr algn="ctr">
              <a:lnSpc>
                <a:spcPct val="110000"/>
              </a:lnSpc>
              <a:spcAft>
                <a:spcPts val="0"/>
              </a:spcAft>
            </a:pPr>
            <a:r>
              <a:rPr lang="en-US" sz="1300" b="0" dirty="0">
                <a:solidFill>
                  <a:srgbClr val="BBDEFB"/>
                </a:solidFill>
                <a:latin typeface="Calibri" pitchFamily="34" charset="0"/>
              </a:rPr>
              <a:t>Drug name + dose</a:t>
            </a:r>
          </a:p>
          <a:p>
            <a:pPr algn="ctr">
              <a:lnSpc>
                <a:spcPct val="110000"/>
              </a:lnSpc>
              <a:spcAft>
                <a:spcPts val="0"/>
              </a:spcAft>
            </a:pPr>
            <a:r>
              <a:rPr lang="en-US" sz="1300" b="0" dirty="0">
                <a:solidFill>
                  <a:srgbClr val="BBDEFB"/>
                </a:solidFill>
                <a:latin typeface="Calibri" pitchFamily="34" charset="0"/>
              </a:rPr>
              <a:t>Timing + phase</a:t>
            </a:r>
          </a:p>
        </p:txBody>
      </p:sp>
      <p:sp>
        <p:nvSpPr>
          <p:cNvPr id="30" name="sec_30"/>
          <p:cNvSpPr/>
          <p:nvPr/>
        </p:nvSpPr>
        <p:spPr>
          <a:xfrm>
            <a:off x="300000" y="2590000"/>
            <a:ext cx="11600000" cy="380000"/>
          </a:xfrm>
          <a:prstGeom prst="rect">
            <a:avLst/>
          </a:prstGeom>
          <a:solidFill>
            <a:srgbClr val="4527A0"/>
          </a:solidFill>
          <a:ln w="12700">
            <a:solidFill>
              <a:srgbClr val="4527A0"/>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Stage 2 — Nutrition Inference Engine</a:t>
            </a:r>
          </a:p>
        </p:txBody>
      </p:sp>
      <p:sp>
        <p:nvSpPr>
          <p:cNvPr id="40" name="inf0"/>
          <p:cNvSpPr/>
          <p:nvPr/>
        </p:nvSpPr>
        <p:spPr>
          <a:xfrm>
            <a:off x="300000" y="3050000"/>
            <a:ext cx="2700000" cy="1080000"/>
          </a:xfrm>
          <a:prstGeom prst="rect">
            <a:avLst/>
          </a:prstGeom>
          <a:solidFill>
            <a:srgbClr val="4527A0"/>
          </a:solidFill>
          <a:ln w="12700">
            <a:solidFill>
              <a:srgbClr val="311B92"/>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ICMR-NIN
RDA Calculator</a:t>
            </a:r>
          </a:p>
          <a:p>
            <a:pPr algn="ctr">
              <a:lnSpc>
                <a:spcPct val="110000"/>
              </a:lnSpc>
              <a:spcAft>
                <a:spcPts val="0"/>
              </a:spcAft>
            </a:pPr>
            <a:r>
              <a:rPr lang="en-US" sz="1200" b="0" dirty="0">
                <a:solidFill>
                  <a:srgbClr val="D1C4E9"/>
                </a:solidFill>
                <a:latin typeface="Calibri" pitchFamily="34" charset="0"/>
              </a:rPr>
              <a:t>Looks up life-stage</a:t>
            </a:r>
          </a:p>
          <a:p>
            <a:pPr algn="ctr">
              <a:lnSpc>
                <a:spcPct val="110000"/>
              </a:lnSpc>
              <a:spcAft>
                <a:spcPts val="0"/>
              </a:spcAft>
            </a:pPr>
            <a:r>
              <a:rPr lang="en-US" sz="1200" b="0" dirty="0">
                <a:solidFill>
                  <a:srgbClr val="D1C4E9"/>
                </a:solidFill>
                <a:latin typeface="Calibri" pitchFamily="34" charset="0"/>
              </a:rPr>
              <a:t>DRI targets from</a:t>
            </a:r>
          </a:p>
          <a:p>
            <a:pPr algn="ctr">
              <a:lnSpc>
                <a:spcPct val="110000"/>
              </a:lnSpc>
              <a:spcAft>
                <a:spcPts val="0"/>
              </a:spcAft>
            </a:pPr>
            <a:r>
              <a:rPr lang="en-US" sz="1200" b="0" dirty="0">
                <a:solidFill>
                  <a:srgbClr val="D1C4E9"/>
                </a:solidFill>
                <a:latin typeface="Calibri" pitchFamily="34" charset="0"/>
              </a:rPr>
              <a:t>ICMR-NIN 2024 table</a:t>
            </a:r>
          </a:p>
          <a:p>
            <a:pPr algn="ctr">
              <a:lnSpc>
                <a:spcPct val="110000"/>
              </a:lnSpc>
              <a:spcAft>
                <a:spcPts val="0"/>
              </a:spcAft>
            </a:pPr>
            <a:r>
              <a:rPr lang="en-US" sz="1200" b="0" dirty="0">
                <a:solidFill>
                  <a:srgbClr val="D1C4E9"/>
                </a:solidFill>
                <a:latin typeface="Calibri" pitchFamily="34" charset="0"/>
              </a:rPr>
              <a:t>(14 nutrients per</a:t>
            </a:r>
          </a:p>
          <a:p>
            <a:pPr algn="ctr">
              <a:lnSpc>
                <a:spcPct val="110000"/>
              </a:lnSpc>
              <a:spcAft>
                <a:spcPts val="0"/>
              </a:spcAft>
            </a:pPr>
            <a:r>
              <a:rPr lang="en-US" sz="1200" b="0" dirty="0">
                <a:solidFill>
                  <a:srgbClr val="D1C4E9"/>
                </a:solidFill>
                <a:latin typeface="Calibri" pitchFamily="34" charset="0"/>
              </a:rPr>
              <a:t>life stage + sex)</a:t>
            </a:r>
          </a:p>
        </p:txBody>
      </p:sp>
      <p:sp>
        <p:nvSpPr>
          <p:cNvPr id="50" name="iarr0"/>
          <p:cNvSpPr>
            <a:spLocks noChangeArrowheads="1"/>
          </p:cNvSpPr>
          <p:nvPr/>
        </p:nvSpPr>
        <p:spPr>
          <a:xfrm>
            <a:off x="3000000" y="3540000"/>
            <a:ext cx="90000" cy="110000"/>
          </a:xfrm>
          <a:prstGeom prst="rightArrow">
            <a:avLst>
              <a:gd name="adj1" fmla="val 50000"/>
              <a:gd name="adj2" fmla="val 50000"/>
            </a:avLst>
          </a:prstGeom>
          <a:solidFill>
            <a:srgbClr val="1A237E"/>
          </a:solidFill>
        </p:spPr>
        <p:txBody>
          <a:bodyPr/>
          <a:lstStyle/>
          <a:p/>
        </p:txBody>
      </p:sp>
      <p:sp>
        <p:nvSpPr>
          <p:cNvPr id="41" name="inf1"/>
          <p:cNvSpPr/>
          <p:nvPr/>
        </p:nvSpPr>
        <p:spPr>
          <a:xfrm>
            <a:off x="3090000" y="3050000"/>
            <a:ext cx="2700000" cy="1080000"/>
          </a:xfrm>
          <a:prstGeom prst="rect">
            <a:avLst/>
          </a:prstGeom>
          <a:solidFill>
            <a:srgbClr val="512DA8"/>
          </a:solidFill>
          <a:ln w="12700">
            <a:solidFill>
              <a:srgbClr val="311B92"/>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Condition
Rule Engine</a:t>
            </a:r>
          </a:p>
          <a:p>
            <a:pPr algn="ctr">
              <a:lnSpc>
                <a:spcPct val="110000"/>
              </a:lnSpc>
              <a:spcAft>
                <a:spcPts val="0"/>
              </a:spcAft>
            </a:pPr>
            <a:r>
              <a:rPr lang="en-US" sz="1200" b="0" dirty="0">
                <a:solidFill>
                  <a:srgbClr val="D1C4E9"/>
                </a:solidFill>
                <a:latin typeface="Calibri" pitchFamily="34" charset="0"/>
              </a:rPr>
              <a:t>Adjusts targets for</a:t>
            </a:r>
          </a:p>
          <a:p>
            <a:pPr algn="ctr">
              <a:lnSpc>
                <a:spcPct val="110000"/>
              </a:lnSpc>
              <a:spcAft>
                <a:spcPts val="0"/>
              </a:spcAft>
            </a:pPr>
            <a:r>
              <a:rPr lang="en-US" sz="1200" b="0" dirty="0">
                <a:solidFill>
                  <a:srgbClr val="D1C4E9"/>
                </a:solidFill>
                <a:latin typeface="Calibri" pitchFamily="34" charset="0"/>
              </a:rPr>
              <a:t>active health condition</a:t>
            </a:r>
          </a:p>
          <a:p>
            <a:pPr algn="ctr">
              <a:lnSpc>
                <a:spcPct val="110000"/>
              </a:lnSpc>
              <a:spcAft>
                <a:spcPts val="0"/>
              </a:spcAft>
            </a:pPr>
            <a:r>
              <a:rPr lang="en-US" sz="1200" b="0" dirty="0">
                <a:solidFill>
                  <a:srgbClr val="D1C4E9"/>
                </a:solidFill>
                <a:latin typeface="Calibri" pitchFamily="34" charset="0"/>
              </a:rPr>
              <a:t>Diabetes: carbs 45%</a:t>
            </a:r>
          </a:p>
          <a:p>
            <a:pPr algn="ctr">
              <a:lnSpc>
                <a:spcPct val="110000"/>
              </a:lnSpc>
              <a:spcAft>
                <a:spcPts val="0"/>
              </a:spcAft>
            </a:pPr>
            <a:r>
              <a:rPr lang="en-US" sz="1200" b="0" dirty="0">
                <a:solidFill>
                  <a:srgbClr val="D1C4E9"/>
                </a:solidFill>
                <a:latin typeface="Calibri" pitchFamily="34" charset="0"/>
              </a:rPr>
              <a:t>Anaemia: iron x1.5</a:t>
            </a:r>
          </a:p>
          <a:p>
            <a:pPr algn="ctr">
              <a:lnSpc>
                <a:spcPct val="110000"/>
              </a:lnSpc>
              <a:spcAft>
                <a:spcPts val="0"/>
              </a:spcAft>
            </a:pPr>
            <a:r>
              <a:rPr lang="en-US" sz="1200" b="0" dirty="0">
                <a:solidFill>
                  <a:srgbClr val="D1C4E9"/>
                </a:solidFill>
                <a:latin typeface="Calibri" pitchFamily="34" charset="0"/>
              </a:rPr>
              <a:t>Pregnancy: folate 600mcg</a:t>
            </a:r>
          </a:p>
        </p:txBody>
      </p:sp>
      <p:sp>
        <p:nvSpPr>
          <p:cNvPr id="51" name="iarr1"/>
          <p:cNvSpPr>
            <a:spLocks noChangeArrowheads="1"/>
          </p:cNvSpPr>
          <p:nvPr/>
        </p:nvSpPr>
        <p:spPr>
          <a:xfrm>
            <a:off x="5790000" y="3540000"/>
            <a:ext cx="90000" cy="110000"/>
          </a:xfrm>
          <a:prstGeom prst="rightArrow">
            <a:avLst>
              <a:gd name="adj1" fmla="val 50000"/>
              <a:gd name="adj2" fmla="val 50000"/>
            </a:avLst>
          </a:prstGeom>
          <a:solidFill>
            <a:srgbClr val="1A237E"/>
          </a:solidFill>
        </p:spPr>
        <p:txBody>
          <a:bodyPr/>
          <a:lstStyle/>
          <a:p/>
        </p:txBody>
      </p:sp>
      <p:sp>
        <p:nvSpPr>
          <p:cNvPr id="42" name="inf2"/>
          <p:cNvSpPr/>
          <p:nvPr/>
        </p:nvSpPr>
        <p:spPr>
          <a:xfrm>
            <a:off x="5880000" y="3050000"/>
            <a:ext cx="2700000" cy="1080000"/>
          </a:xfrm>
          <a:prstGeom prst="rect">
            <a:avLst/>
          </a:prstGeom>
          <a:solidFill>
            <a:srgbClr val="6A1B9A"/>
          </a:solidFill>
          <a:ln w="12700">
            <a:solidFill>
              <a:srgbClr val="311B92"/>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Medicine
Impact Modifier</a:t>
            </a:r>
          </a:p>
          <a:p>
            <a:pPr algn="ctr">
              <a:lnSpc>
                <a:spcPct val="110000"/>
              </a:lnSpc>
              <a:spcAft>
                <a:spcPts val="0"/>
              </a:spcAft>
            </a:pPr>
            <a:r>
              <a:rPr lang="en-US" sz="1200" b="0" dirty="0">
                <a:solidFill>
                  <a:srgbClr val="D1C4E9"/>
                </a:solidFill>
                <a:latin typeface="Calibri" pitchFamily="34" charset="0"/>
              </a:rPr>
              <a:t>Maps each medicine</a:t>
            </a:r>
          </a:p>
          <a:p>
            <a:pPr algn="ctr">
              <a:lnSpc>
                <a:spcPct val="110000"/>
              </a:lnSpc>
              <a:spcAft>
                <a:spcPts val="0"/>
              </a:spcAft>
            </a:pPr>
            <a:r>
              <a:rPr lang="en-US" sz="1200" b="0" dirty="0">
                <a:solidFill>
                  <a:srgbClr val="D1C4E9"/>
                </a:solidFill>
                <a:latin typeface="Calibri" pitchFamily="34" charset="0"/>
              </a:rPr>
              <a:t>to nutritional impact</a:t>
            </a:r>
          </a:p>
          <a:p>
            <a:pPr algn="ctr">
              <a:lnSpc>
                <a:spcPct val="110000"/>
              </a:lnSpc>
              <a:spcAft>
                <a:spcPts val="0"/>
              </a:spcAft>
            </a:pPr>
            <a:r>
              <a:rPr lang="en-US" sz="1200" b="0" dirty="0">
                <a:solidFill>
                  <a:srgbClr val="D1C4E9"/>
                </a:solidFill>
                <a:latin typeface="Calibri" pitchFamily="34" charset="0"/>
              </a:rPr>
              <a:t>Metformin -&gt; B12+30%</a:t>
            </a:r>
          </a:p>
          <a:p>
            <a:pPr algn="ctr">
              <a:lnSpc>
                <a:spcPct val="110000"/>
              </a:lnSpc>
              <a:spcAft>
                <a:spcPts val="0"/>
              </a:spcAft>
            </a:pPr>
            <a:r>
              <a:rPr lang="en-US" sz="1200" b="0" dirty="0">
                <a:solidFill>
                  <a:srgbClr val="D1C4E9"/>
                </a:solidFill>
                <a:latin typeface="Calibri" pitchFamily="34" charset="0"/>
              </a:rPr>
              <a:t>Thyronorm -&gt; Ca flag</a:t>
            </a:r>
          </a:p>
          <a:p>
            <a:pPr algn="ctr">
              <a:lnSpc>
                <a:spcPct val="110000"/>
              </a:lnSpc>
              <a:spcAft>
                <a:spcPts val="0"/>
              </a:spcAft>
            </a:pPr>
            <a:r>
              <a:rPr lang="en-US" sz="1200" b="0" dirty="0">
                <a:solidFill>
                  <a:srgbClr val="D1C4E9"/>
                </a:solidFill>
                <a:latin typeface="Calibri" pitchFamily="34" charset="0"/>
              </a:rPr>
              <a:t>INH -&gt; B6+30%</a:t>
            </a:r>
          </a:p>
        </p:txBody>
      </p:sp>
      <p:sp>
        <p:nvSpPr>
          <p:cNvPr id="52" name="iarr2"/>
          <p:cNvSpPr>
            <a:spLocks noChangeArrowheads="1"/>
          </p:cNvSpPr>
          <p:nvPr/>
        </p:nvSpPr>
        <p:spPr>
          <a:xfrm>
            <a:off x="8580000" y="3540000"/>
            <a:ext cx="90000" cy="110000"/>
          </a:xfrm>
          <a:prstGeom prst="rightArrow">
            <a:avLst>
              <a:gd name="adj1" fmla="val 50000"/>
              <a:gd name="adj2" fmla="val 50000"/>
            </a:avLst>
          </a:prstGeom>
          <a:solidFill>
            <a:srgbClr val="1A237E"/>
          </a:solidFill>
        </p:spPr>
        <p:txBody>
          <a:bodyPr/>
          <a:lstStyle/>
          <a:p/>
        </p:txBody>
      </p:sp>
      <p:sp>
        <p:nvSpPr>
          <p:cNvPr id="43" name="inf3"/>
          <p:cNvSpPr/>
          <p:nvPr/>
        </p:nvSpPr>
        <p:spPr>
          <a:xfrm>
            <a:off x="8670000" y="3050000"/>
            <a:ext cx="2700000" cy="1080000"/>
          </a:xfrm>
          <a:prstGeom prst="rect">
            <a:avLst/>
          </a:prstGeom>
          <a:solidFill>
            <a:srgbClr val="7B1FA2"/>
          </a:solidFill>
          <a:ln w="12700">
            <a:solidFill>
              <a:srgbClr val="311B92"/>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Physio-State
Boost Layer</a:t>
            </a:r>
          </a:p>
          <a:p>
            <a:pPr algn="ctr">
              <a:lnSpc>
                <a:spcPct val="110000"/>
              </a:lnSpc>
              <a:spcAft>
                <a:spcPts val="0"/>
              </a:spcAft>
            </a:pPr>
            <a:r>
              <a:rPr lang="en-US" sz="1200" b="0" dirty="0">
                <a:solidFill>
                  <a:srgbClr val="D1C4E9"/>
                </a:solidFill>
                <a:latin typeface="Calibri" pitchFamily="34" charset="0"/>
              </a:rPr>
              <a:t>Daily check-in scores</a:t>
            </a:r>
          </a:p>
          <a:p>
            <a:pPr algn="ctr">
              <a:lnSpc>
                <a:spcPct val="110000"/>
              </a:lnSpc>
              <a:spcAft>
                <a:spcPts val="0"/>
              </a:spcAft>
            </a:pPr>
            <a:r>
              <a:rPr lang="en-US" sz="1200" b="0" dirty="0">
                <a:solidFill>
                  <a:srgbClr val="D1C4E9"/>
                </a:solidFill>
                <a:latin typeface="Calibri" pitchFamily="34" charset="0"/>
              </a:rPr>
              <a:t>apply nutrient boosts</a:t>
            </a:r>
          </a:p>
          <a:p>
            <a:pPr algn="ctr">
              <a:lnSpc>
                <a:spcPct val="110000"/>
              </a:lnSpc>
              <a:spcAft>
                <a:spcPts val="0"/>
              </a:spcAft>
            </a:pPr>
            <a:r>
              <a:rPr lang="en-US" sz="1200" b="0" dirty="0">
                <a:solidFill>
                  <a:srgbClr val="D1C4E9"/>
                </a:solidFill>
                <a:latin typeface="Calibri" pitchFamily="34" charset="0"/>
              </a:rPr>
              <a:t>Low energy -&gt; B12+iron</a:t>
            </a:r>
          </a:p>
          <a:p>
            <a:pPr algn="ctr">
              <a:lnSpc>
                <a:spcPct val="110000"/>
              </a:lnSpc>
              <a:spcAft>
                <a:spcPts val="0"/>
              </a:spcAft>
            </a:pPr>
            <a:r>
              <a:rPr lang="en-US" sz="1200" b="0" dirty="0">
                <a:solidFill>
                  <a:srgbClr val="D1C4E9"/>
                </a:solidFill>
                <a:latin typeface="Calibri" pitchFamily="34" charset="0"/>
              </a:rPr>
              <a:t>Poor sleep -&gt; Mg+Zn</a:t>
            </a:r>
          </a:p>
          <a:p>
            <a:pPr algn="ctr">
              <a:lnSpc>
                <a:spcPct val="110000"/>
              </a:lnSpc>
              <a:spcAft>
                <a:spcPts val="0"/>
              </a:spcAft>
            </a:pPr>
            <a:r>
              <a:rPr lang="en-US" sz="1200" b="0" dirty="0">
                <a:solidFill>
                  <a:srgbClr val="D1C4E9"/>
                </a:solidFill>
                <a:latin typeface="Calibri" pitchFamily="34" charset="0"/>
              </a:rPr>
              <a:t>Low focus -&gt; Omega-3</a:t>
            </a:r>
          </a:p>
        </p:txBody>
      </p:sp>
      <p:sp>
        <p:nvSpPr>
          <p:cNvPr id="60" name="outarr"/>
          <p:cNvSpPr>
            <a:spLocks noChangeArrowheads="1"/>
          </p:cNvSpPr>
          <p:nvPr/>
        </p:nvSpPr>
        <p:spPr>
          <a:xfrm>
            <a:off x="5960000" y="4130000"/>
            <a:ext cx="180000" cy="250000"/>
          </a:xfrm>
          <a:prstGeom prst="downArrow">
            <a:avLst>
              <a:gd name="adj1" fmla="val 50000"/>
              <a:gd name="adj2" fmla="val 50000"/>
            </a:avLst>
          </a:prstGeom>
          <a:solidFill>
            <a:srgbClr val="1A237E"/>
          </a:solidFill>
        </p:spPr>
        <p:txBody>
          <a:bodyPr/>
          <a:lstStyle/>
          <a:p/>
        </p:txBody>
      </p:sp>
      <p:sp>
        <p:nvSpPr>
          <p:cNvPr id="61" name="output"/>
          <p:cNvSpPr/>
          <p:nvPr/>
        </p:nvSpPr>
        <p:spPr>
          <a:xfrm>
            <a:off x="3500000" y="4460000"/>
            <a:ext cx="5100000" cy="520000"/>
          </a:xfrm>
          <a:prstGeom prst="rect">
            <a:avLst/>
          </a:prstGeom>
          <a:solidFill>
            <a:srgbClr val="2E7D32"/>
          </a:solidFill>
          <a:ln w="12700">
            <a:solidFill>
              <a:srgbClr val="1B5E20"/>
            </a:solidFill>
          </a:ln>
        </p:spPr>
        <p:txBody>
          <a:bodyPr wrap="square" anchor="ctr" lIns="80000" rIns="80000" tIns="60000">
            <a:normAutofit/>
          </a:bodyPr>
          <a:lstStyle/>
          <a:p>
            <a:pPr algn="ctr">
              <a:lnSpc>
                <a:spcPct val="110000"/>
              </a:lnSpc>
              <a:spcAft>
                <a:spcPts val="0"/>
              </a:spcAft>
            </a:pPr>
            <a:r>
              <a:rPr lang="en-US" sz="1600" b="1" dirty="0">
                <a:solidFill>
                  <a:srgbClr val="FFFFFF"/>
                </a:solidFill>
                <a:latin typeface="Calibri" pitchFamily="34" charset="0"/>
              </a:rPr>
              <a:t>NutritionContext Object</a:t>
            </a:r>
          </a:p>
          <a:p>
            <a:pPr algn="ctr">
              <a:lnSpc>
                <a:spcPct val="110000"/>
              </a:lnSpc>
              <a:spcAft>
                <a:spcPts val="0"/>
              </a:spcAft>
            </a:pPr>
            <a:r>
              <a:rPr lang="en-US" sz="1200" b="0" dirty="0">
                <a:solidFill>
                  <a:srgbClr val="C8E6C9"/>
                </a:solidFill>
                <a:latin typeface="Calibri" pitchFamily="34" charset="0"/>
              </a:rPr>
              <a:t>nutrient_targets  |  condition_flags  |  medicine_flags  |  physio_boosts  |  priority_nutrients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909" y="1153653"/>
            <a:ext cx="10862072" cy="5309419"/>
          </a:xfrm>
          <a:prstGeom prst="rect">
            <a:avLst/>
          </a:prstGeom>
        </p:spPr>
      </p:pic>
    </p:spTree>
    <p:extLst>
      <p:ext uri="{BB962C8B-B14F-4D97-AF65-F5344CB8AC3E}">
        <p14:creationId xmlns:p14="http://schemas.microsoft.com/office/powerpoint/2010/main" val="7930780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2582109" y="131214"/>
            <a:ext cx="6837661" cy="500000"/>
          </a:xfrm>
          <a:prstGeom prst="rect">
            <a:avLst/>
          </a:prstGeom>
        </p:spPr>
        <p:txBody>
          <a:bodyPr wrap="square">
            <a:spAutoFit/>
          </a:bodyPr>
          <a:lstStyle/>
          <a:p>
            <a:pPr algn="ctr"/>
            <a:r>
              <a:rPr lang="en-US" sz="2800" b="1" dirty="0">
                <a:solidFill>
                  <a:srgbClr val="0000FF"/>
                </a:solidFill>
                <a:latin typeface="Times New Roman" pitchFamily="18" charset="0"/>
              </a:rPr>
              <a:t>LITERATURE SURVEY — Research Gap</a:t>
            </a:r>
          </a:p>
        </p:txBody>
      </p:sp>
      <p:sp>
        <p:nvSpPr>
          <p:cNvPr id="3" name="Content"/>
          <p:cNvSpPr/>
          <p:nvPr/>
        </p:nvSpPr>
        <p:spPr>
          <a:xfrm>
            <a:off x="300000" y="750000"/>
            <a:ext cx="11500000" cy="5800000"/>
          </a:xfrm>
          <a:prstGeom prst="rect">
            <a:avLst/>
          </a:prstGeom>
        </p:spPr>
        <p:txBody>
          <a:bodyPr wrap="square">
            <a:normAutofit/>
          </a:bodyPr>
          <a:lstStyle/>
          <a:p>
            <a:pPr algn="just">
              <a:lnSpc>
                <a:spcPct val="110000"/>
              </a:lnSpc>
              <a:spcAft>
                <a:spcPts val="200"/>
              </a:spcAft>
              <a:buNone/>
            </a:pPr>
            <a:r>
              <a:rPr lang="en-US" sz="1800" b="1" dirty="0">
                <a:solidFill>
                  <a:srgbClr val="1A237E"/>
                </a:solidFill>
                <a:latin typeface="Calibri" pitchFamily="34" charset="0"/>
              </a:rPr>
              <a:t>Identified Research Gaps from Literature Review</a:t>
            </a:r>
          </a:p>
          <a:p>
            <a:pPr marL="457200" indent="-457200" algn="just">
              <a:lnSpc>
                <a:spcPct val="115000"/>
              </a:lnSpc>
              <a:spcAft>
                <a:spcPts val="400"/>
              </a:spcAft>
              <a:buFont typeface="Wingdings" charset="2"/>
              <a:buChar char="Ø"/>
            </a:pPr>
            <a:r>
              <a:rPr lang="en-US" sz="1800" b="1" dirty="0">
                <a:solidFill>
                  <a:srgbClr val="BF360C"/>
                </a:solidFill>
                <a:latin typeface="Calibri" pitchFamily="34" charset="0"/>
              </a:rPr>
              <a:t>Gap 1: Absence of Indian Regional Food Databases</a:t>
            </a:r>
          </a:p>
          <a:p>
            <a:pPr marL="800000" algn="just">
              <a:lnSpc>
                <a:spcPct val="110000"/>
              </a:lnSpc>
              <a:spcAft>
                <a:spcPts val="500"/>
              </a:spcAft>
              <a:buNone/>
            </a:pPr>
            <a:r>
              <a:rPr lang="en-US" sz="1700" dirty="0">
                <a:solidFill>
                  <a:srgbClr val="212121"/>
                </a:solidFill>
                <a:latin typeface="Calibri" pitchFamily="34" charset="0"/>
              </a:rPr>
              <a:t>Reviewed studies (Verma et al., 2021; Deshpande &amp; Kulkarni, 2021) operate at state level at best. No existing system maps food culture at the district level (700+ districts) with verified IFCT 2017 nutrient profiles, leaving the majority of Indian food diversity unrepresented in AI-driven nutrition tools.</a:t>
            </a:r>
          </a:p>
          <a:p>
            <a:pPr marL="457200" indent="-457200" algn="just">
              <a:lnSpc>
                <a:spcPct val="115000"/>
              </a:lnSpc>
              <a:spcAft>
                <a:spcPts val="400"/>
              </a:spcAft>
              <a:buFont typeface="Wingdings" charset="2"/>
              <a:buChar char="Ø"/>
            </a:pPr>
            <a:r>
              <a:rPr lang="en-US" sz="1800" b="1" dirty="0">
                <a:solidFill>
                  <a:srgbClr val="BF360C"/>
                </a:solidFill>
                <a:latin typeface="Calibri" pitchFamily="34" charset="0"/>
              </a:rPr>
              <a:t>Gap 2: No Integration of Drug-Nutrient Interactions in Nutrition Software</a:t>
            </a:r>
          </a:p>
          <a:p>
            <a:pPr marL="800000" algn="just">
              <a:lnSpc>
                <a:spcPct val="110000"/>
              </a:lnSpc>
              <a:spcAft>
                <a:spcPts val="500"/>
              </a:spcAft>
              <a:buNone/>
            </a:pPr>
            <a:r>
              <a:rPr lang="en-US" sz="1700" dirty="0">
                <a:solidFill>
                  <a:srgbClr val="212121"/>
                </a:solidFill>
                <a:latin typeface="Calibri" pitchFamily="34" charset="0"/>
              </a:rPr>
              <a:t>Srivastava et al. (2022) documented drug-nutrient depletion in Indian patients clinically, but no reviewed software system translates this pharmacological knowledge into real-time meal adjustments. Metformin-induced B12 depletion, Thyronorm-calcium interaction, and INH-induced B6 loss are all unaddressed by existing nutrition platforms.</a:t>
            </a:r>
          </a:p>
          <a:p>
            <a:pPr marL="457200" indent="-457200" algn="just">
              <a:lnSpc>
                <a:spcPct val="115000"/>
              </a:lnSpc>
              <a:spcAft>
                <a:spcPts val="400"/>
              </a:spcAft>
              <a:buFont typeface="Wingdings" charset="2"/>
              <a:buChar char="Ø"/>
            </a:pPr>
            <a:r>
              <a:rPr lang="en-US" sz="1800" b="1" dirty="0">
                <a:solidFill>
                  <a:srgbClr val="BF360C"/>
                </a:solidFill>
                <a:latin typeface="Calibri" pitchFamily="34" charset="0"/>
              </a:rPr>
              <a:t>Gap 3: Single-Condition Systems Cannot Handle Co-Morbidities</a:t>
            </a:r>
          </a:p>
          <a:p>
            <a:pPr marL="800000" algn="just">
              <a:lnSpc>
                <a:spcPct val="110000"/>
              </a:lnSpc>
              <a:spcAft>
                <a:spcPts val="500"/>
              </a:spcAft>
              <a:buNone/>
            </a:pPr>
            <a:r>
              <a:rPr lang="en-US" sz="1700" dirty="0">
                <a:solidFill>
                  <a:srgbClr val="212121"/>
                </a:solidFill>
                <a:latin typeface="Calibri" pitchFamily="34" charset="0"/>
              </a:rPr>
              <a:t>Kumar &amp; Prasad (2022) and Pillai et al. (2023) address single conditions (anaemia, pregnancy) in isolation. India’s patient population frequently presents with overlapping conditions (e.g., diabetes + hypertension + anaemia). No reviewed system resolves multi-condition nutritional requirements into a single coherent meal plan.</a:t>
            </a:r>
          </a:p>
          <a:p>
            <a:pPr marL="457200" indent="-457200" algn="just">
              <a:lnSpc>
                <a:spcPct val="115000"/>
              </a:lnSpc>
              <a:spcAft>
                <a:spcPts val="400"/>
              </a:spcAft>
              <a:buFont typeface="Wingdings" charset="2"/>
              <a:buChar char="Ø"/>
            </a:pPr>
            <a:r>
              <a:rPr lang="en-US" sz="1800" b="1" dirty="0">
                <a:solidFill>
                  <a:srgbClr val="BF360C"/>
                </a:solidFill>
                <a:latin typeface="Calibri" pitchFamily="34" charset="0"/>
              </a:rPr>
              <a:t>Gap 4: LLM-Based Systems Use Western Data and Lack Statefulness</a:t>
            </a:r>
          </a:p>
          <a:p>
            <a:pPr marL="800000" algn="just">
              <a:lnSpc>
                <a:spcPct val="110000"/>
              </a:lnSpc>
              <a:spcAft>
                <a:spcPts val="200"/>
              </a:spcAft>
              <a:buNone/>
            </a:pPr>
            <a:r>
              <a:rPr lang="en-US" sz="1700" dirty="0">
                <a:solidFill>
                  <a:srgbClr val="212121"/>
                </a:solidFill>
                <a:latin typeface="Calibri" pitchFamily="34" charset="0"/>
              </a:rPr>
              <a:t>Anand et al. (2024) and Bhatt &amp; Iyer (2024) demonstrate the feasibility of LLM-driven meal generation but use USDA databases and stateless architectures. Indian foods (ragi, bajra, dosa, poha, khichdi) are absent; no system maintains user health context across sessions. AaharAI addresses all four gaps simultaneously.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2582109" y="131214"/>
            <a:ext cx="6837661" cy="584775"/>
          </a:xfrm>
          <a:prstGeom prst="rect">
            <a:avLst/>
          </a:prstGeom>
        </p:spPr>
        <p:txBody>
          <a:bodyPr wrap="square">
            <a:spAutoFit/>
          </a:bodyPr>
          <a:lstStyle/>
          <a:p>
            <a:pPr algn="ctr"/>
            <a:r>
              <a:rPr lang="en-US" sz="2200" b="1" dirty="0">
                <a:solidFill>
                  <a:srgbClr val="0000FF"/>
                </a:solidFill>
                <a:latin typeface="Times New Roman" pitchFamily="18" charset="0"/>
              </a:rPr>
              <a:t>METHODOLOGY (2/4) — Data Architecture and Knowledge Bases</a:t>
            </a:r>
          </a:p>
        </p:txBody>
      </p:sp>
      <p:sp>
        <p:nvSpPr>
          <p:cNvPr id="3" name="Sub"/>
          <p:cNvSpPr/>
          <p:nvPr/>
        </p:nvSpPr>
        <p:spPr>
          <a:xfrm>
            <a:off x="300000" y="770000"/>
            <a:ext cx="11600000" cy="360000"/>
          </a:xfrm>
          <a:prstGeom prst="rect">
            <a:avLst/>
          </a:prstGeom>
          <a:solidFill>
            <a:srgbClr val="E8F5E9"/>
          </a:solidFill>
          <a:ln w="12700">
            <a:solidFill>
              <a:srgbClr val="A5D6A7"/>
            </a:solidFill>
          </a:ln>
        </p:spPr>
        <p:txBody>
          <a:bodyPr wrap="square" anchor="ctr" lIns="80000" rIns="80000" tIns="60000">
            <a:normAutofit/>
          </a:bodyPr>
          <a:lstStyle/>
          <a:p>
            <a:pPr algn="ctr">
              <a:lnSpc>
                <a:spcPct val="110000"/>
              </a:lnSpc>
              <a:spcAft>
                <a:spcPts val="0"/>
              </a:spcAft>
            </a:pPr>
            <a:r>
              <a:rPr lang="en-US" sz="1700" b="0" dirty="0">
                <a:solidFill>
                  <a:srgbClr val="2E7D32"/>
                </a:solidFill>
                <a:latin typeface="Calibri" pitchFamily="34" charset="0"/>
              </a:rPr>
              <a:t>AaharAI is built on three custom Indian data repositories. No existing app combines all three. This slide explains how each is structured and sourced.</a:t>
            </a:r>
          </a:p>
        </p:txBody>
      </p:sp>
      <p:sp>
        <p:nvSpPr>
          <p:cNvPr id="4" name="sec_4"/>
          <p:cNvSpPr/>
          <p:nvPr/>
        </p:nvSpPr>
        <p:spPr>
          <a:xfrm>
            <a:off x="300000" y="1210000"/>
            <a:ext cx="11600000" cy="370000"/>
          </a:xfrm>
          <a:prstGeom prst="rect">
            <a:avLst/>
          </a:prstGeom>
          <a:solidFill>
            <a:srgbClr val="2E7D32"/>
          </a:solidFill>
          <a:ln w="12700">
            <a:solidFill>
              <a:srgbClr val="2E7D32"/>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Data Source 1 — IFCT 2017 Food Composition Database</a:t>
            </a:r>
          </a:p>
        </p:txBody>
      </p:sp>
      <p:sp>
        <p:nvSpPr>
          <p:cNvPr id="5" name="ifct_l"/>
          <p:cNvSpPr/>
          <p:nvPr/>
        </p:nvSpPr>
        <p:spPr>
          <a:xfrm>
            <a:off x="300000" y="1660000"/>
            <a:ext cx="3800000" cy="1800000"/>
          </a:xfrm>
          <a:prstGeom prst="rect">
            <a:avLst/>
          </a:prstGeom>
          <a:solidFill>
            <a:srgbClr val="F1F8E9"/>
          </a:solidFill>
          <a:ln w="12700">
            <a:solidFill>
              <a:srgbClr val="558B2F"/>
            </a:solidFill>
          </a:ln>
        </p:spPr>
        <p:txBody>
          <a:bodyPr wrap="square" anchor="t" lIns="100000" rIns="100000" tIns="80000">
            <a:normAutofit/>
          </a:bodyPr>
          <a:lstStyle/>
          <a:p>
            <a:pPr algn="l" marL="120000">
              <a:lnSpc>
                <a:spcPct val="115000"/>
              </a:lnSpc>
              <a:spcAft>
                <a:spcPts val="80"/>
              </a:spcAft>
            </a:pPr>
            <a:r>
              <a:rPr lang="en-US" sz="1500" b="1" dirty="0">
                <a:solidFill>
                  <a:srgbClr val="1B5E20"/>
                </a:solidFill>
                <a:latin typeface="Calibri" pitchFamily="34" charset="0"/>
              </a:rPr>
              <a:t>Source: NIN Hyderabad (IFCT 2017)</a:t>
            </a:r>
          </a:p>
          <a:p>
            <a:pPr algn="l" marL="120000">
              <a:lnSpc>
                <a:spcPct val="115000"/>
              </a:lnSpc>
              <a:spcAft>
                <a:spcPts val="80"/>
              </a:spcAft>
            </a:pPr>
            <a:r>
              <a:rPr lang="en-US" sz="1200" b="0" dirty="0">
                <a:solidFill>
                  <a:srgbClr val="1B5E20"/>
                </a:solidFill>
                <a:latin typeface="Calibri" pitchFamily="34" charset="0"/>
              </a:rPr>
              <a:t/>
            </a:r>
          </a:p>
          <a:p>
            <a:pPr algn="l" marL="120000">
              <a:lnSpc>
                <a:spcPct val="115000"/>
              </a:lnSpc>
              <a:spcAft>
                <a:spcPts val="80"/>
              </a:spcAft>
            </a:pPr>
            <a:r>
              <a:rPr lang="en-US" sz="1400" b="0" dirty="0">
                <a:solidFill>
                  <a:srgbClr val="212121"/>
                </a:solidFill>
                <a:latin typeface="Calibri" pitchFamily="34" charset="0"/>
              </a:rPr>
              <a:t>600 Indian foods at MVP launch</a:t>
            </a:r>
          </a:p>
          <a:p>
            <a:pPr algn="l" marL="120000">
              <a:lnSpc>
                <a:spcPct val="115000"/>
              </a:lnSpc>
              <a:spcAft>
                <a:spcPts val="80"/>
              </a:spcAft>
            </a:pPr>
            <a:r>
              <a:rPr lang="en-US" sz="1400" b="0" dirty="0">
                <a:solidFill>
                  <a:srgbClr val="212121"/>
                </a:solidFill>
                <a:latin typeface="Calibri" pitchFamily="34" charset="0"/>
              </a:rPr>
              <a:t>14 nutrients per food per 100g:</a:t>
            </a:r>
          </a:p>
          <a:p>
            <a:pPr algn="l" marL="120000">
              <a:lnSpc>
                <a:spcPct val="115000"/>
              </a:lnSpc>
              <a:spcAft>
                <a:spcPts val="80"/>
              </a:spcAft>
            </a:pPr>
            <a:r>
              <a:rPr lang="en-US" sz="1300" b="0" dirty="0">
                <a:solidFill>
                  <a:srgbClr val="333333"/>
                </a:solidFill>
                <a:latin typeface="Calibri" pitchFamily="34" charset="0"/>
              </a:rPr>
              <a:t>Calories, Protein, Carbs, Fat, Fibre</a:t>
            </a:r>
          </a:p>
          <a:p>
            <a:pPr algn="l" marL="120000">
              <a:lnSpc>
                <a:spcPct val="115000"/>
              </a:lnSpc>
              <a:spcAft>
                <a:spcPts val="80"/>
              </a:spcAft>
            </a:pPr>
            <a:r>
              <a:rPr lang="en-US" sz="1300" b="0" dirty="0">
                <a:solidFill>
                  <a:srgbClr val="333333"/>
                </a:solidFill>
                <a:latin typeface="Calibri" pitchFamily="34" charset="0"/>
              </a:rPr>
              <a:t>Iron, Calcium, Zinc, Folate, B12</a:t>
            </a:r>
          </a:p>
          <a:p>
            <a:pPr algn="l" marL="120000">
              <a:lnSpc>
                <a:spcPct val="115000"/>
              </a:lnSpc>
              <a:spcAft>
                <a:spcPts val="80"/>
              </a:spcAft>
            </a:pPr>
            <a:r>
              <a:rPr lang="en-US" sz="1300" b="0" dirty="0">
                <a:solidFill>
                  <a:srgbClr val="333333"/>
                </a:solidFill>
                <a:latin typeface="Calibri" pitchFamily="34" charset="0"/>
              </a:rPr>
              <a:t>Vitamin D, Magnesium, Vitamin C</a:t>
            </a:r>
          </a:p>
          <a:p>
            <a:pPr algn="l" marL="120000">
              <a:lnSpc>
                <a:spcPct val="115000"/>
              </a:lnSpc>
              <a:spcAft>
                <a:spcPts val="80"/>
              </a:spcAft>
            </a:pPr>
            <a:r>
              <a:rPr lang="en-US" sz="1300" b="0" dirty="0">
                <a:solidFill>
                  <a:srgbClr val="333333"/>
                </a:solidFill>
                <a:latin typeface="Calibri" pitchFamily="34" charset="0"/>
              </a:rPr>
              <a:t>Omega-3, Potassium</a:t>
            </a:r>
          </a:p>
          <a:p>
            <a:pPr algn="l" marL="120000">
              <a:lnSpc>
                <a:spcPct val="115000"/>
              </a:lnSpc>
              <a:spcAft>
                <a:spcPts val="80"/>
              </a:spcAft>
            </a:pPr>
            <a:r>
              <a:rPr lang="en-US" sz="1200" b="0" dirty="0">
                <a:solidFill>
                  <a:srgbClr val="1B5E20"/>
                </a:solidFill>
                <a:latin typeface="Calibri" pitchFamily="34" charset="0"/>
              </a:rPr>
              <a:t/>
            </a:r>
          </a:p>
          <a:p>
            <a:pPr algn="l" marL="120000">
              <a:lnSpc>
                <a:spcPct val="115000"/>
              </a:lnSpc>
              <a:spcAft>
                <a:spcPts val="80"/>
              </a:spcAft>
            </a:pPr>
            <a:r>
              <a:rPr lang="en-US" sz="1400" b="0" dirty="0">
                <a:solidFill>
                  <a:srgbClr val="212121"/>
                </a:solidFill>
                <a:latin typeface="Calibri" pitchFamily="34" charset="0"/>
              </a:rPr>
              <a:t>Portion-to-grams lookup table:</a:t>
            </a:r>
          </a:p>
          <a:p>
            <a:pPr algn="l" marL="120000">
              <a:lnSpc>
                <a:spcPct val="115000"/>
              </a:lnSpc>
              <a:spcAft>
                <a:spcPts val="80"/>
              </a:spcAft>
            </a:pPr>
            <a:r>
              <a:rPr lang="en-US" sz="1300" b="0" dirty="0">
                <a:solidFill>
                  <a:srgbClr val="333333"/>
                </a:solidFill>
                <a:latin typeface="Calibri" pitchFamily="34" charset="0"/>
              </a:rPr>
              <a:t>1 katori rice = 150g</a:t>
            </a:r>
          </a:p>
          <a:p>
            <a:pPr algn="l" marL="120000">
              <a:lnSpc>
                <a:spcPct val="115000"/>
              </a:lnSpc>
              <a:spcAft>
                <a:spcPts val="80"/>
              </a:spcAft>
            </a:pPr>
            <a:r>
              <a:rPr lang="en-US" sz="1300" b="0" dirty="0">
                <a:solidFill>
                  <a:srgbClr val="333333"/>
                </a:solidFill>
                <a:latin typeface="Calibri" pitchFamily="34" charset="0"/>
              </a:rPr>
              <a:t>1 medium chapati = 35g</a:t>
            </a:r>
          </a:p>
          <a:p>
            <a:pPr algn="l" marL="120000">
              <a:lnSpc>
                <a:spcPct val="115000"/>
              </a:lnSpc>
              <a:spcAft>
                <a:spcPts val="80"/>
              </a:spcAft>
            </a:pPr>
            <a:r>
              <a:rPr lang="en-US" sz="1300" b="0" dirty="0">
                <a:solidFill>
                  <a:srgbClr val="333333"/>
                </a:solidFill>
                <a:latin typeface="Calibri" pitchFamily="34" charset="0"/>
              </a:rPr>
              <a:t>1 glass milk = 240ml</a:t>
            </a:r>
          </a:p>
        </p:txBody>
      </p:sp>
      <p:sp>
        <p:nvSpPr>
          <p:cNvPr id="6" name="ifct_r"/>
          <p:cNvSpPr/>
          <p:nvPr/>
        </p:nvSpPr>
        <p:spPr>
          <a:xfrm>
            <a:off x="4280000" y="1660000"/>
            <a:ext cx="3500000" cy="1800000"/>
          </a:xfrm>
          <a:prstGeom prst="rect">
            <a:avLst/>
          </a:prstGeom>
          <a:solidFill>
            <a:srgbClr val="E8F5E9"/>
          </a:solidFill>
          <a:ln w="12700">
            <a:solidFill>
              <a:srgbClr val="43A047"/>
            </a:solidFill>
          </a:ln>
        </p:spPr>
        <p:txBody>
          <a:bodyPr wrap="square" anchor="t" lIns="100000" rIns="100000" tIns="80000">
            <a:normAutofit/>
          </a:bodyPr>
          <a:lstStyle/>
          <a:p>
            <a:pPr algn="l" marL="120000">
              <a:lnSpc>
                <a:spcPct val="115000"/>
              </a:lnSpc>
              <a:spcAft>
                <a:spcPts val="80"/>
              </a:spcAft>
            </a:pPr>
            <a:r>
              <a:rPr lang="en-US" sz="1500" b="1" dirty="0">
                <a:solidFill>
                  <a:srgbClr val="1B5E20"/>
                </a:solidFill>
                <a:latin typeface="Calibri" pitchFamily="34" charset="0"/>
              </a:rPr>
              <a:t>Why IFCT and not USDA?</a:t>
            </a:r>
          </a:p>
          <a:p>
            <a:pPr algn="l" marL="120000">
              <a:lnSpc>
                <a:spcPct val="115000"/>
              </a:lnSpc>
              <a:spcAft>
                <a:spcPts val="80"/>
              </a:spcAft>
            </a:pPr>
            <a:r>
              <a:rPr lang="en-US" sz="1200" b="0" dirty="0">
                <a:solidFill>
                  <a:srgbClr val="1B5E20"/>
                </a:solidFill>
                <a:latin typeface="Calibri" pitchFamily="34" charset="0"/>
              </a:rPr>
              <a:t/>
            </a:r>
          </a:p>
          <a:p>
            <a:pPr algn="l" marL="120000">
              <a:lnSpc>
                <a:spcPct val="115000"/>
              </a:lnSpc>
              <a:spcAft>
                <a:spcPts val="80"/>
              </a:spcAft>
            </a:pPr>
            <a:r>
              <a:rPr lang="en-US" sz="1300" b="0" dirty="0">
                <a:solidFill>
                  <a:srgbClr val="212121"/>
                </a:solidFill>
                <a:latin typeface="Calibri" pitchFamily="34" charset="0"/>
              </a:rPr>
              <a:t>USDA has no idli, dosa, ragi,</a:t>
            </a:r>
          </a:p>
          <a:p>
            <a:pPr algn="l" marL="120000">
              <a:lnSpc>
                <a:spcPct val="115000"/>
              </a:lnSpc>
              <a:spcAft>
                <a:spcPts val="80"/>
              </a:spcAft>
            </a:pPr>
            <a:r>
              <a:rPr lang="en-US" sz="1300" b="0" dirty="0">
                <a:solidFill>
                  <a:srgbClr val="212121"/>
                </a:solidFill>
                <a:latin typeface="Calibri" pitchFamily="34" charset="0"/>
              </a:rPr>
              <a:t>poha, khichdi, sambar, rasam,</a:t>
            </a:r>
          </a:p>
          <a:p>
            <a:pPr algn="l" marL="120000">
              <a:lnSpc>
                <a:spcPct val="115000"/>
              </a:lnSpc>
              <a:spcAft>
                <a:spcPts val="80"/>
              </a:spcAft>
            </a:pPr>
            <a:r>
              <a:rPr lang="en-US" sz="1300" b="0" dirty="0">
                <a:solidFill>
                  <a:srgbClr val="212121"/>
                </a:solidFill>
                <a:latin typeface="Calibri" pitchFamily="34" charset="0"/>
              </a:rPr>
              <a:t>bajra roti, or 580 other Indian</a:t>
            </a:r>
          </a:p>
          <a:p>
            <a:pPr algn="l" marL="120000">
              <a:lnSpc>
                <a:spcPct val="115000"/>
              </a:lnSpc>
              <a:spcAft>
                <a:spcPts val="80"/>
              </a:spcAft>
            </a:pPr>
            <a:r>
              <a:rPr lang="en-US" sz="1300" b="0" dirty="0">
                <a:solidFill>
                  <a:srgbClr val="212121"/>
                </a:solidFill>
                <a:latin typeface="Calibri" pitchFamily="34" charset="0"/>
              </a:rPr>
              <a:t>staple foods.</a:t>
            </a:r>
          </a:p>
          <a:p>
            <a:pPr algn="l" marL="120000">
              <a:lnSpc>
                <a:spcPct val="115000"/>
              </a:lnSpc>
              <a:spcAft>
                <a:spcPts val="80"/>
              </a:spcAft>
            </a:pPr>
            <a:r>
              <a:rPr lang="en-US" sz="1200" b="0" dirty="0">
                <a:solidFill>
                  <a:srgbClr val="1B5E20"/>
                </a:solidFill>
                <a:latin typeface="Calibri" pitchFamily="34" charset="0"/>
              </a:rPr>
              <a:t/>
            </a:r>
          </a:p>
          <a:p>
            <a:pPr algn="l" marL="120000">
              <a:lnSpc>
                <a:spcPct val="115000"/>
              </a:lnSpc>
              <a:spcAft>
                <a:spcPts val="80"/>
              </a:spcAft>
            </a:pPr>
            <a:r>
              <a:rPr lang="en-US" sz="1300" b="0" dirty="0">
                <a:solidFill>
                  <a:srgbClr val="212121"/>
                </a:solidFill>
                <a:latin typeface="Calibri" pitchFamily="34" charset="0"/>
              </a:rPr>
              <a:t>IFCT 2017 is lab-tested by NIN</a:t>
            </a:r>
          </a:p>
          <a:p>
            <a:pPr algn="l" marL="120000">
              <a:lnSpc>
                <a:spcPct val="115000"/>
              </a:lnSpc>
              <a:spcAft>
                <a:spcPts val="80"/>
              </a:spcAft>
            </a:pPr>
            <a:r>
              <a:rPr lang="en-US" sz="1300" b="0" dirty="0">
                <a:solidFill>
                  <a:srgbClr val="212121"/>
                </a:solidFill>
                <a:latin typeface="Calibri" pitchFamily="34" charset="0"/>
              </a:rPr>
              <a:t>(Indian Council of Medical Research)</a:t>
            </a:r>
          </a:p>
          <a:p>
            <a:pPr algn="l" marL="120000">
              <a:lnSpc>
                <a:spcPct val="115000"/>
              </a:lnSpc>
              <a:spcAft>
                <a:spcPts val="80"/>
              </a:spcAft>
            </a:pPr>
            <a:r>
              <a:rPr lang="en-US" sz="1300" b="0" dirty="0">
                <a:solidFill>
                  <a:srgbClr val="212121"/>
                </a:solidFill>
                <a:latin typeface="Calibri" pitchFamily="34" charset="0"/>
              </a:rPr>
              <a:t>and is the only scientifically</a:t>
            </a:r>
          </a:p>
          <a:p>
            <a:pPr algn="l" marL="120000">
              <a:lnSpc>
                <a:spcPct val="115000"/>
              </a:lnSpc>
              <a:spcAft>
                <a:spcPts val="80"/>
              </a:spcAft>
            </a:pPr>
            <a:r>
              <a:rPr lang="en-US" sz="1300" b="0" dirty="0">
                <a:solidFill>
                  <a:srgbClr val="212121"/>
                </a:solidFill>
                <a:latin typeface="Calibri" pitchFamily="34" charset="0"/>
              </a:rPr>
              <a:t>validated Indian food composition</a:t>
            </a:r>
          </a:p>
          <a:p>
            <a:pPr algn="l" marL="120000">
              <a:lnSpc>
                <a:spcPct val="115000"/>
              </a:lnSpc>
              <a:spcAft>
                <a:spcPts val="80"/>
              </a:spcAft>
            </a:pPr>
            <a:r>
              <a:rPr lang="en-US" sz="1300" b="0" dirty="0">
                <a:solidFill>
                  <a:srgbClr val="212121"/>
                </a:solidFill>
                <a:latin typeface="Calibri" pitchFamily="34" charset="0"/>
              </a:rPr>
              <a:t>database in existence.</a:t>
            </a:r>
          </a:p>
        </p:txBody>
      </p:sp>
      <p:sp>
        <p:nvSpPr>
          <p:cNvPr id="7" name="schema1"/>
          <p:cNvSpPr/>
          <p:nvPr/>
        </p:nvSpPr>
        <p:spPr>
          <a:xfrm>
            <a:off x="7960000" y="1660000"/>
            <a:ext cx="3740000" cy="1800000"/>
          </a:xfrm>
          <a:prstGeom prst="rect">
            <a:avLst/>
          </a:prstGeom>
          <a:solidFill>
            <a:srgbClr val="ECEFF1"/>
          </a:solidFill>
          <a:ln w="12700">
            <a:solidFill>
              <a:srgbClr val="546E7A"/>
            </a:solidFill>
          </a:ln>
        </p:spPr>
        <p:txBody>
          <a:bodyPr wrap="square" anchor="t" lIns="100000" rIns="100000" tIns="80000">
            <a:normAutofit/>
          </a:bodyPr>
          <a:lstStyle/>
          <a:p>
            <a:pPr algn="l" marL="120000">
              <a:lnSpc>
                <a:spcPct val="115000"/>
              </a:lnSpc>
              <a:spcAft>
                <a:spcPts val="80"/>
              </a:spcAft>
            </a:pPr>
            <a:r>
              <a:rPr lang="en-US" sz="1400" b="1" dirty="0">
                <a:solidFill>
                  <a:srgbClr val="263238"/>
                </a:solidFill>
                <a:latin typeface="Calibri" pitchFamily="34" charset="0"/>
              </a:rPr>
              <a:t>Database Schema (foods table):</a:t>
            </a:r>
          </a:p>
          <a:p>
            <a:pPr algn="l" marL="120000">
              <a:lnSpc>
                <a:spcPct val="115000"/>
              </a:lnSpc>
              <a:spcAft>
                <a:spcPts val="80"/>
              </a:spcAft>
            </a:pPr>
            <a:r>
              <a:rPr lang="en-US" sz="1100" b="0" dirty="0">
                <a:solidFill>
                  <a:srgbClr val="263238"/>
                </a:solidFill>
                <a:latin typeface="Calibri" pitchFamily="34" charset="0"/>
              </a:rPr>
              <a:t/>
            </a:r>
          </a:p>
          <a:p>
            <a:pPr algn="l" marL="120000">
              <a:lnSpc>
                <a:spcPct val="115000"/>
              </a:lnSpc>
              <a:spcAft>
                <a:spcPts val="80"/>
              </a:spcAft>
            </a:pPr>
            <a:r>
              <a:rPr lang="en-US" sz="1200" b="0" dirty="0">
                <a:solidFill>
                  <a:srgbClr val="1A237E"/>
                </a:solidFill>
                <a:latin typeface="Calibri" pitchFamily="34" charset="0"/>
              </a:rPr>
              <a:t>id, name_english, name_hindi</a:t>
            </a:r>
          </a:p>
          <a:p>
            <a:pPr algn="l" marL="120000">
              <a:lnSpc>
                <a:spcPct val="115000"/>
              </a:lnSpc>
              <a:spcAft>
                <a:spcPts val="80"/>
              </a:spcAft>
            </a:pPr>
            <a:r>
              <a:rPr lang="en-US" sz="1200" b="0" dirty="0">
                <a:solidFill>
                  <a:srgbClr val="1A237E"/>
                </a:solidFill>
                <a:latin typeface="Calibri" pitchFamily="34" charset="0"/>
              </a:rPr>
              <a:t>name_local, ifct_code</a:t>
            </a:r>
          </a:p>
          <a:p>
            <a:pPr algn="l" marL="120000">
              <a:lnSpc>
                <a:spcPct val="115000"/>
              </a:lnSpc>
              <a:spcAft>
                <a:spcPts val="80"/>
              </a:spcAft>
            </a:pPr>
            <a:r>
              <a:rPr lang="en-US" sz="1200" b="0" dirty="0">
                <a:solidFill>
                  <a:srgbClr val="1A237E"/>
                </a:solidFill>
                <a:latin typeface="Calibri" pitchFamily="34" charset="0"/>
              </a:rPr>
              <a:t>food_group, meal_type[]</a:t>
            </a:r>
          </a:p>
          <a:p>
            <a:pPr algn="l" marL="120000">
              <a:lnSpc>
                <a:spcPct val="115000"/>
              </a:lnSpc>
              <a:spcAft>
                <a:spcPts val="80"/>
              </a:spcAft>
            </a:pPr>
            <a:r>
              <a:rPr lang="en-US" sz="1200" b="0" dirty="0">
                <a:solidFill>
                  <a:srgbClr val="1A237E"/>
                </a:solidFill>
                <a:latin typeface="Calibri" pitchFamily="34" charset="0"/>
              </a:rPr>
              <a:t>calories_per_100g, protein_g</a:t>
            </a:r>
          </a:p>
          <a:p>
            <a:pPr algn="l" marL="120000">
              <a:lnSpc>
                <a:spcPct val="115000"/>
              </a:lnSpc>
              <a:spcAft>
                <a:spcPts val="80"/>
              </a:spcAft>
            </a:pPr>
            <a:r>
              <a:rPr lang="en-US" sz="1200" b="0" dirty="0">
                <a:solidFill>
                  <a:srgbClr val="1A237E"/>
                </a:solidFill>
                <a:latin typeface="Calibri" pitchFamily="34" charset="0"/>
              </a:rPr>
              <a:t>iron_mg, calcium_mg, zinc_mg</a:t>
            </a:r>
          </a:p>
          <a:p>
            <a:pPr algn="l" marL="120000">
              <a:lnSpc>
                <a:spcPct val="115000"/>
              </a:lnSpc>
              <a:spcAft>
                <a:spcPts val="80"/>
              </a:spcAft>
            </a:pPr>
            <a:r>
              <a:rPr lang="en-US" sz="1200" b="0" dirty="0">
                <a:solidFill>
                  <a:srgbClr val="1A237E"/>
                </a:solidFill>
                <a:latin typeface="Calibri" pitchFamily="34" charset="0"/>
              </a:rPr>
              <a:t>folate_mcg, b12_mcg, vit_d_mcg</a:t>
            </a:r>
          </a:p>
          <a:p>
            <a:pPr algn="l" marL="120000">
              <a:lnSpc>
                <a:spcPct val="115000"/>
              </a:lnSpc>
              <a:spcAft>
                <a:spcPts val="80"/>
              </a:spcAft>
            </a:pPr>
            <a:r>
              <a:rPr lang="en-US" sz="1200" b="0" dirty="0">
                <a:solidFill>
                  <a:srgbClr val="1A237E"/>
                </a:solidFill>
                <a:latin typeface="Calibri" pitchFamily="34" charset="0"/>
              </a:rPr>
              <a:t>magnesium_mg, omega3_g</a:t>
            </a:r>
          </a:p>
          <a:p>
            <a:pPr algn="l" marL="120000">
              <a:lnSpc>
                <a:spcPct val="115000"/>
              </a:lnSpc>
              <a:spcAft>
                <a:spcPts val="80"/>
              </a:spcAft>
            </a:pPr>
            <a:r>
              <a:rPr lang="en-US" sz="1200" b="0" dirty="0">
                <a:solidFill>
                  <a:srgbClr val="1A237E"/>
                </a:solidFill>
                <a:latin typeface="Calibri" pitchFamily="34" charset="0"/>
              </a:rPr>
              <a:t>is_vegetarian, is_vegan</a:t>
            </a:r>
          </a:p>
        </p:txBody>
      </p:sp>
      <p:sp>
        <p:nvSpPr>
          <p:cNvPr id="8" name="sec_8"/>
          <p:cNvSpPr/>
          <p:nvPr/>
        </p:nvSpPr>
        <p:spPr>
          <a:xfrm>
            <a:off x="300000" y="3540000"/>
            <a:ext cx="11600000" cy="370000"/>
          </a:xfrm>
          <a:prstGeom prst="rect">
            <a:avLst/>
          </a:prstGeom>
          <a:solidFill>
            <a:srgbClr val="1565C0"/>
          </a:solidFill>
          <a:ln w="12700">
            <a:solidFill>
              <a:srgbClr val="1565C0"/>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Data Source 2 — District-Level Regional Food Culture Database</a:t>
            </a:r>
          </a:p>
        </p:txBody>
      </p:sp>
      <p:sp>
        <p:nvSpPr>
          <p:cNvPr id="20" name="zone0"/>
          <p:cNvSpPr/>
          <p:nvPr/>
        </p:nvSpPr>
        <p:spPr>
          <a:xfrm>
            <a:off x="300000" y="3990000"/>
            <a:ext cx="1840000" cy="770000"/>
          </a:xfrm>
          <a:prstGeom prst="rect">
            <a:avLst/>
          </a:prstGeom>
          <a:solidFill>
            <a:srgbClr val="1565C0"/>
          </a:solidFill>
          <a:ln w="12700">
            <a:solidFill>
              <a:srgbClr val="01579B"/>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North Zone</a:t>
            </a:r>
          </a:p>
          <a:p>
            <a:pPr algn="ctr">
              <a:lnSpc>
                <a:spcPct val="110000"/>
              </a:lnSpc>
              <a:spcAft>
                <a:spcPts val="0"/>
              </a:spcAft>
            </a:pPr>
            <a:r>
              <a:rPr lang="en-US" sz="1150" b="0" dirty="0">
                <a:solidFill>
                  <a:srgbClr val="BBDEFB"/>
                </a:solidFill>
                <a:latin typeface="Calibri" pitchFamily="34" charset="0"/>
              </a:rPr>
              <a:t>Punjab, Haryana,</a:t>
            </a:r>
          </a:p>
          <a:p>
            <a:pPr algn="ctr">
              <a:lnSpc>
                <a:spcPct val="110000"/>
              </a:lnSpc>
              <a:spcAft>
                <a:spcPts val="0"/>
              </a:spcAft>
            </a:pPr>
            <a:r>
              <a:rPr lang="en-US" sz="1150" b="0" dirty="0">
                <a:solidFill>
                  <a:srgbClr val="BBDEFB"/>
                </a:solidFill>
                <a:latin typeface="Calibri" pitchFamily="34" charset="0"/>
              </a:rPr>
              <a:t>UP, Delhi, Raj.</a:t>
            </a:r>
          </a:p>
          <a:p>
            <a:pPr algn="ctr">
              <a:lnSpc>
                <a:spcPct val="110000"/>
              </a:lnSpc>
              <a:spcAft>
                <a:spcPts val="0"/>
              </a:spcAft>
            </a:pPr>
            <a:r>
              <a:rPr lang="en-US" sz="1150" b="0" dirty="0">
                <a:solidFill>
                  <a:srgbClr val="BBDEFB"/>
                </a:solidFill>
                <a:latin typeface="Calibri" pitchFamily="34" charset="0"/>
              </a:rPr>
              <a:t>Wheat-dominant</a:t>
            </a:r>
          </a:p>
          <a:p>
            <a:pPr algn="ctr">
              <a:lnSpc>
                <a:spcPct val="110000"/>
              </a:lnSpc>
              <a:spcAft>
                <a:spcPts val="0"/>
              </a:spcAft>
            </a:pPr>
            <a:r>
              <a:rPr lang="en-US" sz="1150" b="0" dirty="0">
                <a:solidFill>
                  <a:srgbClr val="BBDEFB"/>
                </a:solidFill>
                <a:latin typeface="Calibri" pitchFamily="34" charset="0"/>
              </a:rPr>
              <a:t>Mustard oil</a:t>
            </a:r>
          </a:p>
          <a:p>
            <a:pPr algn="ctr">
              <a:lnSpc>
                <a:spcPct val="110000"/>
              </a:lnSpc>
              <a:spcAft>
                <a:spcPts val="0"/>
              </a:spcAft>
            </a:pPr>
            <a:r>
              <a:rPr lang="en-US" sz="1150" b="0" dirty="0">
                <a:solidFill>
                  <a:srgbClr val="BBDEFB"/>
                </a:solidFill>
                <a:latin typeface="Calibri" pitchFamily="34" charset="0"/>
              </a:rPr>
              <a:t>Dairy-rich</a:t>
            </a:r>
          </a:p>
        </p:txBody>
      </p:sp>
      <p:sp>
        <p:nvSpPr>
          <p:cNvPr id="21" name="zone1"/>
          <p:cNvSpPr/>
          <p:nvPr/>
        </p:nvSpPr>
        <p:spPr>
          <a:xfrm>
            <a:off x="2200000" y="3990000"/>
            <a:ext cx="1840000" cy="770000"/>
          </a:xfrm>
          <a:prstGeom prst="rect">
            <a:avLst/>
          </a:prstGeom>
          <a:solidFill>
            <a:srgbClr val="0277BD"/>
          </a:solidFill>
          <a:ln w="12700">
            <a:solidFill>
              <a:srgbClr val="01579B"/>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South Zone</a:t>
            </a:r>
          </a:p>
          <a:p>
            <a:pPr algn="ctr">
              <a:lnSpc>
                <a:spcPct val="110000"/>
              </a:lnSpc>
              <a:spcAft>
                <a:spcPts val="0"/>
              </a:spcAft>
            </a:pPr>
            <a:r>
              <a:rPr lang="en-US" sz="1150" b="0" dirty="0">
                <a:solidFill>
                  <a:srgbClr val="B3E5FC"/>
                </a:solidFill>
                <a:latin typeface="Calibri" pitchFamily="34" charset="0"/>
              </a:rPr>
              <a:t>Tamil Nadu,</a:t>
            </a:r>
          </a:p>
          <a:p>
            <a:pPr algn="ctr">
              <a:lnSpc>
                <a:spcPct val="110000"/>
              </a:lnSpc>
              <a:spcAft>
                <a:spcPts val="0"/>
              </a:spcAft>
            </a:pPr>
            <a:r>
              <a:rPr lang="en-US" sz="1150" b="0" dirty="0">
                <a:solidFill>
                  <a:srgbClr val="B3E5FC"/>
                </a:solidFill>
                <a:latin typeface="Calibri" pitchFamily="34" charset="0"/>
              </a:rPr>
              <a:t>Kerala, Karnataka</a:t>
            </a:r>
          </a:p>
          <a:p>
            <a:pPr algn="ctr">
              <a:lnSpc>
                <a:spcPct val="110000"/>
              </a:lnSpc>
              <a:spcAft>
                <a:spcPts val="0"/>
              </a:spcAft>
            </a:pPr>
            <a:r>
              <a:rPr lang="en-US" sz="1150" b="0" dirty="0">
                <a:solidFill>
                  <a:srgbClr val="B3E5FC"/>
                </a:solidFill>
                <a:latin typeface="Calibri" pitchFamily="34" charset="0"/>
              </a:rPr>
              <a:t>Rice-dominant</a:t>
            </a:r>
          </a:p>
          <a:p>
            <a:pPr algn="ctr">
              <a:lnSpc>
                <a:spcPct val="110000"/>
              </a:lnSpc>
              <a:spcAft>
                <a:spcPts val="0"/>
              </a:spcAft>
            </a:pPr>
            <a:r>
              <a:rPr lang="en-US" sz="1150" b="0" dirty="0">
                <a:solidFill>
                  <a:srgbClr val="B3E5FC"/>
                </a:solidFill>
                <a:latin typeface="Calibri" pitchFamily="34" charset="0"/>
              </a:rPr>
              <a:t>Coconut oil</a:t>
            </a:r>
          </a:p>
          <a:p>
            <a:pPr algn="ctr">
              <a:lnSpc>
                <a:spcPct val="110000"/>
              </a:lnSpc>
              <a:spcAft>
                <a:spcPts val="0"/>
              </a:spcAft>
            </a:pPr>
            <a:r>
              <a:rPr lang="en-US" sz="1150" b="0" dirty="0">
                <a:solidFill>
                  <a:srgbClr val="B3E5FC"/>
                </a:solidFill>
                <a:latin typeface="Calibri" pitchFamily="34" charset="0"/>
              </a:rPr>
              <a:t>Fermented foods</a:t>
            </a:r>
          </a:p>
        </p:txBody>
      </p:sp>
      <p:sp>
        <p:nvSpPr>
          <p:cNvPr id="22" name="zone2"/>
          <p:cNvSpPr/>
          <p:nvPr/>
        </p:nvSpPr>
        <p:spPr>
          <a:xfrm>
            <a:off x="4100000" y="3990000"/>
            <a:ext cx="1840000" cy="770000"/>
          </a:xfrm>
          <a:prstGeom prst="rect">
            <a:avLst/>
          </a:prstGeom>
          <a:solidFill>
            <a:srgbClr val="1976D2"/>
          </a:solidFill>
          <a:ln w="12700">
            <a:solidFill>
              <a:srgbClr val="01579B"/>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East Zone</a:t>
            </a:r>
          </a:p>
          <a:p>
            <a:pPr algn="ctr">
              <a:lnSpc>
                <a:spcPct val="110000"/>
              </a:lnSpc>
              <a:spcAft>
                <a:spcPts val="0"/>
              </a:spcAft>
            </a:pPr>
            <a:r>
              <a:rPr lang="en-US" sz="1150" b="0" dirty="0">
                <a:solidFill>
                  <a:srgbClr val="BBDEFB"/>
                </a:solidFill>
                <a:latin typeface="Calibri" pitchFamily="34" charset="0"/>
              </a:rPr>
              <a:t>W. Bengal, Bihar,</a:t>
            </a:r>
          </a:p>
          <a:p>
            <a:pPr algn="ctr">
              <a:lnSpc>
                <a:spcPct val="110000"/>
              </a:lnSpc>
              <a:spcAft>
                <a:spcPts val="0"/>
              </a:spcAft>
            </a:pPr>
            <a:r>
              <a:rPr lang="en-US" sz="1150" b="0" dirty="0">
                <a:solidFill>
                  <a:srgbClr val="BBDEFB"/>
                </a:solidFill>
                <a:latin typeface="Calibri" pitchFamily="34" charset="0"/>
              </a:rPr>
              <a:t>Odisha, Jharkhand</a:t>
            </a:r>
          </a:p>
          <a:p>
            <a:pPr algn="ctr">
              <a:lnSpc>
                <a:spcPct val="110000"/>
              </a:lnSpc>
              <a:spcAft>
                <a:spcPts val="0"/>
              </a:spcAft>
            </a:pPr>
            <a:r>
              <a:rPr lang="en-US" sz="1150" b="0" dirty="0">
                <a:solidFill>
                  <a:srgbClr val="BBDEFB"/>
                </a:solidFill>
                <a:latin typeface="Calibri" pitchFamily="34" charset="0"/>
              </a:rPr>
              <a:t>Rice + mustard oil</a:t>
            </a:r>
          </a:p>
          <a:p>
            <a:pPr algn="ctr">
              <a:lnSpc>
                <a:spcPct val="110000"/>
              </a:lnSpc>
              <a:spcAft>
                <a:spcPts val="0"/>
              </a:spcAft>
            </a:pPr>
            <a:r>
              <a:rPr lang="en-US" sz="1150" b="0" dirty="0">
                <a:solidFill>
                  <a:srgbClr val="BBDEFB"/>
                </a:solidFill>
                <a:latin typeface="Calibri" pitchFamily="34" charset="0"/>
              </a:rPr>
              <a:t>Fish (coastal)</a:t>
            </a:r>
          </a:p>
          <a:p>
            <a:pPr algn="ctr">
              <a:lnSpc>
                <a:spcPct val="110000"/>
              </a:lnSpc>
              <a:spcAft>
                <a:spcPts val="0"/>
              </a:spcAft>
            </a:pPr>
            <a:r>
              <a:rPr lang="en-US" sz="1150" b="0" dirty="0">
                <a:solidFill>
                  <a:srgbClr val="BBDEFB"/>
                </a:solidFill>
                <a:latin typeface="Calibri" pitchFamily="34" charset="0"/>
              </a:rPr>
              <a:t>Millet (tribal)</a:t>
            </a:r>
          </a:p>
        </p:txBody>
      </p:sp>
      <p:sp>
        <p:nvSpPr>
          <p:cNvPr id="23" name="zone3"/>
          <p:cNvSpPr/>
          <p:nvPr/>
        </p:nvSpPr>
        <p:spPr>
          <a:xfrm>
            <a:off x="6000000" y="3990000"/>
            <a:ext cx="1840000" cy="770000"/>
          </a:xfrm>
          <a:prstGeom prst="rect">
            <a:avLst/>
          </a:prstGeom>
          <a:solidFill>
            <a:srgbClr val="0288D1"/>
          </a:solidFill>
          <a:ln w="12700">
            <a:solidFill>
              <a:srgbClr val="01579B"/>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West Zone</a:t>
            </a:r>
          </a:p>
          <a:p>
            <a:pPr algn="ctr">
              <a:lnSpc>
                <a:spcPct val="110000"/>
              </a:lnSpc>
              <a:spcAft>
                <a:spcPts val="0"/>
              </a:spcAft>
            </a:pPr>
            <a:r>
              <a:rPr lang="en-US" sz="1150" b="0" dirty="0">
                <a:solidFill>
                  <a:srgbClr val="B3E5FC"/>
                </a:solidFill>
                <a:latin typeface="Calibri" pitchFamily="34" charset="0"/>
              </a:rPr>
              <a:t>Maharashtra,</a:t>
            </a:r>
          </a:p>
          <a:p>
            <a:pPr algn="ctr">
              <a:lnSpc>
                <a:spcPct val="110000"/>
              </a:lnSpc>
              <a:spcAft>
                <a:spcPts val="0"/>
              </a:spcAft>
            </a:pPr>
            <a:r>
              <a:rPr lang="en-US" sz="1150" b="0" dirty="0">
                <a:solidFill>
                  <a:srgbClr val="B3E5FC"/>
                </a:solidFill>
                <a:latin typeface="Calibri" pitchFamily="34" charset="0"/>
              </a:rPr>
              <a:t>Gujarat, Goa</a:t>
            </a:r>
          </a:p>
          <a:p>
            <a:pPr algn="ctr">
              <a:lnSpc>
                <a:spcPct val="110000"/>
              </a:lnSpc>
              <a:spcAft>
                <a:spcPts val="0"/>
              </a:spcAft>
            </a:pPr>
            <a:r>
              <a:rPr lang="en-US" sz="1150" b="0" dirty="0">
                <a:solidFill>
                  <a:srgbClr val="B3E5FC"/>
                </a:solidFill>
                <a:latin typeface="Calibri" pitchFamily="34" charset="0"/>
              </a:rPr>
              <a:t>Bhakri/jowar</a:t>
            </a:r>
          </a:p>
          <a:p>
            <a:pPr algn="ctr">
              <a:lnSpc>
                <a:spcPct val="110000"/>
              </a:lnSpc>
              <a:spcAft>
                <a:spcPts val="0"/>
              </a:spcAft>
            </a:pPr>
            <a:r>
              <a:rPr lang="en-US" sz="1150" b="0" dirty="0">
                <a:solidFill>
                  <a:srgbClr val="B3E5FC"/>
                </a:solidFill>
                <a:latin typeface="Calibri" pitchFamily="34" charset="0"/>
              </a:rPr>
              <a:t>Groundnut oil</a:t>
            </a:r>
          </a:p>
          <a:p>
            <a:pPr algn="ctr">
              <a:lnSpc>
                <a:spcPct val="110000"/>
              </a:lnSpc>
              <a:spcAft>
                <a:spcPts val="0"/>
              </a:spcAft>
            </a:pPr>
            <a:r>
              <a:rPr lang="en-US" sz="1150" b="0" dirty="0">
                <a:solidFill>
                  <a:srgbClr val="B3E5FC"/>
                </a:solidFill>
                <a:latin typeface="Calibri" pitchFamily="34" charset="0"/>
              </a:rPr>
              <a:t>Coastal fish (Goa)</a:t>
            </a:r>
          </a:p>
        </p:txBody>
      </p:sp>
      <p:sp>
        <p:nvSpPr>
          <p:cNvPr id="24" name="zone4"/>
          <p:cNvSpPr/>
          <p:nvPr/>
        </p:nvSpPr>
        <p:spPr>
          <a:xfrm>
            <a:off x="7900000" y="3990000"/>
            <a:ext cx="1840000" cy="770000"/>
          </a:xfrm>
          <a:prstGeom prst="rect">
            <a:avLst/>
          </a:prstGeom>
          <a:solidFill>
            <a:srgbClr val="01579B"/>
          </a:solidFill>
          <a:ln w="12700">
            <a:solidFill>
              <a:srgbClr val="01579B"/>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Central</a:t>
            </a:r>
          </a:p>
          <a:p>
            <a:pPr algn="ctr">
              <a:lnSpc>
                <a:spcPct val="110000"/>
              </a:lnSpc>
              <a:spcAft>
                <a:spcPts val="0"/>
              </a:spcAft>
            </a:pPr>
            <a:r>
              <a:rPr lang="en-US" sz="1150" b="0" dirty="0">
                <a:solidFill>
                  <a:srgbClr val="BBDEFB"/>
                </a:solidFill>
                <a:latin typeface="Calibri" pitchFamily="34" charset="0"/>
              </a:rPr>
              <a:t>MP, Chhattisgarh</a:t>
            </a:r>
          </a:p>
          <a:p>
            <a:pPr algn="ctr">
              <a:lnSpc>
                <a:spcPct val="110000"/>
              </a:lnSpc>
              <a:spcAft>
                <a:spcPts val="0"/>
              </a:spcAft>
            </a:pPr>
            <a:r>
              <a:rPr lang="en-US" sz="1150" b="0" dirty="0">
                <a:solidFill>
                  <a:srgbClr val="BBDEFB"/>
                </a:solidFill>
                <a:latin typeface="Calibri" pitchFamily="34" charset="0"/>
              </a:rPr>
              <a:t>Jowar, bajra,</a:t>
            </a:r>
          </a:p>
          <a:p>
            <a:pPr algn="ctr">
              <a:lnSpc>
                <a:spcPct val="110000"/>
              </a:lnSpc>
              <a:spcAft>
                <a:spcPts val="0"/>
              </a:spcAft>
            </a:pPr>
            <a:r>
              <a:rPr lang="en-US" sz="1150" b="0" dirty="0">
                <a:solidFill>
                  <a:srgbClr val="BBDEFB"/>
                </a:solidFill>
                <a:latin typeface="Calibri" pitchFamily="34" charset="0"/>
              </a:rPr>
              <a:t>kodo millet</a:t>
            </a:r>
          </a:p>
          <a:p>
            <a:pPr algn="ctr">
              <a:lnSpc>
                <a:spcPct val="110000"/>
              </a:lnSpc>
              <a:spcAft>
                <a:spcPts val="0"/>
              </a:spcAft>
            </a:pPr>
            <a:r>
              <a:rPr lang="en-US" sz="1150" b="0" dirty="0">
                <a:solidFill>
                  <a:srgbClr val="BBDEFB"/>
                </a:solidFill>
                <a:latin typeface="Calibri" pitchFamily="34" charset="0"/>
              </a:rPr>
              <a:t>Low-GI staples</a:t>
            </a:r>
          </a:p>
          <a:p>
            <a:pPr algn="ctr">
              <a:lnSpc>
                <a:spcPct val="110000"/>
              </a:lnSpc>
              <a:spcAft>
                <a:spcPts val="0"/>
              </a:spcAft>
            </a:pPr>
            <a:r>
              <a:rPr lang="en-US" sz="1150" b="0" dirty="0">
                <a:solidFill>
                  <a:srgbClr val="BBDEFB"/>
                </a:solidFill>
                <a:latin typeface="Calibri" pitchFamily="34" charset="0"/>
              </a:rPr>
              <a:t>Tribal greens</a:t>
            </a:r>
          </a:p>
        </p:txBody>
      </p:sp>
      <p:sp>
        <p:nvSpPr>
          <p:cNvPr id="25" name="zone5"/>
          <p:cNvSpPr/>
          <p:nvPr/>
        </p:nvSpPr>
        <p:spPr>
          <a:xfrm>
            <a:off x="9800000" y="3990000"/>
            <a:ext cx="1840000" cy="770000"/>
          </a:xfrm>
          <a:prstGeom prst="rect">
            <a:avLst/>
          </a:prstGeom>
          <a:solidFill>
            <a:srgbClr val="0D47A1"/>
          </a:solidFill>
          <a:ln w="12700">
            <a:solidFill>
              <a:srgbClr val="01579B"/>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Northeast</a:t>
            </a:r>
          </a:p>
          <a:p>
            <a:pPr algn="ctr">
              <a:lnSpc>
                <a:spcPct val="110000"/>
              </a:lnSpc>
              <a:spcAft>
                <a:spcPts val="0"/>
              </a:spcAft>
            </a:pPr>
            <a:r>
              <a:rPr lang="en-US" sz="1150" b="0" dirty="0">
                <a:solidFill>
                  <a:srgbClr val="B3E5FC"/>
                </a:solidFill>
                <a:latin typeface="Calibri" pitchFamily="34" charset="0"/>
              </a:rPr>
              <a:t>Manipur, Assam,</a:t>
            </a:r>
          </a:p>
          <a:p>
            <a:pPr algn="ctr">
              <a:lnSpc>
                <a:spcPct val="110000"/>
              </a:lnSpc>
              <a:spcAft>
                <a:spcPts val="0"/>
              </a:spcAft>
            </a:pPr>
            <a:r>
              <a:rPr lang="en-US" sz="1150" b="0" dirty="0">
                <a:solidFill>
                  <a:srgbClr val="B3E5FC"/>
                </a:solidFill>
                <a:latin typeface="Calibri" pitchFamily="34" charset="0"/>
              </a:rPr>
              <a:t>Meghalaya + 5</a:t>
            </a:r>
          </a:p>
          <a:p>
            <a:pPr algn="ctr">
              <a:lnSpc>
                <a:spcPct val="110000"/>
              </a:lnSpc>
              <a:spcAft>
                <a:spcPts val="0"/>
              </a:spcAft>
            </a:pPr>
            <a:r>
              <a:rPr lang="en-US" sz="1150" b="0" dirty="0">
                <a:solidFill>
                  <a:srgbClr val="B3E5FC"/>
                </a:solidFill>
                <a:latin typeface="Calibri" pitchFamily="34" charset="0"/>
              </a:rPr>
              <a:t>Bamboo shoots</a:t>
            </a:r>
          </a:p>
          <a:p>
            <a:pPr algn="ctr">
              <a:lnSpc>
                <a:spcPct val="110000"/>
              </a:lnSpc>
              <a:spcAft>
                <a:spcPts val="0"/>
              </a:spcAft>
            </a:pPr>
            <a:r>
              <a:rPr lang="en-US" sz="1150" b="0" dirty="0">
                <a:solidFill>
                  <a:srgbClr val="B3E5FC"/>
                </a:solidFill>
                <a:latin typeface="Calibri" pitchFamily="34" charset="0"/>
              </a:rPr>
              <a:t>Fermented fish</a:t>
            </a:r>
          </a:p>
          <a:p>
            <a:pPr algn="ctr">
              <a:lnSpc>
                <a:spcPct val="110000"/>
              </a:lnSpc>
              <a:spcAft>
                <a:spcPts val="0"/>
              </a:spcAft>
            </a:pPr>
            <a:r>
              <a:rPr lang="en-US" sz="1150" b="0" dirty="0">
                <a:solidFill>
                  <a:srgbClr val="B3E5FC"/>
                </a:solidFill>
                <a:latin typeface="Calibri" pitchFamily="34" charset="0"/>
              </a:rPr>
              <a:t>Wild herbs</a:t>
            </a:r>
          </a:p>
        </p:txBody>
      </p:sp>
      <p:sp>
        <p:nvSpPr>
          <p:cNvPr id="30" name="sec_30"/>
          <p:cNvSpPr/>
          <p:nvPr/>
        </p:nvSpPr>
        <p:spPr>
          <a:xfrm>
            <a:off x="300000" y="4840000"/>
            <a:ext cx="11600000" cy="370000"/>
          </a:xfrm>
          <a:prstGeom prst="rect">
            <a:avLst/>
          </a:prstGeom>
          <a:solidFill>
            <a:srgbClr val="BF360C"/>
          </a:solidFill>
          <a:ln w="12700">
            <a:solidFill>
              <a:srgbClr val="BF360C"/>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Data Source 3 — Medicine Nutrition Impact Catalog</a:t>
            </a:r>
          </a:p>
        </p:txBody>
      </p:sp>
      <p:sp>
        <p:nvSpPr>
          <p:cNvPr id="40" name="med0"/>
          <p:cNvSpPr/>
          <p:nvPr/>
        </p:nvSpPr>
        <p:spPr>
          <a:xfrm>
            <a:off x="300000" y="5290000"/>
            <a:ext cx="2200000" cy="700000"/>
          </a:xfrm>
          <a:prstGeom prst="rect">
            <a:avLst/>
          </a:prstGeom>
          <a:solidFill>
            <a:srgbClr val="C62828"/>
          </a:solidFill>
          <a:ln w="12700">
            <a:solidFill>
              <a:srgbClr val="870000"/>
            </a:solidFill>
          </a:ln>
        </p:spPr>
        <p:txBody>
          <a:bodyPr wrap="square" anchor="ctr" lIns="80000" rIns="80000" tIns="60000">
            <a:normAutofit/>
          </a:bodyPr>
          <a:lstStyle/>
          <a:p>
            <a:pPr algn="ctr">
              <a:lnSpc>
                <a:spcPct val="110000"/>
              </a:lnSpc>
              <a:spcAft>
                <a:spcPts val="0"/>
              </a:spcAft>
            </a:pPr>
            <a:r>
              <a:rPr lang="en-US" sz="1300" b="1" dirty="0">
                <a:solidFill>
                  <a:srgbClr val="FFFFFF"/>
                </a:solidFill>
                <a:latin typeface="Calibri" pitchFamily="34" charset="0"/>
              </a:rPr>
              <a:t>Metformin
(Diabetes)</a:t>
            </a:r>
          </a:p>
          <a:p>
            <a:pPr algn="ctr">
              <a:lnSpc>
                <a:spcPct val="110000"/>
              </a:lnSpc>
              <a:spcAft>
                <a:spcPts val="0"/>
              </a:spcAft>
            </a:pPr>
            <a:r>
              <a:rPr lang="en-US" sz="1150" b="0" dirty="0">
                <a:solidFill>
                  <a:srgbClr val="FFCDD2"/>
                </a:solidFill>
                <a:latin typeface="Calibri" pitchFamily="34" charset="0"/>
              </a:rPr>
              <a:t>Depletes B12, folate</a:t>
            </a:r>
          </a:p>
          <a:p>
            <a:pPr algn="ctr">
              <a:lnSpc>
                <a:spcPct val="110000"/>
              </a:lnSpc>
              <a:spcAft>
                <a:spcPts val="0"/>
              </a:spcAft>
            </a:pPr>
            <a:r>
              <a:rPr lang="en-US" sz="1150" b="0" dirty="0">
                <a:solidFill>
                  <a:srgbClr val="FFCDD2"/>
                </a:solidFill>
                <a:latin typeface="Calibri" pitchFamily="34" charset="0"/>
              </a:rPr>
              <a:t>Take with food</a:t>
            </a:r>
          </a:p>
          <a:p>
            <a:pPr algn="ctr">
              <a:lnSpc>
                <a:spcPct val="110000"/>
              </a:lnSpc>
              <a:spcAft>
                <a:spcPts val="0"/>
              </a:spcAft>
            </a:pPr>
            <a:r>
              <a:rPr lang="en-US" sz="1150" b="0" dirty="0">
                <a:solidFill>
                  <a:srgbClr val="FFCDD2"/>
                </a:solidFill>
                <a:latin typeface="Calibri" pitchFamily="34" charset="0"/>
              </a:rPr>
              <a:t>Boost B12 target +30%</a:t>
            </a:r>
          </a:p>
        </p:txBody>
      </p:sp>
      <p:sp>
        <p:nvSpPr>
          <p:cNvPr id="41" name="med1"/>
          <p:cNvSpPr/>
          <p:nvPr/>
        </p:nvSpPr>
        <p:spPr>
          <a:xfrm>
            <a:off x="2560000" y="5290000"/>
            <a:ext cx="2200000" cy="700000"/>
          </a:xfrm>
          <a:prstGeom prst="rect">
            <a:avLst/>
          </a:prstGeom>
          <a:solidFill>
            <a:srgbClr val="D84315"/>
          </a:solidFill>
          <a:ln w="12700">
            <a:solidFill>
              <a:srgbClr val="870000"/>
            </a:solidFill>
          </a:ln>
        </p:spPr>
        <p:txBody>
          <a:bodyPr wrap="square" anchor="ctr" lIns="80000" rIns="80000" tIns="60000">
            <a:normAutofit/>
          </a:bodyPr>
          <a:lstStyle/>
          <a:p>
            <a:pPr algn="ctr">
              <a:lnSpc>
                <a:spcPct val="110000"/>
              </a:lnSpc>
              <a:spcAft>
                <a:spcPts val="0"/>
              </a:spcAft>
            </a:pPr>
            <a:r>
              <a:rPr lang="en-US" sz="1300" b="1" dirty="0">
                <a:solidFill>
                  <a:srgbClr val="FFFFFF"/>
                </a:solidFill>
                <a:latin typeface="Calibri" pitchFamily="34" charset="0"/>
              </a:rPr>
              <a:t>Thyronorm
(Hypothyroid)</a:t>
            </a:r>
          </a:p>
          <a:p>
            <a:pPr algn="ctr">
              <a:lnSpc>
                <a:spcPct val="110000"/>
              </a:lnSpc>
              <a:spcAft>
                <a:spcPts val="0"/>
              </a:spcAft>
            </a:pPr>
            <a:r>
              <a:rPr lang="en-US" sz="1150" b="0" dirty="0">
                <a:solidFill>
                  <a:srgbClr val="FFCCBC"/>
                </a:solidFill>
                <a:latin typeface="Calibri" pitchFamily="34" charset="0"/>
              </a:rPr>
              <a:t>Empty stomach 30-60 min</a:t>
            </a:r>
          </a:p>
          <a:p>
            <a:pPr algn="ctr">
              <a:lnSpc>
                <a:spcPct val="110000"/>
              </a:lnSpc>
              <a:spcAft>
                <a:spcPts val="0"/>
              </a:spcAft>
            </a:pPr>
            <a:r>
              <a:rPr lang="en-US" sz="1150" b="0" dirty="0">
                <a:solidFill>
                  <a:srgbClr val="FFCCBC"/>
                </a:solidFill>
                <a:latin typeface="Calibri" pitchFamily="34" charset="0"/>
              </a:rPr>
              <a:t>before breakfast</a:t>
            </a:r>
          </a:p>
          <a:p>
            <a:pPr algn="ctr">
              <a:lnSpc>
                <a:spcPct val="110000"/>
              </a:lnSpc>
              <a:spcAft>
                <a:spcPts val="0"/>
              </a:spcAft>
            </a:pPr>
            <a:r>
              <a:rPr lang="en-US" sz="1150" b="0" dirty="0">
                <a:solidFill>
                  <a:srgbClr val="FFCCBC"/>
                </a:solidFill>
                <a:latin typeface="Calibri" pitchFamily="34" charset="0"/>
              </a:rPr>
              <a:t>Avoid Ca+Fe foods 2hrs</a:t>
            </a:r>
          </a:p>
        </p:txBody>
      </p:sp>
      <p:sp>
        <p:nvSpPr>
          <p:cNvPr id="42" name="med2"/>
          <p:cNvSpPr/>
          <p:nvPr/>
        </p:nvSpPr>
        <p:spPr>
          <a:xfrm>
            <a:off x="4820000" y="5290000"/>
            <a:ext cx="2200000" cy="700000"/>
          </a:xfrm>
          <a:prstGeom prst="rect">
            <a:avLst/>
          </a:prstGeom>
          <a:solidFill>
            <a:srgbClr val="6A1B9A"/>
          </a:solidFill>
          <a:ln w="12700">
            <a:solidFill>
              <a:srgbClr val="870000"/>
            </a:solidFill>
          </a:ln>
        </p:spPr>
        <p:txBody>
          <a:bodyPr wrap="square" anchor="ctr" lIns="80000" rIns="80000" tIns="60000">
            <a:normAutofit/>
          </a:bodyPr>
          <a:lstStyle/>
          <a:p>
            <a:pPr algn="ctr">
              <a:lnSpc>
                <a:spcPct val="110000"/>
              </a:lnSpc>
              <a:spcAft>
                <a:spcPts val="0"/>
              </a:spcAft>
            </a:pPr>
            <a:r>
              <a:rPr lang="en-US" sz="1300" b="1" dirty="0">
                <a:solidFill>
                  <a:srgbClr val="FFFFFF"/>
                </a:solidFill>
                <a:latin typeface="Calibri" pitchFamily="34" charset="0"/>
              </a:rPr>
              <a:t>Ferrous Sulphate
(Anaemia)</a:t>
            </a:r>
          </a:p>
          <a:p>
            <a:pPr algn="ctr">
              <a:lnSpc>
                <a:spcPct val="110000"/>
              </a:lnSpc>
              <a:spcAft>
                <a:spcPts val="0"/>
              </a:spcAft>
            </a:pPr>
            <a:r>
              <a:rPr lang="en-US" sz="1150" b="0" dirty="0">
                <a:solidFill>
                  <a:srgbClr val="E1BEE7"/>
                </a:solidFill>
                <a:latin typeface="Calibri" pitchFamily="34" charset="0"/>
              </a:rPr>
              <a:t>Take with Vit C food</a:t>
            </a:r>
          </a:p>
          <a:p>
            <a:pPr algn="ctr">
              <a:lnSpc>
                <a:spcPct val="110000"/>
              </a:lnSpc>
              <a:spcAft>
                <a:spcPts val="0"/>
              </a:spcAft>
            </a:pPr>
            <a:r>
              <a:rPr lang="en-US" sz="1150" b="0" dirty="0">
                <a:solidFill>
                  <a:srgbClr val="E1BEE7"/>
                </a:solidFill>
                <a:latin typeface="Calibri" pitchFamily="34" charset="0"/>
              </a:rPr>
              <a:t>(nimbu pani, amla)</a:t>
            </a:r>
          </a:p>
          <a:p>
            <a:pPr algn="ctr">
              <a:lnSpc>
                <a:spcPct val="110000"/>
              </a:lnSpc>
              <a:spcAft>
                <a:spcPts val="0"/>
              </a:spcAft>
            </a:pPr>
            <a:r>
              <a:rPr lang="en-US" sz="1150" b="0" dirty="0">
                <a:solidFill>
                  <a:srgbClr val="E1BEE7"/>
                </a:solidFill>
                <a:latin typeface="Calibri" pitchFamily="34" charset="0"/>
              </a:rPr>
              <a:t>Avoid tea/coffee 1hr</a:t>
            </a:r>
          </a:p>
        </p:txBody>
      </p:sp>
      <p:sp>
        <p:nvSpPr>
          <p:cNvPr id="43" name="med3"/>
          <p:cNvSpPr/>
          <p:nvPr/>
        </p:nvSpPr>
        <p:spPr>
          <a:xfrm>
            <a:off x="7080000" y="5290000"/>
            <a:ext cx="2200000" cy="700000"/>
          </a:xfrm>
          <a:prstGeom prst="rect">
            <a:avLst/>
          </a:prstGeom>
          <a:solidFill>
            <a:srgbClr val="1565C0"/>
          </a:solidFill>
          <a:ln w="12700">
            <a:solidFill>
              <a:srgbClr val="870000"/>
            </a:solidFill>
          </a:ln>
        </p:spPr>
        <p:txBody>
          <a:bodyPr wrap="square" anchor="ctr" lIns="80000" rIns="80000" tIns="60000">
            <a:normAutofit/>
          </a:bodyPr>
          <a:lstStyle/>
          <a:p>
            <a:pPr algn="ctr">
              <a:lnSpc>
                <a:spcPct val="110000"/>
              </a:lnSpc>
              <a:spcAft>
                <a:spcPts val="0"/>
              </a:spcAft>
            </a:pPr>
            <a:r>
              <a:rPr lang="en-US" sz="1300" b="1" dirty="0">
                <a:solidFill>
                  <a:srgbClr val="FFFFFF"/>
                </a:solidFill>
                <a:latin typeface="Calibri" pitchFamily="34" charset="0"/>
              </a:rPr>
              <a:t>Rifampicin + INH
(Tuberculosis)</a:t>
            </a:r>
          </a:p>
          <a:p>
            <a:pPr algn="ctr">
              <a:lnSpc>
                <a:spcPct val="110000"/>
              </a:lnSpc>
              <a:spcAft>
                <a:spcPts val="0"/>
              </a:spcAft>
            </a:pPr>
            <a:r>
              <a:rPr lang="en-US" sz="1150" b="0" dirty="0">
                <a:solidFill>
                  <a:srgbClr val="BBDEFB"/>
                </a:solidFill>
                <a:latin typeface="Calibri" pitchFamily="34" charset="0"/>
              </a:rPr>
              <a:t>INH depletes B6</a:t>
            </a:r>
          </a:p>
          <a:p>
            <a:pPr algn="ctr">
              <a:lnSpc>
                <a:spcPct val="110000"/>
              </a:lnSpc>
              <a:spcAft>
                <a:spcPts val="0"/>
              </a:spcAft>
            </a:pPr>
            <a:r>
              <a:rPr lang="en-US" sz="1150" b="0" dirty="0">
                <a:solidFill>
                  <a:srgbClr val="BBDEFB"/>
                </a:solidFill>
                <a:latin typeface="Calibri" pitchFamily="34" charset="0"/>
              </a:rPr>
              <a:t>Rifampicin empty stomach</a:t>
            </a:r>
          </a:p>
          <a:p>
            <a:pPr algn="ctr">
              <a:lnSpc>
                <a:spcPct val="110000"/>
              </a:lnSpc>
              <a:spcAft>
                <a:spcPts val="0"/>
              </a:spcAft>
            </a:pPr>
            <a:r>
              <a:rPr lang="en-US" sz="1150" b="0" dirty="0">
                <a:solidFill>
                  <a:srgbClr val="BBDEFB"/>
                </a:solidFill>
                <a:latin typeface="Calibri" pitchFamily="34" charset="0"/>
              </a:rPr>
              <a:t>High protein priority</a:t>
            </a:r>
          </a:p>
        </p:txBody>
      </p:sp>
      <p:sp>
        <p:nvSpPr>
          <p:cNvPr id="44" name="med4"/>
          <p:cNvSpPr/>
          <p:nvPr/>
        </p:nvSpPr>
        <p:spPr>
          <a:xfrm>
            <a:off x="9340000" y="5290000"/>
            <a:ext cx="2200000" cy="700000"/>
          </a:xfrm>
          <a:prstGeom prst="rect">
            <a:avLst/>
          </a:prstGeom>
          <a:solidFill>
            <a:srgbClr val="2E7D32"/>
          </a:solidFill>
          <a:ln w="12700">
            <a:solidFill>
              <a:srgbClr val="870000"/>
            </a:solidFill>
          </a:ln>
        </p:spPr>
        <p:txBody>
          <a:bodyPr wrap="square" anchor="ctr" lIns="80000" rIns="80000" tIns="60000">
            <a:normAutofit/>
          </a:bodyPr>
          <a:lstStyle/>
          <a:p>
            <a:pPr algn="ctr">
              <a:lnSpc>
                <a:spcPct val="110000"/>
              </a:lnSpc>
              <a:spcAft>
                <a:spcPts val="0"/>
              </a:spcAft>
            </a:pPr>
            <a:r>
              <a:rPr lang="en-US" sz="1300" b="1" dirty="0">
                <a:solidFill>
                  <a:srgbClr val="FFFFFF"/>
                </a:solidFill>
                <a:latin typeface="Calibri" pitchFamily="34" charset="0"/>
              </a:rPr>
              <a:t>Amlodipine/Losartan
(Hypertension)</a:t>
            </a:r>
          </a:p>
          <a:p>
            <a:pPr algn="ctr">
              <a:lnSpc>
                <a:spcPct val="110000"/>
              </a:lnSpc>
              <a:spcAft>
                <a:spcPts val="0"/>
              </a:spcAft>
            </a:pPr>
            <a:r>
              <a:rPr lang="en-US" sz="1150" b="0" dirty="0">
                <a:solidFill>
                  <a:srgbClr val="C8E6C9"/>
                </a:solidFill>
                <a:latin typeface="Calibri" pitchFamily="34" charset="0"/>
              </a:rPr>
              <a:t>ACE inhibitors raise K+</a:t>
            </a:r>
          </a:p>
          <a:p>
            <a:pPr algn="ctr">
              <a:lnSpc>
                <a:spcPct val="110000"/>
              </a:lnSpc>
              <a:spcAft>
                <a:spcPts val="0"/>
              </a:spcAft>
            </a:pPr>
            <a:r>
              <a:rPr lang="en-US" sz="1150" b="0" dirty="0">
                <a:solidFill>
                  <a:srgbClr val="C8E6C9"/>
                </a:solidFill>
                <a:latin typeface="Calibri" pitchFamily="34" charset="0"/>
              </a:rPr>
              <a:t>Avoid excess banana</a:t>
            </a:r>
          </a:p>
          <a:p>
            <a:pPr algn="ctr">
              <a:lnSpc>
                <a:spcPct val="110000"/>
              </a:lnSpc>
              <a:spcAft>
                <a:spcPts val="0"/>
              </a:spcAft>
            </a:pPr>
            <a:r>
              <a:rPr lang="en-US" sz="1150" b="0" dirty="0">
                <a:solidFill>
                  <a:srgbClr val="C8E6C9"/>
                </a:solidFill>
                <a:latin typeface="Calibri" pitchFamily="34" charset="0"/>
              </a:rPr>
              <a:t>Low sodium diet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2582109" y="131214"/>
            <a:ext cx="6837661" cy="584775"/>
          </a:xfrm>
          <a:prstGeom prst="rect">
            <a:avLst/>
          </a:prstGeom>
        </p:spPr>
        <p:txBody>
          <a:bodyPr wrap="square">
            <a:spAutoFit/>
          </a:bodyPr>
          <a:lstStyle/>
          <a:p>
            <a:pPr algn="ctr"/>
            <a:r>
              <a:rPr lang="en-US" sz="2000" b="1" dirty="0">
                <a:solidFill>
                  <a:srgbClr val="0000FF"/>
                </a:solidFill>
                <a:latin typeface="Times New Roman" pitchFamily="18" charset="0"/>
              </a:rPr>
              <a:t>METHODOLOGY (3/4) — LangGraph AI Agent and Meal Generation Pipeline</a:t>
            </a:r>
          </a:p>
        </p:txBody>
      </p:sp>
      <p:sp>
        <p:nvSpPr>
          <p:cNvPr id="3" name="Sub"/>
          <p:cNvSpPr/>
          <p:nvPr/>
        </p:nvSpPr>
        <p:spPr>
          <a:xfrm>
            <a:off x="300000" y="770000"/>
            <a:ext cx="11600000" cy="360000"/>
          </a:xfrm>
          <a:prstGeom prst="rect">
            <a:avLst/>
          </a:prstGeom>
          <a:solidFill>
            <a:srgbClr val="EDE7F6"/>
          </a:solidFill>
          <a:ln w="12700">
            <a:solidFill>
              <a:srgbClr val="9575CD"/>
            </a:solidFill>
          </a:ln>
        </p:spPr>
        <p:txBody>
          <a:bodyPr wrap="square" anchor="ctr" lIns="80000" rIns="80000" tIns="60000">
            <a:normAutofit/>
          </a:bodyPr>
          <a:lstStyle/>
          <a:p>
            <a:pPr algn="ctr">
              <a:lnSpc>
                <a:spcPct val="110000"/>
              </a:lnSpc>
              <a:spcAft>
                <a:spcPts val="0"/>
              </a:spcAft>
            </a:pPr>
            <a:r>
              <a:rPr lang="en-US" sz="1700" b="0" dirty="0">
                <a:solidFill>
                  <a:srgbClr val="4527A0"/>
                </a:solidFill>
                <a:latin typeface="Calibri" pitchFamily="34" charset="0"/>
              </a:rPr>
              <a:t>The AI agent is a 5-node LangGraph StateGraph that routes user messages to the correct processing branch, maintains persistent session memory, and generates regionally accurate Indian meal plans via the Claude API.</a:t>
            </a:r>
          </a:p>
        </p:txBody>
      </p:sp>
      <p:sp>
        <p:nvSpPr>
          <p:cNvPr id="4" name="sec_4"/>
          <p:cNvSpPr/>
          <p:nvPr/>
        </p:nvSpPr>
        <p:spPr>
          <a:xfrm>
            <a:off x="300000" y="1210000"/>
            <a:ext cx="5600000" cy="370000"/>
          </a:xfrm>
          <a:prstGeom prst="rect">
            <a:avLst/>
          </a:prstGeom>
          <a:solidFill>
            <a:srgbClr val="4527A0"/>
          </a:solidFill>
          <a:ln w="12700">
            <a:solidFill>
              <a:srgbClr val="4527A0"/>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LangGraph State Object — What the Agent Remembers Across Sessions</a:t>
            </a:r>
          </a:p>
        </p:txBody>
      </p:sp>
      <p:sp>
        <p:nvSpPr>
          <p:cNvPr id="5" name="sec_5"/>
          <p:cNvSpPr/>
          <p:nvPr/>
        </p:nvSpPr>
        <p:spPr>
          <a:xfrm>
            <a:off x="6100000" y="1210000"/>
            <a:ext cx="5800000" cy="370000"/>
          </a:xfrm>
          <a:prstGeom prst="rect">
            <a:avLst/>
          </a:prstGeom>
          <a:solidFill>
            <a:srgbClr val="1565C0"/>
          </a:solidFill>
          <a:ln w="12700">
            <a:solidFill>
              <a:srgbClr val="1565C0"/>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5-Node Agent Graph — Message Routing Logic</a:t>
            </a:r>
          </a:p>
        </p:txBody>
      </p:sp>
      <p:sp>
        <p:nvSpPr>
          <p:cNvPr id="6" name="state"/>
          <p:cNvSpPr/>
          <p:nvPr/>
        </p:nvSpPr>
        <p:spPr>
          <a:xfrm>
            <a:off x="300000" y="1660000"/>
            <a:ext cx="5500000" cy="2100000"/>
          </a:xfrm>
          <a:prstGeom prst="rect">
            <a:avLst/>
          </a:prstGeom>
          <a:solidFill>
            <a:srgbClr val="F3E5F5"/>
          </a:solidFill>
          <a:ln w="12700">
            <a:solidFill>
              <a:srgbClr val="7B1FA2"/>
            </a:solidFill>
          </a:ln>
        </p:spPr>
        <p:txBody>
          <a:bodyPr wrap="square" anchor="t" lIns="100000" rIns="100000" tIns="80000">
            <a:normAutofit/>
          </a:bodyPr>
          <a:lstStyle/>
          <a:p>
            <a:pPr algn="l" marL="120000">
              <a:lnSpc>
                <a:spcPct val="115000"/>
              </a:lnSpc>
              <a:spcAft>
                <a:spcPts val="80"/>
              </a:spcAft>
            </a:pPr>
            <a:r>
              <a:rPr lang="en-US" sz="1400" b="1" dirty="0">
                <a:solidFill>
                  <a:srgbClr val="4527A0"/>
                </a:solidFill>
                <a:latin typeface="Calibri" pitchFamily="34" charset="0"/>
              </a:rPr>
              <a:t>class AaharState (TypedDict):</a:t>
            </a:r>
          </a:p>
          <a:p>
            <a:pPr algn="l" marL="120000">
              <a:lnSpc>
                <a:spcPct val="115000"/>
              </a:lnSpc>
              <a:spcAft>
                <a:spcPts val="80"/>
              </a:spcAft>
            </a:pPr>
            <a:r>
              <a:rPr lang="en-US" sz="1100" b="0" dirty="0">
                <a:solidFill>
                  <a:srgbClr val="4527A0"/>
                </a:solidFill>
                <a:latin typeface="Calibri" pitchFamily="34" charset="0"/>
              </a:rPr>
              <a:t/>
            </a:r>
          </a:p>
          <a:p>
            <a:pPr algn="l" marL="120000">
              <a:lnSpc>
                <a:spcPct val="115000"/>
              </a:lnSpc>
              <a:spcAft>
                <a:spcPts val="80"/>
              </a:spcAft>
            </a:pPr>
            <a:r>
              <a:rPr lang="en-US" sz="1250" b="0" dirty="0">
                <a:solidFill>
                  <a:srgbClr val="212121"/>
                </a:solidFill>
                <a:latin typeface="Calibri" pitchFamily="34" charset="0"/>
              </a:rPr>
              <a:t>user_id         str</a:t>
            </a:r>
          </a:p>
          <a:p>
            <a:pPr algn="l" marL="120000">
              <a:lnSpc>
                <a:spcPct val="115000"/>
              </a:lnSpc>
              <a:spcAft>
                <a:spcPts val="80"/>
              </a:spcAft>
            </a:pPr>
            <a:r>
              <a:rPr lang="en-US" sz="1250" b="0" dirty="0">
                <a:solidFill>
                  <a:srgbClr val="212121"/>
                </a:solidFill>
                <a:latin typeface="Calibri" pitchFamily="34" charset="0"/>
              </a:rPr>
              <a:t>messages        list    # full conversation history</a:t>
            </a:r>
          </a:p>
          <a:p>
            <a:pPr algn="l" marL="120000">
              <a:lnSpc>
                <a:spcPct val="115000"/>
              </a:lnSpc>
              <a:spcAft>
                <a:spcPts val="80"/>
              </a:spcAft>
            </a:pPr>
            <a:r>
              <a:rPr lang="en-US" sz="1250" b="0" dirty="0">
                <a:solidFill>
                  <a:srgbClr val="212121"/>
                </a:solidFill>
                <a:latin typeface="Calibri" pitchFamily="34" charset="0"/>
              </a:rPr>
              <a:t>profile         dict    # age, sex, region, life_stage</a:t>
            </a:r>
          </a:p>
          <a:p>
            <a:pPr algn="l" marL="120000">
              <a:lnSpc>
                <a:spcPct val="115000"/>
              </a:lnSpc>
              <a:spcAft>
                <a:spcPts val="80"/>
              </a:spcAft>
            </a:pPr>
            <a:r>
              <a:rPr lang="en-US" sz="1250" b="0" dirty="0">
                <a:solidFill>
                  <a:srgbClr val="212121"/>
                </a:solidFill>
                <a:latin typeface="Calibri" pitchFamily="34" charset="0"/>
              </a:rPr>
              <a:t>medicines       list    # active meds with impact flags</a:t>
            </a:r>
          </a:p>
          <a:p>
            <a:pPr algn="l" marL="120000">
              <a:lnSpc>
                <a:spcPct val="115000"/>
              </a:lnSpc>
              <a:spcAft>
                <a:spcPts val="80"/>
              </a:spcAft>
            </a:pPr>
            <a:r>
              <a:rPr lang="en-US" sz="1250" b="0" dirty="0">
                <a:solidFill>
                  <a:srgbClr val="212121"/>
                </a:solidFill>
                <a:latin typeface="Calibri" pitchFamily="34" charset="0"/>
              </a:rPr>
              <a:t>daily_targets   dict    # ICMR-NIN adjusted targets</a:t>
            </a:r>
          </a:p>
          <a:p>
            <a:pPr algn="l" marL="120000">
              <a:lnSpc>
                <a:spcPct val="115000"/>
              </a:lnSpc>
              <a:spcAft>
                <a:spcPts val="80"/>
              </a:spcAft>
            </a:pPr>
            <a:r>
              <a:rPr lang="en-US" sz="1250" b="0" dirty="0">
                <a:solidFill>
                  <a:srgbClr val="212121"/>
                </a:solidFill>
                <a:latin typeface="Calibri" pitchFamily="34" charset="0"/>
              </a:rPr>
              <a:t>district_foods  list    # regional foods for user area</a:t>
            </a:r>
          </a:p>
          <a:p>
            <a:pPr algn="l" marL="120000">
              <a:lnSpc>
                <a:spcPct val="115000"/>
              </a:lnSpc>
              <a:spcAft>
                <a:spcPts val="80"/>
              </a:spcAft>
            </a:pPr>
            <a:r>
              <a:rPr lang="en-US" sz="1250" b="0" dirty="0">
                <a:solidFill>
                  <a:srgbClr val="212121"/>
                </a:solidFill>
                <a:latin typeface="Calibri" pitchFamily="34" charset="0"/>
              </a:rPr>
              <a:t>today_intake    dict    # nutrients consumed so far</a:t>
            </a:r>
          </a:p>
          <a:p>
            <a:pPr algn="l" marL="120000">
              <a:lnSpc>
                <a:spcPct val="115000"/>
              </a:lnSpc>
              <a:spcAft>
                <a:spcPts val="80"/>
              </a:spcAft>
            </a:pPr>
            <a:r>
              <a:rPr lang="en-US" sz="1250" b="0" dirty="0">
                <a:solidFill>
                  <a:srgbClr val="212121"/>
                </a:solidFill>
                <a:latin typeface="Calibri" pitchFamily="34" charset="0"/>
              </a:rPr>
              <a:t>intent          str     # classified message intent</a:t>
            </a:r>
          </a:p>
          <a:p>
            <a:pPr algn="l" marL="120000">
              <a:lnSpc>
                <a:spcPct val="115000"/>
              </a:lnSpc>
              <a:spcAft>
                <a:spcPts val="80"/>
              </a:spcAft>
            </a:pPr>
            <a:r>
              <a:rPr lang="en-US" sz="1250" b="0" dirty="0">
                <a:solidFill>
                  <a:srgbClr val="212121"/>
                </a:solidFill>
                <a:latin typeface="Calibri" pitchFamily="34" charset="0"/>
              </a:rPr>
              <a:t>language        str     # hi / en / hinglish</a:t>
            </a:r>
          </a:p>
          <a:p>
            <a:pPr algn="l" marL="120000">
              <a:lnSpc>
                <a:spcPct val="115000"/>
              </a:lnSpc>
              <a:spcAft>
                <a:spcPts val="80"/>
              </a:spcAft>
            </a:pPr>
            <a:r>
              <a:rPr lang="en-US" sz="1250" b="0" dirty="0">
                <a:solidFill>
                  <a:srgbClr val="212121"/>
                </a:solidFill>
                <a:latin typeface="Calibri" pitchFamily="34" charset="0"/>
              </a:rPr>
              <a:t>response        str     # final formatted response</a:t>
            </a:r>
          </a:p>
          <a:p>
            <a:pPr algn="l" marL="120000">
              <a:lnSpc>
                <a:spcPct val="115000"/>
              </a:lnSpc>
              <a:spcAft>
                <a:spcPts val="80"/>
              </a:spcAft>
            </a:pPr>
            <a:r>
              <a:rPr lang="en-US" sz="1100" b="0" dirty="0">
                <a:solidFill>
                  <a:srgbClr val="4527A0"/>
                </a:solidFill>
                <a:latin typeface="Calibri" pitchFamily="34" charset="0"/>
              </a:rPr>
              <a:t/>
            </a:r>
          </a:p>
          <a:p>
            <a:pPr algn="l" marL="120000">
              <a:lnSpc>
                <a:spcPct val="115000"/>
              </a:lnSpc>
              <a:spcAft>
                <a:spcPts val="80"/>
              </a:spcAft>
            </a:pPr>
            <a:r>
              <a:rPr lang="en-US" sz="1300" b="1" dirty="0">
                <a:solidFill>
                  <a:srgbClr val="4527A0"/>
                </a:solidFill>
                <a:latin typeface="Calibri" pitchFamily="34" charset="0"/>
              </a:rPr>
              <a:t>Persisted via PostgresSaver after every message</a:t>
            </a:r>
          </a:p>
        </p:txBody>
      </p:sp>
      <p:sp>
        <p:nvSpPr>
          <p:cNvPr id="20" name="node0"/>
          <p:cNvSpPr/>
          <p:nvPr/>
        </p:nvSpPr>
        <p:spPr>
          <a:xfrm>
            <a:off x="6050000" y="1660000"/>
            <a:ext cx="5400000" cy="480000"/>
          </a:xfrm>
          <a:prstGeom prst="rect">
            <a:avLst/>
          </a:prstGeom>
          <a:solidFill>
            <a:srgbClr val="5C6BC0"/>
          </a:solidFill>
          <a:ln w="12700">
            <a:solidFill>
              <a:srgbClr val="3949AB"/>
            </a:solidFill>
          </a:ln>
        </p:spPr>
        <p:txBody>
          <a:bodyPr wrap="square" anchor="t" lIns="100000" rIns="100000" tIns="80000">
            <a:normAutofit/>
          </a:bodyPr>
          <a:lstStyle/>
          <a:p>
            <a:pPr algn="l" marL="120000">
              <a:lnSpc>
                <a:spcPct val="115000"/>
              </a:lnSpc>
              <a:spcAft>
                <a:spcPts val="80"/>
              </a:spcAft>
            </a:pPr>
            <a:r>
              <a:rPr lang="en-US" sz="1400" b="1" dirty="0">
                <a:solidFill>
                  <a:srgbClr val="FFFFFF"/>
                </a:solidFill>
                <a:latin typeface="Calibri" pitchFamily="34" charset="0"/>
              </a:rPr>
              <a:t>intake_node</a:t>
            </a:r>
          </a:p>
          <a:p>
            <a:pPr algn="l" marL="120000">
              <a:lnSpc>
                <a:spcPct val="115000"/>
              </a:lnSpc>
              <a:spcAft>
                <a:spcPts val="80"/>
              </a:spcAft>
            </a:pPr>
            <a:r>
              <a:rPr lang="en-US" sz="1200" b="0" dirty="0">
                <a:solidFill>
                  <a:srgbClr val="C5CAE9"/>
                </a:solidFill>
                <a:latin typeface="Calibri" pitchFamily="34" charset="0"/>
              </a:rPr>
              <a:t>Parse user message; extract any context updates (new symptom, medicine change); load full profile from DB</a:t>
            </a:r>
          </a:p>
        </p:txBody>
      </p:sp>
      <p:sp>
        <p:nvSpPr>
          <p:cNvPr id="30" name="narr0"/>
          <p:cNvSpPr>
            <a:spLocks noChangeArrowheads="1"/>
          </p:cNvSpPr>
          <p:nvPr/>
        </p:nvSpPr>
        <p:spPr>
          <a:xfrm>
            <a:off x="8660000" y="2140000"/>
            <a:ext cx="180000" cy="50000"/>
          </a:xfrm>
          <a:prstGeom prst="downArrow">
            <a:avLst>
              <a:gd name="adj1" fmla="val 50000"/>
              <a:gd name="adj2" fmla="val 50000"/>
            </a:avLst>
          </a:prstGeom>
          <a:solidFill>
            <a:srgbClr val="1A237E"/>
          </a:solidFill>
        </p:spPr>
        <p:txBody>
          <a:bodyPr/>
          <a:lstStyle/>
          <a:p/>
        </p:txBody>
      </p:sp>
      <p:sp>
        <p:nvSpPr>
          <p:cNvPr id="21" name="node1"/>
          <p:cNvSpPr/>
          <p:nvPr/>
        </p:nvSpPr>
        <p:spPr>
          <a:xfrm>
            <a:off x="6050000" y="2190000"/>
            <a:ext cx="5400000" cy="480000"/>
          </a:xfrm>
          <a:prstGeom prst="rect">
            <a:avLst/>
          </a:prstGeom>
          <a:solidFill>
            <a:srgbClr val="7E57C2"/>
          </a:solidFill>
          <a:ln w="12700">
            <a:solidFill>
              <a:srgbClr val="3949AB"/>
            </a:solidFill>
          </a:ln>
        </p:spPr>
        <p:txBody>
          <a:bodyPr wrap="square" anchor="t" lIns="100000" rIns="100000" tIns="80000">
            <a:normAutofit/>
          </a:bodyPr>
          <a:lstStyle/>
          <a:p>
            <a:pPr algn="l" marL="120000">
              <a:lnSpc>
                <a:spcPct val="115000"/>
              </a:lnSpc>
              <a:spcAft>
                <a:spcPts val="80"/>
              </a:spcAft>
            </a:pPr>
            <a:r>
              <a:rPr lang="en-US" sz="1400" b="1" dirty="0">
                <a:solidFill>
                  <a:srgbClr val="FFFFFF"/>
                </a:solidFill>
                <a:latin typeface="Calibri" pitchFamily="34" charset="0"/>
              </a:rPr>
              <a:t>route_node</a:t>
            </a:r>
          </a:p>
          <a:p>
            <a:pPr algn="l" marL="120000">
              <a:lnSpc>
                <a:spcPct val="115000"/>
              </a:lnSpc>
              <a:spcAft>
                <a:spcPts val="80"/>
              </a:spcAft>
            </a:pPr>
            <a:r>
              <a:rPr lang="en-US" sz="1200" b="0" dirty="0">
                <a:solidFill>
                  <a:srgbClr val="D1C4E9"/>
                </a:solidFill>
                <a:latin typeface="Calibri" pitchFamily="34" charset="0"/>
              </a:rPr>
              <a:t>LLM classifier: meal_request | medicine_question | nutrient_query | log_food | general_chat → routes to correct branch</a:t>
            </a:r>
          </a:p>
        </p:txBody>
      </p:sp>
      <p:sp>
        <p:nvSpPr>
          <p:cNvPr id="31" name="narr1"/>
          <p:cNvSpPr>
            <a:spLocks noChangeArrowheads="1"/>
          </p:cNvSpPr>
          <p:nvPr/>
        </p:nvSpPr>
        <p:spPr>
          <a:xfrm>
            <a:off x="8660000" y="2670000"/>
            <a:ext cx="180000" cy="50000"/>
          </a:xfrm>
          <a:prstGeom prst="downArrow">
            <a:avLst>
              <a:gd name="adj1" fmla="val 50000"/>
              <a:gd name="adj2" fmla="val 50000"/>
            </a:avLst>
          </a:prstGeom>
          <a:solidFill>
            <a:srgbClr val="1A237E"/>
          </a:solidFill>
        </p:spPr>
        <p:txBody>
          <a:bodyPr/>
          <a:lstStyle/>
          <a:p/>
        </p:txBody>
      </p:sp>
      <p:sp>
        <p:nvSpPr>
          <p:cNvPr id="22" name="node2"/>
          <p:cNvSpPr/>
          <p:nvPr/>
        </p:nvSpPr>
        <p:spPr>
          <a:xfrm>
            <a:off x="6050000" y="2720000"/>
            <a:ext cx="5400000" cy="480000"/>
          </a:xfrm>
          <a:prstGeom prst="rect">
            <a:avLst/>
          </a:prstGeom>
          <a:solidFill>
            <a:srgbClr val="9575CD"/>
          </a:solidFill>
          <a:ln w="12700">
            <a:solidFill>
              <a:srgbClr val="3949AB"/>
            </a:solidFill>
          </a:ln>
        </p:spPr>
        <p:txBody>
          <a:bodyPr wrap="square" anchor="t" lIns="100000" rIns="100000" tIns="80000">
            <a:normAutofit/>
          </a:bodyPr>
          <a:lstStyle/>
          <a:p>
            <a:pPr algn="l" marL="120000">
              <a:lnSpc>
                <a:spcPct val="115000"/>
              </a:lnSpc>
              <a:spcAft>
                <a:spcPts val="80"/>
              </a:spcAft>
            </a:pPr>
            <a:r>
              <a:rPr lang="en-US" sz="1400" b="1" dirty="0">
                <a:solidFill>
                  <a:srgbClr val="FFFFFF"/>
                </a:solidFill>
                <a:latin typeface="Calibri" pitchFamily="34" charset="0"/>
              </a:rPr>
              <a:t>meal_node</a:t>
            </a:r>
          </a:p>
          <a:p>
            <a:pPr algn="l" marL="120000">
              <a:lnSpc>
                <a:spcPct val="115000"/>
              </a:lnSpc>
              <a:spcAft>
                <a:spcPts val="80"/>
              </a:spcAft>
            </a:pPr>
            <a:r>
              <a:rPr lang="en-US" sz="1200" b="0" dirty="0">
                <a:solidFill>
                  <a:srgbClr val="D1C4E9"/>
                </a:solidFill>
                <a:latin typeface="Calibri" pitchFamily="34" charset="0"/>
              </a:rPr>
              <a:t>Runs inference engine → fetches district foods → calls Claude API with full context → calculates IFCT nutrients per meal</a:t>
            </a:r>
          </a:p>
        </p:txBody>
      </p:sp>
      <p:sp>
        <p:nvSpPr>
          <p:cNvPr id="32" name="narr2"/>
          <p:cNvSpPr>
            <a:spLocks noChangeArrowheads="1"/>
          </p:cNvSpPr>
          <p:nvPr/>
        </p:nvSpPr>
        <p:spPr>
          <a:xfrm>
            <a:off x="8660000" y="3200000"/>
            <a:ext cx="180000" cy="50000"/>
          </a:xfrm>
          <a:prstGeom prst="downArrow">
            <a:avLst>
              <a:gd name="adj1" fmla="val 50000"/>
              <a:gd name="adj2" fmla="val 50000"/>
            </a:avLst>
          </a:prstGeom>
          <a:solidFill>
            <a:srgbClr val="1A237E"/>
          </a:solidFill>
        </p:spPr>
        <p:txBody>
          <a:bodyPr/>
          <a:lstStyle/>
          <a:p/>
        </p:txBody>
      </p:sp>
      <p:sp>
        <p:nvSpPr>
          <p:cNvPr id="23" name="node3"/>
          <p:cNvSpPr/>
          <p:nvPr/>
        </p:nvSpPr>
        <p:spPr>
          <a:xfrm>
            <a:off x="6050000" y="3250000"/>
            <a:ext cx="5400000" cy="480000"/>
          </a:xfrm>
          <a:prstGeom prst="rect">
            <a:avLst/>
          </a:prstGeom>
          <a:solidFill>
            <a:srgbClr val="AB47BC"/>
          </a:solidFill>
          <a:ln w="12700">
            <a:solidFill>
              <a:srgbClr val="3949AB"/>
            </a:solidFill>
          </a:ln>
        </p:spPr>
        <p:txBody>
          <a:bodyPr wrap="square" anchor="t" lIns="100000" rIns="100000" tIns="80000">
            <a:normAutofit/>
          </a:bodyPr>
          <a:lstStyle/>
          <a:p>
            <a:pPr algn="l" marL="120000">
              <a:lnSpc>
                <a:spcPct val="115000"/>
              </a:lnSpc>
              <a:spcAft>
                <a:spcPts val="80"/>
              </a:spcAft>
            </a:pPr>
            <a:r>
              <a:rPr lang="en-US" sz="1400" b="1" dirty="0">
                <a:solidFill>
                  <a:srgbClr val="FFFFFF"/>
                </a:solidFill>
                <a:latin typeface="Calibri" pitchFamily="34" charset="0"/>
              </a:rPr>
              <a:t>info_node</a:t>
            </a:r>
          </a:p>
          <a:p>
            <a:pPr algn="l" marL="120000">
              <a:lnSpc>
                <a:spcPct val="115000"/>
              </a:lnSpc>
              <a:spcAft>
                <a:spcPts val="80"/>
              </a:spcAft>
            </a:pPr>
            <a:r>
              <a:rPr lang="en-US" sz="1200" b="0" dirty="0">
                <a:solidFill>
                  <a:srgbClr val="D1C4E9"/>
                </a:solidFill>
                <a:latin typeface="Calibri" pitchFamily="34" charset="0"/>
              </a:rPr>
              <a:t>Answers nutrition/medicine questions using Claude with user health context. Hindi/English/Hinglish responses</a:t>
            </a:r>
          </a:p>
        </p:txBody>
      </p:sp>
      <p:sp>
        <p:nvSpPr>
          <p:cNvPr id="33" name="narr3"/>
          <p:cNvSpPr>
            <a:spLocks noChangeArrowheads="1"/>
          </p:cNvSpPr>
          <p:nvPr/>
        </p:nvSpPr>
        <p:spPr>
          <a:xfrm>
            <a:off x="8660000" y="3730000"/>
            <a:ext cx="180000" cy="50000"/>
          </a:xfrm>
          <a:prstGeom prst="downArrow">
            <a:avLst>
              <a:gd name="adj1" fmla="val 50000"/>
              <a:gd name="adj2" fmla="val 50000"/>
            </a:avLst>
          </a:prstGeom>
          <a:solidFill>
            <a:srgbClr val="1A237E"/>
          </a:solidFill>
        </p:spPr>
        <p:txBody>
          <a:bodyPr/>
          <a:lstStyle/>
          <a:p/>
        </p:txBody>
      </p:sp>
      <p:sp>
        <p:nvSpPr>
          <p:cNvPr id="24" name="node4"/>
          <p:cNvSpPr/>
          <p:nvPr/>
        </p:nvSpPr>
        <p:spPr>
          <a:xfrm>
            <a:off x="6050000" y="3780000"/>
            <a:ext cx="5400000" cy="480000"/>
          </a:xfrm>
          <a:prstGeom prst="rect">
            <a:avLst/>
          </a:prstGeom>
          <a:solidFill>
            <a:srgbClr val="CE93D8"/>
          </a:solidFill>
          <a:ln w="12700">
            <a:solidFill>
              <a:srgbClr val="3949AB"/>
            </a:solidFill>
          </a:ln>
        </p:spPr>
        <p:txBody>
          <a:bodyPr wrap="square" anchor="t" lIns="100000" rIns="100000" tIns="80000">
            <a:normAutofit/>
          </a:bodyPr>
          <a:lstStyle/>
          <a:p>
            <a:pPr algn="l" marL="120000">
              <a:lnSpc>
                <a:spcPct val="115000"/>
              </a:lnSpc>
              <a:spcAft>
                <a:spcPts val="80"/>
              </a:spcAft>
            </a:pPr>
            <a:r>
              <a:rPr lang="en-US" sz="1400" b="1" dirty="0">
                <a:solidFill>
                  <a:srgbClr val="FFFFFF"/>
                </a:solidFill>
                <a:latin typeface="Calibri" pitchFamily="34" charset="0"/>
              </a:rPr>
              <a:t>format_node</a:t>
            </a:r>
          </a:p>
          <a:p>
            <a:pPr algn="l" marL="120000">
              <a:lnSpc>
                <a:spcPct val="115000"/>
              </a:lnSpc>
              <a:spcAft>
                <a:spcPts val="80"/>
              </a:spcAft>
            </a:pPr>
            <a:r>
              <a:rPr lang="en-US" sz="1200" b="0" dirty="0">
                <a:solidFill>
                  <a:srgbClr val="EDE7F6"/>
                </a:solidFill>
                <a:latin typeface="Calibri" pitchFamily="34" charset="0"/>
              </a:rPr>
              <a:t>Formats output in user language; converts gram weights to Indian units (katori/chapati/glass); adds medicine timing tips</a:t>
            </a:r>
          </a:p>
        </p:txBody>
      </p:sp>
      <p:sp>
        <p:nvSpPr>
          <p:cNvPr id="40" name="sec_40"/>
          <p:cNvSpPr/>
          <p:nvPr/>
        </p:nvSpPr>
        <p:spPr>
          <a:xfrm>
            <a:off x="300000" y="3840000"/>
            <a:ext cx="11600000" cy="370000"/>
          </a:xfrm>
          <a:prstGeom prst="rect">
            <a:avLst/>
          </a:prstGeom>
          <a:solidFill>
            <a:srgbClr val="BF360C"/>
          </a:solidFill>
          <a:ln w="12700">
            <a:solidFill>
              <a:srgbClr val="BF360C"/>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Claude API — Nutrient-Constrained Meal Generation Prompt Strategy</a:t>
            </a:r>
          </a:p>
        </p:txBody>
      </p:sp>
      <p:sp>
        <p:nvSpPr>
          <p:cNvPr id="41" name="prompt_l"/>
          <p:cNvSpPr/>
          <p:nvPr/>
        </p:nvSpPr>
        <p:spPr>
          <a:xfrm>
            <a:off x="300000" y="4290000"/>
            <a:ext cx="5600000" cy="1780000"/>
          </a:xfrm>
          <a:prstGeom prst="rect">
            <a:avLst/>
          </a:prstGeom>
          <a:solidFill>
            <a:srgbClr val="FFF3E0"/>
          </a:solidFill>
          <a:ln w="12700">
            <a:solidFill>
              <a:srgbClr val="E64A19"/>
            </a:solidFill>
          </a:ln>
        </p:spPr>
        <p:txBody>
          <a:bodyPr wrap="square" anchor="t" lIns="100000" rIns="100000" tIns="80000">
            <a:normAutofit/>
          </a:bodyPr>
          <a:lstStyle/>
          <a:p>
            <a:pPr algn="l" marL="120000">
              <a:lnSpc>
                <a:spcPct val="115000"/>
              </a:lnSpc>
              <a:spcAft>
                <a:spcPts val="80"/>
              </a:spcAft>
            </a:pPr>
            <a:r>
              <a:rPr lang="en-US" sz="1500" b="1" dirty="0">
                <a:solidFill>
                  <a:srgbClr val="BF360C"/>
                </a:solidFill>
                <a:latin typeface="Calibri" pitchFamily="34" charset="0"/>
              </a:rPr>
              <a:t>What the system prompt contains:</a:t>
            </a:r>
          </a:p>
          <a:p>
            <a:pPr algn="l" marL="120000">
              <a:lnSpc>
                <a:spcPct val="115000"/>
              </a:lnSpc>
              <a:spcAft>
                <a:spcPts val="80"/>
              </a:spcAft>
            </a:pPr>
            <a:r>
              <a:rPr lang="en-US" sz="1100" b="0" dirty="0">
                <a:solidFill>
                  <a:srgbClr val="333333"/>
                </a:solidFill>
                <a:latin typeface="Calibri" pitchFamily="34" charset="0"/>
              </a:rPr>
              <a:t/>
            </a:r>
          </a:p>
          <a:p>
            <a:pPr algn="l" marL="120000">
              <a:lnSpc>
                <a:spcPct val="115000"/>
              </a:lnSpc>
              <a:spcAft>
                <a:spcPts val="80"/>
              </a:spcAft>
            </a:pPr>
            <a:r>
              <a:rPr lang="en-US" sz="1300" b="0" dirty="0">
                <a:solidFill>
                  <a:srgbClr val="212121"/>
                </a:solidFill>
                <a:latin typeface="Calibri" pitchFamily="34" charset="0"/>
              </a:rPr>
              <a:t>  User profile summary (region, age, life stage)</a:t>
            </a:r>
          </a:p>
          <a:p>
            <a:pPr algn="l" marL="120000">
              <a:lnSpc>
                <a:spcPct val="115000"/>
              </a:lnSpc>
              <a:spcAft>
                <a:spcPts val="80"/>
              </a:spcAft>
            </a:pPr>
            <a:r>
              <a:rPr lang="en-US" sz="1300" b="0" dirty="0">
                <a:solidFill>
                  <a:srgbClr val="212121"/>
                </a:solidFill>
                <a:latin typeface="Calibri" pitchFamily="34" charset="0"/>
              </a:rPr>
              <a:t>  Daily calorie target + protein floor</a:t>
            </a:r>
          </a:p>
          <a:p>
            <a:pPr algn="l" marL="120000">
              <a:lnSpc>
                <a:spcPct val="115000"/>
              </a:lnSpc>
              <a:spcAft>
                <a:spcPts val="80"/>
              </a:spcAft>
            </a:pPr>
            <a:r>
              <a:rPr lang="en-US" sz="1300" b="0" dirty="0">
                <a:solidFill>
                  <a:srgbClr val="212121"/>
                </a:solidFill>
                <a:latin typeface="Calibri" pitchFamily="34" charset="0"/>
              </a:rPr>
              <a:t>  Top 5 priority nutrients with exact mg/mcg targets</a:t>
            </a:r>
          </a:p>
          <a:p>
            <a:pPr algn="l" marL="120000">
              <a:lnSpc>
                <a:spcPct val="115000"/>
              </a:lnSpc>
              <a:spcAft>
                <a:spcPts val="80"/>
              </a:spcAft>
            </a:pPr>
            <a:r>
              <a:rPr lang="en-US" sz="1300" b="0" dirty="0">
                <a:solidFill>
                  <a:srgbClr val="212121"/>
                </a:solidFill>
                <a:latin typeface="Calibri" pitchFamily="34" charset="0"/>
              </a:rPr>
              <a:t>  List of 30-50 regionally available foods</a:t>
            </a:r>
          </a:p>
          <a:p>
            <a:pPr algn="l" marL="120000">
              <a:lnSpc>
                <a:spcPct val="115000"/>
              </a:lnSpc>
              <a:spcAft>
                <a:spcPts val="80"/>
              </a:spcAft>
            </a:pPr>
            <a:r>
              <a:rPr lang="en-US" sz="1300" b="0" dirty="0">
                <a:solidFill>
                  <a:srgbClr val="212121"/>
                </a:solidFill>
                <a:latin typeface="Calibri" pitchFamily="34" charset="0"/>
              </a:rPr>
              <a:t>  Active medication food flags (e.g. avoid_high_fat)</a:t>
            </a:r>
          </a:p>
          <a:p>
            <a:pPr algn="l" marL="120000">
              <a:lnSpc>
                <a:spcPct val="115000"/>
              </a:lnSpc>
              <a:spcAft>
                <a:spcPts val="80"/>
              </a:spcAft>
            </a:pPr>
            <a:r>
              <a:rPr lang="en-US" sz="1300" b="0" dirty="0">
                <a:solidFill>
                  <a:srgbClr val="212121"/>
                </a:solidFill>
                <a:latin typeface="Calibri" pitchFamily="34" charset="0"/>
              </a:rPr>
              <a:t>  Physio-state flags (e.g. include_omega3_rich)</a:t>
            </a:r>
          </a:p>
          <a:p>
            <a:pPr algn="l" marL="120000">
              <a:lnSpc>
                <a:spcPct val="115000"/>
              </a:lnSpc>
              <a:spcAft>
                <a:spcPts val="80"/>
              </a:spcAft>
            </a:pPr>
            <a:r>
              <a:rPr lang="en-US" sz="1300" b="0" dirty="0">
                <a:solidFill>
                  <a:srgbClr val="212121"/>
                </a:solidFill>
                <a:latin typeface="Calibri" pitchFamily="34" charset="0"/>
              </a:rPr>
              <a:t>  Language preference: Hindi / English / Hinglish</a:t>
            </a:r>
          </a:p>
          <a:p>
            <a:pPr algn="l" marL="120000">
              <a:lnSpc>
                <a:spcPct val="115000"/>
              </a:lnSpc>
              <a:spcAft>
                <a:spcPts val="80"/>
              </a:spcAft>
            </a:pPr>
            <a:r>
              <a:rPr lang="en-US" sz="1300" b="0" dirty="0">
                <a:solidFill>
                  <a:srgbClr val="212121"/>
                </a:solidFill>
                <a:latin typeface="Calibri" pitchFamily="34" charset="0"/>
              </a:rPr>
              <a:t>  Required output: JSON with breakfast/lunch/dinner</a:t>
            </a:r>
          </a:p>
          <a:p>
            <a:pPr algn="l" marL="120000">
              <a:lnSpc>
                <a:spcPct val="115000"/>
              </a:lnSpc>
              <a:spcAft>
                <a:spcPts val="80"/>
              </a:spcAft>
            </a:pPr>
            <a:r>
              <a:rPr lang="en-US" sz="1300" b="0" dirty="0">
                <a:solidFill>
                  <a:srgbClr val="212121"/>
                </a:solidFill>
                <a:latin typeface="Calibri" pitchFamily="34" charset="0"/>
              </a:rPr>
              <a:t>    /snack + medicine_tip + day_total</a:t>
            </a:r>
          </a:p>
        </p:txBody>
      </p:sp>
      <p:sp>
        <p:nvSpPr>
          <p:cNvPr id="42" name="prompt_r"/>
          <p:cNvSpPr/>
          <p:nvPr/>
        </p:nvSpPr>
        <p:spPr>
          <a:xfrm>
            <a:off x="6100000" y="4290000"/>
            <a:ext cx="5800000" cy="1780000"/>
          </a:xfrm>
          <a:prstGeom prst="rect">
            <a:avLst/>
          </a:prstGeom>
          <a:solidFill>
            <a:srgbClr val="FFF8E1"/>
          </a:solidFill>
          <a:ln w="12700">
            <a:solidFill>
              <a:srgbClr val="F57F17"/>
            </a:solidFill>
          </a:ln>
        </p:spPr>
        <p:txBody>
          <a:bodyPr wrap="square" anchor="t" lIns="100000" rIns="100000" tIns="80000">
            <a:normAutofit/>
          </a:bodyPr>
          <a:lstStyle/>
          <a:p>
            <a:pPr algn="l" marL="120000">
              <a:lnSpc>
                <a:spcPct val="115000"/>
              </a:lnSpc>
              <a:spcAft>
                <a:spcPts val="80"/>
              </a:spcAft>
            </a:pPr>
            <a:r>
              <a:rPr lang="en-US" sz="1500" b="1" dirty="0">
                <a:solidFill>
                  <a:srgbClr val="BF360C"/>
                </a:solidFill>
                <a:latin typeface="Calibri" pitchFamily="34" charset="0"/>
              </a:rPr>
              <a:t>Critical rule: Claude generates meal names ONLY.</a:t>
            </a:r>
          </a:p>
          <a:p>
            <a:pPr algn="l" marL="120000">
              <a:lnSpc>
                <a:spcPct val="115000"/>
              </a:lnSpc>
              <a:spcAft>
                <a:spcPts val="80"/>
              </a:spcAft>
            </a:pPr>
            <a:r>
              <a:rPr lang="en-US" sz="1100" b="0" dirty="0">
                <a:solidFill>
                  <a:srgbClr val="333333"/>
                </a:solidFill>
                <a:latin typeface="Calibri" pitchFamily="34" charset="0"/>
              </a:rPr>
              <a:t/>
            </a:r>
          </a:p>
          <a:p>
            <a:pPr algn="l" marL="120000">
              <a:lnSpc>
                <a:spcPct val="115000"/>
              </a:lnSpc>
              <a:spcAft>
                <a:spcPts val="80"/>
              </a:spcAft>
            </a:pPr>
            <a:r>
              <a:rPr lang="en-US" sz="1300" b="0" dirty="0">
                <a:solidFill>
                  <a:srgbClr val="212121"/>
                </a:solidFill>
                <a:latin typeface="Calibri" pitchFamily="34" charset="0"/>
              </a:rPr>
              <a:t>Claude NEVER outputs calorie numbers or nutrient</a:t>
            </a:r>
          </a:p>
          <a:p>
            <a:pPr algn="l" marL="120000">
              <a:lnSpc>
                <a:spcPct val="115000"/>
              </a:lnSpc>
              <a:spcAft>
                <a:spcPts val="80"/>
              </a:spcAft>
            </a:pPr>
            <a:r>
              <a:rPr lang="en-US" sz="1300" b="0" dirty="0">
                <a:solidFill>
                  <a:srgbClr val="212121"/>
                </a:solidFill>
                <a:latin typeface="Calibri" pitchFamily="34" charset="0"/>
              </a:rPr>
              <a:t>values. All nutrition numbers come from the IFCT</a:t>
            </a:r>
          </a:p>
          <a:p>
            <a:pPr algn="l" marL="120000">
              <a:lnSpc>
                <a:spcPct val="115000"/>
              </a:lnSpc>
              <a:spcAft>
                <a:spcPts val="80"/>
              </a:spcAft>
            </a:pPr>
            <a:r>
              <a:rPr lang="en-US" sz="1300" b="0" dirty="0">
                <a:solidFill>
                  <a:srgbClr val="212121"/>
                </a:solidFill>
                <a:latin typeface="Calibri" pitchFamily="34" charset="0"/>
              </a:rPr>
              <a:t>2017 database after the meal is generated.</a:t>
            </a:r>
          </a:p>
          <a:p>
            <a:pPr algn="l" marL="120000">
              <a:lnSpc>
                <a:spcPct val="115000"/>
              </a:lnSpc>
              <a:spcAft>
                <a:spcPts val="80"/>
              </a:spcAft>
            </a:pPr>
            <a:r>
              <a:rPr lang="en-US" sz="1100" b="0" dirty="0">
                <a:solidFill>
                  <a:srgbClr val="333333"/>
                </a:solidFill>
                <a:latin typeface="Calibri" pitchFamily="34" charset="0"/>
              </a:rPr>
              <a:t/>
            </a:r>
          </a:p>
          <a:p>
            <a:pPr algn="l" marL="120000">
              <a:lnSpc>
                <a:spcPct val="115000"/>
              </a:lnSpc>
              <a:spcAft>
                <a:spcPts val="80"/>
              </a:spcAft>
            </a:pPr>
            <a:r>
              <a:rPr lang="en-US" sz="1400" b="1" dirty="0">
                <a:solidFill>
                  <a:srgbClr val="E65100"/>
                </a:solidFill>
                <a:latin typeface="Calibri" pitchFamily="34" charset="0"/>
              </a:rPr>
              <a:t>Post-generation flow:</a:t>
            </a:r>
          </a:p>
          <a:p>
            <a:pPr algn="l" marL="120000">
              <a:lnSpc>
                <a:spcPct val="115000"/>
              </a:lnSpc>
              <a:spcAft>
                <a:spcPts val="80"/>
              </a:spcAft>
            </a:pPr>
            <a:r>
              <a:rPr lang="en-US" sz="1300" b="0" dirty="0">
                <a:solidFill>
                  <a:srgbClr val="212121"/>
                </a:solidFill>
                <a:latin typeface="Calibri" pitchFamily="34" charset="0"/>
              </a:rPr>
              <a:t>1. Claude returns meal JSON</a:t>
            </a:r>
          </a:p>
          <a:p>
            <a:pPr algn="l" marL="120000">
              <a:lnSpc>
                <a:spcPct val="115000"/>
              </a:lnSpc>
              <a:spcAft>
                <a:spcPts val="80"/>
              </a:spcAft>
            </a:pPr>
            <a:r>
              <a:rPr lang="en-US" sz="1300" b="0" dirty="0">
                <a:solidFill>
                  <a:srgbClr val="212121"/>
                </a:solidFill>
                <a:latin typeface="Calibri" pitchFamily="34" charset="0"/>
              </a:rPr>
              <a:t>2. Each food item is matched to IFCT database</a:t>
            </a:r>
          </a:p>
          <a:p>
            <a:pPr algn="l" marL="120000">
              <a:lnSpc>
                <a:spcPct val="115000"/>
              </a:lnSpc>
              <a:spcAft>
                <a:spcPts val="80"/>
              </a:spcAft>
            </a:pPr>
            <a:r>
              <a:rPr lang="en-US" sz="1300" b="0" dirty="0">
                <a:solidFill>
                  <a:srgbClr val="212121"/>
                </a:solidFill>
                <a:latin typeface="Calibri" pitchFamily="34" charset="0"/>
              </a:rPr>
              <a:t>3. Nutrients calculated per portion (grams lookup)</a:t>
            </a:r>
          </a:p>
          <a:p>
            <a:pPr algn="l" marL="120000">
              <a:lnSpc>
                <a:spcPct val="115000"/>
              </a:lnSpc>
              <a:spcAft>
                <a:spcPts val="80"/>
              </a:spcAft>
            </a:pPr>
            <a:r>
              <a:rPr lang="en-US" sz="1300" b="0" dirty="0">
                <a:solidFill>
                  <a:srgbClr val="212121"/>
                </a:solidFill>
                <a:latin typeface="Calibri" pitchFamily="34" charset="0"/>
              </a:rPr>
              <a:t>4. Per-meal + day totals computed in Python</a:t>
            </a:r>
          </a:p>
          <a:p>
            <a:pPr algn="l" marL="120000">
              <a:lnSpc>
                <a:spcPct val="115000"/>
              </a:lnSpc>
              <a:spcAft>
                <a:spcPts val="80"/>
              </a:spcAft>
            </a:pPr>
            <a:r>
              <a:rPr lang="en-US" sz="1300" b="0" dirty="0">
                <a:solidFill>
                  <a:srgbClr val="212121"/>
                </a:solidFill>
                <a:latin typeface="Calibri" pitchFamily="34" charset="0"/>
              </a:rPr>
              <a:t>5. Gap detection: flag nutrients below 60% target</a:t>
            </a:r>
          </a:p>
          <a:p>
            <a:pPr algn="l" marL="120000">
              <a:lnSpc>
                <a:spcPct val="115000"/>
              </a:lnSpc>
              <a:spcAft>
                <a:spcPts val="80"/>
              </a:spcAft>
            </a:pPr>
            <a:r>
              <a:rPr lang="en-US" sz="1300" b="0" dirty="0">
                <a:solidFill>
                  <a:srgbClr val="212121"/>
                </a:solidFill>
                <a:latin typeface="Calibri" pitchFamily="34" charset="0"/>
              </a:rPr>
              <a:t>6. Full plan + nutrient report saved to Supabase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p:nvPr/>
        </p:nvSpPr>
        <p:spPr>
          <a:xfrm>
            <a:off x="2582109" y="131214"/>
            <a:ext cx="6837661" cy="584775"/>
          </a:xfrm>
          <a:prstGeom prst="rect">
            <a:avLst/>
          </a:prstGeom>
        </p:spPr>
        <p:txBody>
          <a:bodyPr wrap="square">
            <a:spAutoFit/>
          </a:bodyPr>
          <a:lstStyle/>
          <a:p>
            <a:pPr algn="ctr"/>
            <a:r>
              <a:rPr lang="en-US" sz="2000" b="1" dirty="0">
                <a:solidFill>
                  <a:srgbClr val="0000FF"/>
                </a:solidFill>
                <a:latin typeface="Times New Roman" pitchFamily="18" charset="0"/>
              </a:rPr>
              <a:t>METHODOLOGY (4/4) — Frontend, Dashboard, Admin Panel and Deployment</a:t>
            </a:r>
          </a:p>
        </p:txBody>
      </p:sp>
      <p:sp>
        <p:nvSpPr>
          <p:cNvPr id="3" name="Sub"/>
          <p:cNvSpPr/>
          <p:nvPr/>
        </p:nvSpPr>
        <p:spPr>
          <a:xfrm>
            <a:off x="300000" y="770000"/>
            <a:ext cx="11600000" cy="360000"/>
          </a:xfrm>
          <a:prstGeom prst="rect">
            <a:avLst/>
          </a:prstGeom>
          <a:solidFill>
            <a:srgbClr val="E3F2FD"/>
          </a:solidFill>
          <a:ln w="12700">
            <a:solidFill>
              <a:srgbClr val="1565C0"/>
            </a:solidFill>
          </a:ln>
        </p:spPr>
        <p:txBody>
          <a:bodyPr wrap="square" anchor="ctr" lIns="80000" rIns="80000" tIns="60000">
            <a:normAutofit/>
          </a:bodyPr>
          <a:lstStyle/>
          <a:p>
            <a:pPr algn="ctr">
              <a:lnSpc>
                <a:spcPct val="110000"/>
              </a:lnSpc>
              <a:spcAft>
                <a:spcPts val="0"/>
              </a:spcAft>
            </a:pPr>
            <a:r>
              <a:rPr lang="en-US" sz="1700" b="0" dirty="0">
                <a:solidFill>
                  <a:srgbClr val="1565C0"/>
                </a:solidFill>
                <a:latin typeface="Calibri" pitchFamily="34" charset="0"/>
              </a:rPr>
              <a:t>The user-facing web application is built with Next.js 15. It presents the meal plan, micronutrient progress dashboard, food log, and admin tools through a clean, mobile-first chat interface.</a:t>
            </a:r>
          </a:p>
        </p:txBody>
      </p:sp>
      <p:sp>
        <p:nvSpPr>
          <p:cNvPr id="4" name="sec_4"/>
          <p:cNvSpPr/>
          <p:nvPr/>
        </p:nvSpPr>
        <p:spPr>
          <a:xfrm>
            <a:off x="300000" y="1210000"/>
            <a:ext cx="11600000" cy="370000"/>
          </a:xfrm>
          <a:prstGeom prst="rect">
            <a:avLst/>
          </a:prstGeom>
          <a:solidFill>
            <a:srgbClr val="1565C0"/>
          </a:solidFill>
          <a:ln w="12700">
            <a:solidFill>
              <a:srgbClr val="1565C0"/>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User-Facing Screens (Next.js 15 + shadcn/ui + Tailwind CSS)</a:t>
            </a:r>
          </a:p>
        </p:txBody>
      </p:sp>
      <p:sp>
        <p:nvSpPr>
          <p:cNvPr id="10" name="scr0"/>
          <p:cNvSpPr/>
          <p:nvPr/>
        </p:nvSpPr>
        <p:spPr>
          <a:xfrm>
            <a:off x="300000" y="1660000"/>
            <a:ext cx="2750000" cy="1600000"/>
          </a:xfrm>
          <a:prstGeom prst="rect">
            <a:avLst/>
          </a:prstGeom>
          <a:solidFill>
            <a:srgbClr val="1565C0"/>
          </a:solidFill>
          <a:ln w="12700">
            <a:solidFill>
              <a:srgbClr val="01579B"/>
            </a:solidFill>
          </a:ln>
        </p:spPr>
        <p:txBody>
          <a:bodyPr wrap="square" anchor="ctr" lIns="80000" rIns="80000" tIns="60000">
            <a:normAutofit/>
          </a:bodyPr>
          <a:lstStyle/>
          <a:p>
            <a:pPr algn="ctr">
              <a:lnSpc>
                <a:spcPct val="110000"/>
              </a:lnSpc>
              <a:spcAft>
                <a:spcPts val="0"/>
              </a:spcAft>
            </a:pPr>
            <a:r>
              <a:rPr lang="en-US" sz="1500" b="1" dirty="0">
                <a:solidFill>
                  <a:srgbClr val="FFFFFF"/>
                </a:solidFill>
                <a:latin typeface="Calibri" pitchFamily="34" charset="0"/>
              </a:rPr>
              <a:t>Onboarding
Wizard</a:t>
            </a:r>
          </a:p>
          <a:p>
            <a:pPr algn="ctr">
              <a:lnSpc>
                <a:spcPct val="110000"/>
              </a:lnSpc>
              <a:spcAft>
                <a:spcPts val="0"/>
              </a:spcAft>
            </a:pPr>
            <a:r>
              <a:rPr lang="en-US" sz="1200" b="0" dirty="0">
                <a:solidFill>
                  <a:srgbClr val="BBDEFB"/>
                </a:solidFill>
                <a:latin typeface="Calibri" pitchFamily="34" charset="0"/>
              </a:rPr>
              <a:t>Step 1: Name, age, sex</a:t>
            </a:r>
          </a:p>
          <a:p>
            <a:pPr algn="ctr">
              <a:lnSpc>
                <a:spcPct val="110000"/>
              </a:lnSpc>
              <a:spcAft>
                <a:spcPts val="0"/>
              </a:spcAft>
            </a:pPr>
            <a:r>
              <a:rPr lang="en-US" sz="1200" b="0" dirty="0">
                <a:solidFill>
                  <a:srgbClr val="BBDEFB"/>
                </a:solidFill>
                <a:latin typeface="Calibri" pitchFamily="34" charset="0"/>
              </a:rPr>
              <a:t>life stage (8 options)</a:t>
            </a:r>
          </a:p>
          <a:p>
            <a:pPr algn="ctr">
              <a:lnSpc>
                <a:spcPct val="110000"/>
              </a:lnSpc>
              <a:spcAft>
                <a:spcPts val="0"/>
              </a:spcAft>
            </a:pPr>
            <a:r>
              <a:rPr lang="en-US" sz="1200" b="0" dirty="0">
                <a:solidFill>
                  <a:srgbClr val="BBDEFB"/>
                </a:solidFill>
                <a:latin typeface="Calibri" pitchFamily="34" charset="0"/>
              </a:rPr>
              <a:t>Step 2: State + district</a:t>
            </a:r>
          </a:p>
          <a:p>
            <a:pPr algn="ctr">
              <a:lnSpc>
                <a:spcPct val="110000"/>
              </a:lnSpc>
              <a:spcAft>
                <a:spcPts val="0"/>
              </a:spcAft>
            </a:pPr>
            <a:r>
              <a:rPr lang="en-US" sz="1200" b="0" dirty="0">
                <a:solidFill>
                  <a:srgbClr val="BBDEFB"/>
                </a:solidFill>
                <a:latin typeface="Calibri" pitchFamily="34" charset="0"/>
              </a:rPr>
              <a:t>dropdown (36 states)</a:t>
            </a:r>
          </a:p>
          <a:p>
            <a:pPr algn="ctr">
              <a:lnSpc>
                <a:spcPct val="110000"/>
              </a:lnSpc>
              <a:spcAft>
                <a:spcPts val="0"/>
              </a:spcAft>
            </a:pPr>
            <a:r>
              <a:rPr lang="en-US" sz="1200" b="0" dirty="0">
                <a:solidFill>
                  <a:srgbClr val="BBDEFB"/>
                </a:solidFill>
                <a:latin typeface="Calibri" pitchFamily="34" charset="0"/>
              </a:rPr>
              <a:t>Step 3: Dietary type</a:t>
            </a:r>
          </a:p>
          <a:p>
            <a:pPr algn="ctr">
              <a:lnSpc>
                <a:spcPct val="110000"/>
              </a:lnSpc>
              <a:spcAft>
                <a:spcPts val="0"/>
              </a:spcAft>
            </a:pPr>
            <a:r>
              <a:rPr lang="en-US" sz="1200" b="0" dirty="0">
                <a:solidFill>
                  <a:srgbClr val="BBDEFB"/>
                </a:solidFill>
                <a:latin typeface="Calibri" pitchFamily="34" charset="0"/>
              </a:rPr>
              <a:t>Medicines (add/remove)</a:t>
            </a:r>
          </a:p>
          <a:p>
            <a:pPr algn="ctr">
              <a:lnSpc>
                <a:spcPct val="110000"/>
              </a:lnSpc>
              <a:spcAft>
                <a:spcPts val="0"/>
              </a:spcAft>
            </a:pPr>
            <a:r>
              <a:rPr lang="en-US" sz="1200" b="0" dirty="0">
                <a:solidFill>
                  <a:srgbClr val="BBDEFB"/>
                </a:solidFill>
                <a:latin typeface="Calibri" pitchFamily="34" charset="0"/>
              </a:rPr>
              <a:t>Health condition</a:t>
            </a:r>
          </a:p>
        </p:txBody>
      </p:sp>
      <p:sp>
        <p:nvSpPr>
          <p:cNvPr id="11" name="scr1"/>
          <p:cNvSpPr/>
          <p:nvPr/>
        </p:nvSpPr>
        <p:spPr>
          <a:xfrm>
            <a:off x="3150000" y="1660000"/>
            <a:ext cx="2750000" cy="1600000"/>
          </a:xfrm>
          <a:prstGeom prst="rect">
            <a:avLst/>
          </a:prstGeom>
          <a:solidFill>
            <a:srgbClr val="0277BD"/>
          </a:solidFill>
          <a:ln w="12700">
            <a:solidFill>
              <a:srgbClr val="01579B"/>
            </a:solidFill>
          </a:ln>
        </p:spPr>
        <p:txBody>
          <a:bodyPr wrap="square" anchor="ctr" lIns="80000" rIns="80000" tIns="60000">
            <a:normAutofit/>
          </a:bodyPr>
          <a:lstStyle/>
          <a:p>
            <a:pPr algn="ctr">
              <a:lnSpc>
                <a:spcPct val="110000"/>
              </a:lnSpc>
              <a:spcAft>
                <a:spcPts val="0"/>
              </a:spcAft>
            </a:pPr>
            <a:r>
              <a:rPr lang="en-US" sz="1500" b="1" dirty="0">
                <a:solidFill>
                  <a:srgbClr val="FFFFFF"/>
                </a:solidFill>
                <a:latin typeface="Calibri" pitchFamily="34" charset="0"/>
              </a:rPr>
              <a:t>Dashboard
(Main Screen)</a:t>
            </a:r>
          </a:p>
          <a:p>
            <a:pPr algn="ctr">
              <a:lnSpc>
                <a:spcPct val="110000"/>
              </a:lnSpc>
              <a:spcAft>
                <a:spcPts val="0"/>
              </a:spcAft>
            </a:pPr>
            <a:r>
              <a:rPr lang="en-US" sz="1200" b="0" dirty="0">
                <a:solidFill>
                  <a:srgbClr val="B3E5FC"/>
                </a:solidFill>
                <a:latin typeface="Calibri" pitchFamily="34" charset="0"/>
              </a:rPr>
              <a:t>Daily check-in sliders</a:t>
            </a:r>
          </a:p>
          <a:p>
            <a:pPr algn="ctr">
              <a:lnSpc>
                <a:spcPct val="110000"/>
              </a:lnSpc>
              <a:spcAft>
                <a:spcPts val="0"/>
              </a:spcAft>
            </a:pPr>
            <a:r>
              <a:rPr lang="en-US" sz="1200" b="0" dirty="0">
                <a:solidFill>
                  <a:srgbClr val="B3E5FC"/>
                </a:solidFill>
                <a:latin typeface="Calibri" pitchFamily="34" charset="0"/>
              </a:rPr>
              <a:t>(Energy 1-5, Sleep hrs,</a:t>
            </a:r>
          </a:p>
          <a:p>
            <a:pPr algn="ctr">
              <a:lnSpc>
                <a:spcPct val="110000"/>
              </a:lnSpc>
              <a:spcAft>
                <a:spcPts val="0"/>
              </a:spcAft>
            </a:pPr>
            <a:r>
              <a:rPr lang="en-US" sz="1200" b="0" dirty="0">
                <a:solidFill>
                  <a:srgbClr val="B3E5FC"/>
                </a:solidFill>
                <a:latin typeface="Calibri" pitchFamily="34" charset="0"/>
              </a:rPr>
              <a:t>Focus 1-5) 30 seconds</a:t>
            </a:r>
          </a:p>
          <a:p>
            <a:pPr algn="ctr">
              <a:lnSpc>
                <a:spcPct val="110000"/>
              </a:lnSpc>
              <a:spcAft>
                <a:spcPts val="0"/>
              </a:spcAft>
            </a:pPr>
            <a:r>
              <a:rPr lang="en-US" sz="1200" b="0" dirty="0">
                <a:solidFill>
                  <a:srgbClr val="B3E5FC"/>
                </a:solidFill>
                <a:latin typeface="Calibri" pitchFamily="34" charset="0"/>
              </a:rPr>
              <a:t>Generate Meal Plan btn</a:t>
            </a:r>
          </a:p>
          <a:p>
            <a:pPr algn="ctr">
              <a:lnSpc>
                <a:spcPct val="110000"/>
              </a:lnSpc>
              <a:spcAft>
                <a:spcPts val="0"/>
              </a:spcAft>
            </a:pPr>
            <a:r>
              <a:rPr lang="en-US" sz="1200" b="0" dirty="0">
                <a:solidFill>
                  <a:srgbClr val="B3E5FC"/>
                </a:solidFill>
                <a:latin typeface="Calibri" pitchFamily="34" charset="0"/>
              </a:rPr>
              <a:t>Meal cards: 4 meals</a:t>
            </a:r>
          </a:p>
          <a:p>
            <a:pPr algn="ctr">
              <a:lnSpc>
                <a:spcPct val="110000"/>
              </a:lnSpc>
              <a:spcAft>
                <a:spcPts val="0"/>
              </a:spcAft>
            </a:pPr>
            <a:r>
              <a:rPr lang="en-US" sz="1200" b="0" dirty="0">
                <a:solidFill>
                  <a:srgbClr val="B3E5FC"/>
                </a:solidFill>
                <a:latin typeface="Calibri" pitchFamily="34" charset="0"/>
              </a:rPr>
              <a:t>Medicine tip box</a:t>
            </a:r>
          </a:p>
          <a:p>
            <a:pPr algn="ctr">
              <a:lnSpc>
                <a:spcPct val="110000"/>
              </a:lnSpc>
              <a:spcAft>
                <a:spcPts val="0"/>
              </a:spcAft>
            </a:pPr>
            <a:r>
              <a:rPr lang="en-US" sz="1200" b="0" dirty="0">
                <a:solidFill>
                  <a:srgbClr val="B3E5FC"/>
                </a:solidFill>
                <a:latin typeface="Calibri" pitchFamily="34" charset="0"/>
              </a:rPr>
              <a:t>Nutrient status panel</a:t>
            </a:r>
          </a:p>
        </p:txBody>
      </p:sp>
      <p:sp>
        <p:nvSpPr>
          <p:cNvPr id="12" name="scr2"/>
          <p:cNvSpPr/>
          <p:nvPr/>
        </p:nvSpPr>
        <p:spPr>
          <a:xfrm>
            <a:off x="6000000" y="1660000"/>
            <a:ext cx="2750000" cy="1600000"/>
          </a:xfrm>
          <a:prstGeom prst="rect">
            <a:avLst/>
          </a:prstGeom>
          <a:solidFill>
            <a:srgbClr val="006064"/>
          </a:solidFill>
          <a:ln w="12700">
            <a:solidFill>
              <a:srgbClr val="01579B"/>
            </a:solidFill>
          </a:ln>
        </p:spPr>
        <p:txBody>
          <a:bodyPr wrap="square" anchor="ctr" lIns="80000" rIns="80000" tIns="60000">
            <a:normAutofit/>
          </a:bodyPr>
          <a:lstStyle/>
          <a:p>
            <a:pPr algn="ctr">
              <a:lnSpc>
                <a:spcPct val="110000"/>
              </a:lnSpc>
              <a:spcAft>
                <a:spcPts val="0"/>
              </a:spcAft>
            </a:pPr>
            <a:r>
              <a:rPr lang="en-US" sz="1500" b="1" dirty="0">
                <a:solidFill>
                  <a:srgbClr val="FFFFFF"/>
                </a:solidFill>
                <a:latin typeface="Calibri" pitchFamily="34" charset="0"/>
              </a:rPr>
              <a:t>Micronutrient
Dashboard</a:t>
            </a:r>
          </a:p>
          <a:p>
            <a:pPr algn="ctr">
              <a:lnSpc>
                <a:spcPct val="110000"/>
              </a:lnSpc>
              <a:spcAft>
                <a:spcPts val="0"/>
              </a:spcAft>
            </a:pPr>
            <a:r>
              <a:rPr lang="en-US" sz="1200" b="0" dirty="0">
                <a:solidFill>
                  <a:srgbClr val="B2EBF2"/>
                </a:solidFill>
                <a:latin typeface="Calibri" pitchFamily="34" charset="0"/>
              </a:rPr>
              <a:t>Progress bars for top 8</a:t>
            </a:r>
          </a:p>
          <a:p>
            <a:pPr algn="ctr">
              <a:lnSpc>
                <a:spcPct val="110000"/>
              </a:lnSpc>
              <a:spcAft>
                <a:spcPts val="0"/>
              </a:spcAft>
            </a:pPr>
            <a:r>
              <a:rPr lang="en-US" sz="1200" b="0" dirty="0">
                <a:solidFill>
                  <a:srgbClr val="B2EBF2"/>
                </a:solidFill>
                <a:latin typeface="Calibri" pitchFamily="34" charset="0"/>
              </a:rPr>
              <a:t>priority nutrients</a:t>
            </a:r>
          </a:p>
          <a:p>
            <a:pPr algn="ctr">
              <a:lnSpc>
                <a:spcPct val="110000"/>
              </a:lnSpc>
              <a:spcAft>
                <a:spcPts val="0"/>
              </a:spcAft>
            </a:pPr>
            <a:r>
              <a:rPr lang="en-US" sz="1200" b="0" dirty="0">
                <a:solidFill>
                  <a:srgbClr val="B2EBF2"/>
                </a:solidFill>
                <a:latin typeface="Calibri" pitchFamily="34" charset="0"/>
              </a:rPr>
              <a:t>Target vs. actual values</a:t>
            </a:r>
          </a:p>
          <a:p>
            <a:pPr algn="ctr">
              <a:lnSpc>
                <a:spcPct val="110000"/>
              </a:lnSpc>
              <a:spcAft>
                <a:spcPts val="0"/>
              </a:spcAft>
            </a:pPr>
            <a:r>
              <a:rPr lang="en-US" sz="1200" b="0" dirty="0">
                <a:solidFill>
                  <a:srgbClr val="B2EBF2"/>
                </a:solidFill>
                <a:latin typeface="Calibri" pitchFamily="34" charset="0"/>
              </a:rPr>
              <a:t>Colour coded:</a:t>
            </a:r>
          </a:p>
          <a:p>
            <a:pPr algn="ctr">
              <a:lnSpc>
                <a:spcPct val="110000"/>
              </a:lnSpc>
              <a:spcAft>
                <a:spcPts val="0"/>
              </a:spcAft>
            </a:pPr>
            <a:r>
              <a:rPr lang="en-US" sz="1200" b="0" dirty="0">
                <a:solidFill>
                  <a:srgbClr val="B2EBF2"/>
                </a:solidFill>
                <a:latin typeface="Calibri" pitchFamily="34" charset="0"/>
              </a:rPr>
              <a:t>Green = above 80%</a:t>
            </a:r>
          </a:p>
          <a:p>
            <a:pPr algn="ctr">
              <a:lnSpc>
                <a:spcPct val="110000"/>
              </a:lnSpc>
              <a:spcAft>
                <a:spcPts val="0"/>
              </a:spcAft>
            </a:pPr>
            <a:r>
              <a:rPr lang="en-US" sz="1200" b="0" dirty="0">
                <a:solidFill>
                  <a:srgbClr val="B2EBF2"/>
                </a:solidFill>
                <a:latin typeface="Calibri" pitchFamily="34" charset="0"/>
              </a:rPr>
              <a:t>Amber = 50-79%</a:t>
            </a:r>
          </a:p>
          <a:p>
            <a:pPr algn="ctr">
              <a:lnSpc>
                <a:spcPct val="110000"/>
              </a:lnSpc>
              <a:spcAft>
                <a:spcPts val="0"/>
              </a:spcAft>
            </a:pPr>
            <a:r>
              <a:rPr lang="en-US" sz="1200" b="0" dirty="0">
                <a:solidFill>
                  <a:srgbClr val="B2EBF2"/>
                </a:solidFill>
                <a:latin typeface="Calibri" pitchFamily="34" charset="0"/>
              </a:rPr>
              <a:t>Red = below 50%</a:t>
            </a:r>
          </a:p>
        </p:txBody>
      </p:sp>
      <p:sp>
        <p:nvSpPr>
          <p:cNvPr id="13" name="scr3"/>
          <p:cNvSpPr/>
          <p:nvPr/>
        </p:nvSpPr>
        <p:spPr>
          <a:xfrm>
            <a:off x="8850000" y="1660000"/>
            <a:ext cx="2750000" cy="1600000"/>
          </a:xfrm>
          <a:prstGeom prst="rect">
            <a:avLst/>
          </a:prstGeom>
          <a:solidFill>
            <a:srgbClr val="00838F"/>
          </a:solidFill>
          <a:ln w="12700">
            <a:solidFill>
              <a:srgbClr val="01579B"/>
            </a:solidFill>
          </a:ln>
        </p:spPr>
        <p:txBody>
          <a:bodyPr wrap="square" anchor="ctr" lIns="80000" rIns="80000" tIns="60000">
            <a:normAutofit/>
          </a:bodyPr>
          <a:lstStyle/>
          <a:p>
            <a:pPr algn="ctr">
              <a:lnSpc>
                <a:spcPct val="110000"/>
              </a:lnSpc>
              <a:spcAft>
                <a:spcPts val="0"/>
              </a:spcAft>
            </a:pPr>
            <a:r>
              <a:rPr lang="en-US" sz="1500" b="1" dirty="0">
                <a:solidFill>
                  <a:srgbClr val="FFFFFF"/>
                </a:solidFill>
                <a:latin typeface="Calibri" pitchFamily="34" charset="0"/>
              </a:rPr>
              <a:t>Food Log
Screen</a:t>
            </a:r>
          </a:p>
          <a:p>
            <a:pPr algn="ctr">
              <a:lnSpc>
                <a:spcPct val="110000"/>
              </a:lnSpc>
              <a:spcAft>
                <a:spcPts val="0"/>
              </a:spcAft>
            </a:pPr>
            <a:r>
              <a:rPr lang="en-US" sz="1200" b="0" dirty="0">
                <a:solidFill>
                  <a:srgbClr val="B2EBF2"/>
                </a:solidFill>
                <a:latin typeface="Calibri" pitchFamily="34" charset="0"/>
              </a:rPr>
              <a:t>Search field (IFCT DB)</a:t>
            </a:r>
          </a:p>
          <a:p>
            <a:pPr algn="ctr">
              <a:lnSpc>
                <a:spcPct val="110000"/>
              </a:lnSpc>
              <a:spcAft>
                <a:spcPts val="0"/>
              </a:spcAft>
            </a:pPr>
            <a:r>
              <a:rPr lang="en-US" sz="1200" b="0" dirty="0">
                <a:solidFill>
                  <a:srgbClr val="B2EBF2"/>
                </a:solidFill>
                <a:latin typeface="Calibri" pitchFamily="34" charset="0"/>
              </a:rPr>
              <a:t>Meal type selector</a:t>
            </a:r>
          </a:p>
          <a:p>
            <a:pPr algn="ctr">
              <a:lnSpc>
                <a:spcPct val="110000"/>
              </a:lnSpc>
              <a:spcAft>
                <a:spcPts val="0"/>
              </a:spcAft>
            </a:pPr>
            <a:r>
              <a:rPr lang="en-US" sz="1200" b="0" dirty="0">
                <a:solidFill>
                  <a:srgbClr val="B2EBF2"/>
                </a:solidFill>
                <a:latin typeface="Calibri" pitchFamily="34" charset="0"/>
              </a:rPr>
              <a:t>Portion text input</a:t>
            </a:r>
          </a:p>
          <a:p>
            <a:pPr algn="ctr">
              <a:lnSpc>
                <a:spcPct val="110000"/>
              </a:lnSpc>
              <a:spcAft>
                <a:spcPts val="0"/>
              </a:spcAft>
            </a:pPr>
            <a:r>
              <a:rPr lang="en-US" sz="1200" b="0" dirty="0">
                <a:solidFill>
                  <a:srgbClr val="B2EBF2"/>
                </a:solidFill>
                <a:latin typeface="Calibri" pitchFamily="34" charset="0"/>
              </a:rPr>
              <a:t>(1 katori, 2 chapati)</a:t>
            </a:r>
          </a:p>
          <a:p>
            <a:pPr algn="ctr">
              <a:lnSpc>
                <a:spcPct val="110000"/>
              </a:lnSpc>
              <a:spcAft>
                <a:spcPts val="0"/>
              </a:spcAft>
            </a:pPr>
            <a:r>
              <a:rPr lang="en-US" sz="1200" b="0" dirty="0">
                <a:solidFill>
                  <a:srgbClr val="B2EBF2"/>
                </a:solidFill>
                <a:latin typeface="Calibri" pitchFamily="34" charset="0"/>
              </a:rPr>
              <a:t>Log button</a:t>
            </a:r>
          </a:p>
          <a:p>
            <a:pPr algn="ctr">
              <a:lnSpc>
                <a:spcPct val="110000"/>
              </a:lnSpc>
              <a:spcAft>
                <a:spcPts val="0"/>
              </a:spcAft>
            </a:pPr>
            <a:r>
              <a:rPr lang="en-US" sz="1200" b="0" dirty="0">
                <a:solidFill>
                  <a:srgbClr val="B2EBF2"/>
                </a:solidFill>
                <a:latin typeface="Calibri" pitchFamily="34" charset="0"/>
              </a:rPr>
              <a:t>Today entrees list</a:t>
            </a:r>
          </a:p>
          <a:p>
            <a:pPr algn="ctr">
              <a:lnSpc>
                <a:spcPct val="110000"/>
              </a:lnSpc>
              <a:spcAft>
                <a:spcPts val="0"/>
              </a:spcAft>
            </a:pPr>
            <a:r>
              <a:rPr lang="en-US" sz="1200" b="0" dirty="0">
                <a:solidFill>
                  <a:srgbClr val="B2EBF2"/>
                </a:solidFill>
                <a:latin typeface="Calibri" pitchFamily="34" charset="0"/>
              </a:rPr>
              <a:t>Day running total</a:t>
            </a:r>
          </a:p>
        </p:txBody>
      </p:sp>
      <p:sp>
        <p:nvSpPr>
          <p:cNvPr id="20" name="sec_20"/>
          <p:cNvSpPr/>
          <p:nvPr/>
        </p:nvSpPr>
        <p:spPr>
          <a:xfrm>
            <a:off x="300000" y="3340000"/>
            <a:ext cx="11600000" cy="370000"/>
          </a:xfrm>
          <a:prstGeom prst="rect">
            <a:avLst/>
          </a:prstGeom>
          <a:solidFill>
            <a:srgbClr val="37474F"/>
          </a:solidFill>
          <a:ln w="12700">
            <a:solidFill>
              <a:srgbClr val="37474F"/>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Admin Dashboard — Separate Authenticated Route for Administrators</a:t>
            </a:r>
          </a:p>
        </p:txBody>
      </p:sp>
      <p:sp>
        <p:nvSpPr>
          <p:cNvPr id="30" name="adm0"/>
          <p:cNvSpPr/>
          <p:nvPr/>
        </p:nvSpPr>
        <p:spPr>
          <a:xfrm>
            <a:off x="300000" y="3790000"/>
            <a:ext cx="2750000" cy="1100000"/>
          </a:xfrm>
          <a:prstGeom prst="rect">
            <a:avLst/>
          </a:prstGeom>
          <a:solidFill>
            <a:srgbClr val="37474F"/>
          </a:solidFill>
          <a:ln w="12700">
            <a:solidFill>
              <a:srgbClr val="263238"/>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Platform
Monitorings</a:t>
            </a:r>
          </a:p>
          <a:p>
            <a:pPr algn="ctr">
              <a:lnSpc>
                <a:spcPct val="110000"/>
              </a:lnSpc>
              <a:spcAft>
                <a:spcPts val="0"/>
              </a:spcAft>
            </a:pPr>
            <a:r>
              <a:rPr lang="en-US" sz="1200" b="0" dirty="0">
                <a:solidFill>
                  <a:srgbClr val="CFD8DC"/>
                </a:solidFill>
                <a:latin typeface="Calibri" pitchFamily="34" charset="0"/>
              </a:rPr>
              <a:t>Total registered users</a:t>
            </a:r>
          </a:p>
          <a:p>
            <a:pPr algn="ctr">
              <a:lnSpc>
                <a:spcPct val="110000"/>
              </a:lnSpc>
              <a:spcAft>
                <a:spcPts val="0"/>
              </a:spcAft>
            </a:pPr>
            <a:r>
              <a:rPr lang="en-US" sz="1200" b="0" dirty="0">
                <a:solidFill>
                  <a:srgbClr val="CFD8DC"/>
                </a:solidFill>
                <a:latin typeface="Calibri" pitchFamily="34" charset="0"/>
              </a:rPr>
              <a:t>Daily active users (DAU)</a:t>
            </a:r>
          </a:p>
          <a:p>
            <a:pPr algn="ctr">
              <a:lnSpc>
                <a:spcPct val="110000"/>
              </a:lnSpc>
              <a:spcAft>
                <a:spcPts val="0"/>
              </a:spcAft>
            </a:pPr>
            <a:r>
              <a:rPr lang="en-US" sz="1200" b="0" dirty="0">
                <a:solidFill>
                  <a:srgbClr val="CFD8DC"/>
                </a:solidFill>
                <a:latin typeface="Calibri" pitchFamily="34" charset="0"/>
              </a:rPr>
              <a:t>Meal plans generated</a:t>
            </a:r>
          </a:p>
          <a:p>
            <a:pPr algn="ctr">
              <a:lnSpc>
                <a:spcPct val="110000"/>
              </a:lnSpc>
              <a:spcAft>
                <a:spcPts val="0"/>
              </a:spcAft>
            </a:pPr>
            <a:r>
              <a:rPr lang="en-US" sz="1200" b="0" dirty="0">
                <a:solidFill>
                  <a:srgbClr val="CFD8DC"/>
                </a:solidFill>
                <a:latin typeface="Calibri" pitchFamily="34" charset="0"/>
              </a:rPr>
              <a:t>Food log entries today</a:t>
            </a:r>
          </a:p>
          <a:p>
            <a:pPr algn="ctr">
              <a:lnSpc>
                <a:spcPct val="110000"/>
              </a:lnSpc>
              <a:spcAft>
                <a:spcPts val="0"/>
              </a:spcAft>
            </a:pPr>
            <a:r>
              <a:rPr lang="en-US" sz="1200" b="0" dirty="0">
                <a:solidFill>
                  <a:srgbClr val="CFD8DC"/>
                </a:solidFill>
                <a:latin typeface="Calibri" pitchFamily="34" charset="0"/>
              </a:rPr>
              <a:t>API usage + error rate</a:t>
            </a:r>
          </a:p>
        </p:txBody>
      </p:sp>
      <p:sp>
        <p:nvSpPr>
          <p:cNvPr id="31" name="adm1"/>
          <p:cNvSpPr/>
          <p:nvPr/>
        </p:nvSpPr>
        <p:spPr>
          <a:xfrm>
            <a:off x="3150000" y="3790000"/>
            <a:ext cx="2750000" cy="1100000"/>
          </a:xfrm>
          <a:prstGeom prst="rect">
            <a:avLst/>
          </a:prstGeom>
          <a:solidFill>
            <a:srgbClr val="455A64"/>
          </a:solidFill>
          <a:ln w="12700">
            <a:solidFill>
              <a:srgbClr val="263238"/>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Food Database
Management</a:t>
            </a:r>
          </a:p>
          <a:p>
            <a:pPr algn="ctr">
              <a:lnSpc>
                <a:spcPct val="110000"/>
              </a:lnSpc>
              <a:spcAft>
                <a:spcPts val="0"/>
              </a:spcAft>
            </a:pPr>
            <a:r>
              <a:rPr lang="en-US" sz="1200" b="0" dirty="0">
                <a:solidFill>
                  <a:srgbClr val="CFD8DC"/>
                </a:solidFill>
                <a:latin typeface="Calibri" pitchFamily="34" charset="0"/>
              </a:rPr>
              <a:t>Add / edit / deactivate</a:t>
            </a:r>
          </a:p>
          <a:p>
            <a:pPr algn="ctr">
              <a:lnSpc>
                <a:spcPct val="110000"/>
              </a:lnSpc>
              <a:spcAft>
                <a:spcPts val="0"/>
              </a:spcAft>
            </a:pPr>
            <a:r>
              <a:rPr lang="en-US" sz="1200" b="0" dirty="0">
                <a:solidFill>
                  <a:srgbClr val="CFD8DC"/>
                </a:solidFill>
                <a:latin typeface="Calibri" pitchFamily="34" charset="0"/>
              </a:rPr>
              <a:t>foods in IFCT table</a:t>
            </a:r>
          </a:p>
          <a:p>
            <a:pPr algn="ctr">
              <a:lnSpc>
                <a:spcPct val="110000"/>
              </a:lnSpc>
              <a:spcAft>
                <a:spcPts val="0"/>
              </a:spcAft>
            </a:pPr>
            <a:r>
              <a:rPr lang="en-US" sz="1200" b="0" dirty="0">
                <a:solidFill>
                  <a:srgbClr val="CFD8DC"/>
                </a:solidFill>
                <a:latin typeface="Calibri" pitchFamily="34" charset="0"/>
              </a:rPr>
              <a:t>Upload new nutrient data</a:t>
            </a:r>
          </a:p>
          <a:p>
            <a:pPr algn="ctr">
              <a:lnSpc>
                <a:spcPct val="110000"/>
              </a:lnSpc>
              <a:spcAft>
                <a:spcPts val="0"/>
              </a:spcAft>
            </a:pPr>
            <a:r>
              <a:rPr lang="en-US" sz="1200" b="0" dirty="0">
                <a:solidFill>
                  <a:srgbClr val="CFD8DC"/>
                </a:solidFill>
                <a:latin typeface="Calibri" pitchFamily="34" charset="0"/>
              </a:rPr>
              <a:t>Manage portion table</a:t>
            </a:r>
          </a:p>
          <a:p>
            <a:pPr algn="ctr">
              <a:lnSpc>
                <a:spcPct val="110000"/>
              </a:lnSpc>
              <a:spcAft>
                <a:spcPts val="0"/>
              </a:spcAft>
            </a:pPr>
            <a:r>
              <a:rPr lang="en-US" sz="1200" b="0" dirty="0">
                <a:solidFill>
                  <a:srgbClr val="CFD8DC"/>
                </a:solidFill>
                <a:latin typeface="Calibri" pitchFamily="34" charset="0"/>
              </a:rPr>
              <a:t>Flag data quality issues</a:t>
            </a:r>
          </a:p>
        </p:txBody>
      </p:sp>
      <p:sp>
        <p:nvSpPr>
          <p:cNvPr id="32" name="adm2"/>
          <p:cNvSpPr/>
          <p:nvPr/>
        </p:nvSpPr>
        <p:spPr>
          <a:xfrm>
            <a:off x="6000000" y="3790000"/>
            <a:ext cx="2750000" cy="1100000"/>
          </a:xfrm>
          <a:prstGeom prst="rect">
            <a:avLst/>
          </a:prstGeom>
          <a:solidFill>
            <a:srgbClr val="546E7A"/>
          </a:solidFill>
          <a:ln w="12700">
            <a:solidFill>
              <a:srgbClr val="263238"/>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Medicine
Catalog Mgmt.</a:t>
            </a:r>
          </a:p>
          <a:p>
            <a:pPr algn="ctr">
              <a:lnSpc>
                <a:spcPct val="110000"/>
              </a:lnSpc>
              <a:spcAft>
                <a:spcPts val="0"/>
              </a:spcAft>
            </a:pPr>
            <a:r>
              <a:rPr lang="en-US" sz="1200" b="0" dirty="0">
                <a:solidFill>
                  <a:srgbClr val="CFD8DC"/>
                </a:solidFill>
                <a:latin typeface="Calibri" pitchFamily="34" charset="0"/>
              </a:rPr>
              <a:t>Add new medicines</a:t>
            </a:r>
          </a:p>
          <a:p>
            <a:pPr algn="ctr">
              <a:lnSpc>
                <a:spcPct val="110000"/>
              </a:lnSpc>
              <a:spcAft>
                <a:spcPts val="0"/>
              </a:spcAft>
            </a:pPr>
            <a:r>
              <a:rPr lang="en-US" sz="1200" b="0" dirty="0">
                <a:solidFill>
                  <a:srgbClr val="CFD8DC"/>
                </a:solidFill>
                <a:latin typeface="Calibri" pitchFamily="34" charset="0"/>
              </a:rPr>
              <a:t>Edit drug-nutrient rules</a:t>
            </a:r>
          </a:p>
          <a:p>
            <a:pPr algn="ctr">
              <a:lnSpc>
                <a:spcPct val="110000"/>
              </a:lnSpc>
              <a:spcAft>
                <a:spcPts val="0"/>
              </a:spcAft>
            </a:pPr>
            <a:r>
              <a:rPr lang="en-US" sz="1200" b="0" dirty="0">
                <a:solidFill>
                  <a:srgbClr val="CFD8DC"/>
                </a:solidFill>
                <a:latin typeface="Calibri" pitchFamily="34" charset="0"/>
              </a:rPr>
              <a:t>Update interaction flags</a:t>
            </a:r>
          </a:p>
          <a:p>
            <a:pPr algn="ctr">
              <a:lnSpc>
                <a:spcPct val="110000"/>
              </a:lnSpc>
              <a:spcAft>
                <a:spcPts val="0"/>
              </a:spcAft>
            </a:pPr>
            <a:r>
              <a:rPr lang="en-US" sz="1200" b="0" dirty="0">
                <a:solidFill>
                  <a:srgbClr val="CFD8DC"/>
                </a:solidFill>
                <a:latin typeface="Calibri" pitchFamily="34" charset="0"/>
              </a:rPr>
              <a:t>Set timing guidelines</a:t>
            </a:r>
          </a:p>
          <a:p>
            <a:pPr algn="ctr">
              <a:lnSpc>
                <a:spcPct val="110000"/>
              </a:lnSpc>
              <a:spcAft>
                <a:spcPts val="0"/>
              </a:spcAft>
            </a:pPr>
            <a:r>
              <a:rPr lang="en-US" sz="1200" b="0" dirty="0">
                <a:solidFill>
                  <a:srgbClr val="CFD8DC"/>
                </a:solidFill>
                <a:latin typeface="Calibri" pitchFamily="34" charset="0"/>
              </a:rPr>
              <a:t>Validate with pharmacist</a:t>
            </a:r>
          </a:p>
        </p:txBody>
      </p:sp>
      <p:sp>
        <p:nvSpPr>
          <p:cNvPr id="33" name="adm3"/>
          <p:cNvSpPr/>
          <p:nvPr/>
        </p:nvSpPr>
        <p:spPr>
          <a:xfrm>
            <a:off x="8850000" y="3790000"/>
            <a:ext cx="2750000" cy="1100000"/>
          </a:xfrm>
          <a:prstGeom prst="rect">
            <a:avLst/>
          </a:prstGeom>
          <a:solidFill>
            <a:srgbClr val="607D8B"/>
          </a:solidFill>
          <a:ln w="12700">
            <a:solidFill>
              <a:srgbClr val="263238"/>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Health Trends
(Anonymised)</a:t>
            </a:r>
          </a:p>
          <a:p>
            <a:pPr algn="ctr">
              <a:lnSpc>
                <a:spcPct val="110000"/>
              </a:lnSpc>
              <a:spcAft>
                <a:spcPts val="0"/>
              </a:spcAft>
            </a:pPr>
            <a:r>
              <a:rPr lang="en-US" sz="1200" b="0" dirty="0">
                <a:solidFill>
                  <a:srgbClr val="CFD8DC"/>
                </a:solidFill>
                <a:latin typeface="Calibri" pitchFamily="34" charset="0"/>
              </a:rPr>
              <a:t>Condition prevalence</a:t>
            </a:r>
          </a:p>
          <a:p>
            <a:pPr algn="ctr">
              <a:lnSpc>
                <a:spcPct val="110000"/>
              </a:lnSpc>
              <a:spcAft>
                <a:spcPts val="0"/>
              </a:spcAft>
            </a:pPr>
            <a:r>
              <a:rPr lang="en-US" sz="1200" b="0" dirty="0">
                <a:solidFill>
                  <a:srgbClr val="CFD8DC"/>
                </a:solidFill>
                <a:latin typeface="Calibri" pitchFamily="34" charset="0"/>
              </a:rPr>
              <a:t>by state and district</a:t>
            </a:r>
          </a:p>
          <a:p>
            <a:pPr algn="ctr">
              <a:lnSpc>
                <a:spcPct val="110000"/>
              </a:lnSpc>
              <a:spcAft>
                <a:spcPts val="0"/>
              </a:spcAft>
            </a:pPr>
            <a:r>
              <a:rPr lang="en-US" sz="1200" b="0" dirty="0">
                <a:solidFill>
                  <a:srgbClr val="CFD8DC"/>
                </a:solidFill>
                <a:latin typeface="Calibri" pitchFamily="34" charset="0"/>
              </a:rPr>
              <a:t>Top nutrient deficiencies</a:t>
            </a:r>
          </a:p>
          <a:p>
            <a:pPr algn="ctr">
              <a:lnSpc>
                <a:spcPct val="110000"/>
              </a:lnSpc>
              <a:spcAft>
                <a:spcPts val="0"/>
              </a:spcAft>
            </a:pPr>
            <a:r>
              <a:rPr lang="en-US" sz="1200" b="0" dirty="0">
                <a:solidFill>
                  <a:srgbClr val="CFD8DC"/>
                </a:solidFill>
                <a:latin typeface="Calibri" pitchFamily="34" charset="0"/>
              </a:rPr>
              <a:t>Most common medicines</a:t>
            </a:r>
          </a:p>
          <a:p>
            <a:pPr algn="ctr">
              <a:lnSpc>
                <a:spcPct val="110000"/>
              </a:lnSpc>
              <a:spcAft>
                <a:spcPts val="0"/>
              </a:spcAft>
            </a:pPr>
            <a:r>
              <a:rPr lang="en-US" sz="1200" b="0" dirty="0">
                <a:solidFill>
                  <a:srgbClr val="CFD8DC"/>
                </a:solidFill>
                <a:latin typeface="Calibri" pitchFamily="34" charset="0"/>
              </a:rPr>
              <a:t>Regional food acceptance</a:t>
            </a:r>
          </a:p>
        </p:txBody>
      </p:sp>
      <p:sp>
        <p:nvSpPr>
          <p:cNvPr id="40" name="sec_40"/>
          <p:cNvSpPr/>
          <p:nvPr/>
        </p:nvSpPr>
        <p:spPr>
          <a:xfrm>
            <a:off x="300000" y="4970000"/>
            <a:ext cx="11600000" cy="370000"/>
          </a:xfrm>
          <a:prstGeom prst="rect">
            <a:avLst/>
          </a:prstGeom>
          <a:solidFill>
            <a:srgbClr val="E65100"/>
          </a:solidFill>
          <a:ln w="12700">
            <a:solidFill>
              <a:srgbClr val="E65100"/>
            </a:solidFill>
          </a:ln>
        </p:spPr>
        <p:txBody>
          <a:bodyPr wrap="square" anchor="ctr" lIns="80000" rIns="80000" tIns="60000">
            <a:normAutofit/>
          </a:bodyPr>
          <a:lstStyle/>
          <a:p>
            <a:pPr algn="ctr">
              <a:lnSpc>
                <a:spcPct val="110000"/>
              </a:lnSpc>
              <a:spcAft>
                <a:spcPts val="0"/>
              </a:spcAft>
            </a:pPr>
            <a:r>
              <a:rPr lang="en-US" sz="1800" b="1" dirty="0">
                <a:solidFill>
                  <a:srgbClr val="FFFFFF"/>
                </a:solidFill>
                <a:latin typeface="Calibri" pitchFamily="34" charset="0"/>
              </a:rPr>
              <a:t>Deployment and Infrastructure</a:t>
            </a:r>
          </a:p>
        </p:txBody>
      </p:sp>
      <p:sp>
        <p:nvSpPr>
          <p:cNvPr id="50" name="dep0"/>
          <p:cNvSpPr/>
          <p:nvPr/>
        </p:nvSpPr>
        <p:spPr>
          <a:xfrm>
            <a:off x="300000" y="5420000"/>
            <a:ext cx="2200000" cy="600000"/>
          </a:xfrm>
          <a:prstGeom prst="rect">
            <a:avLst/>
          </a:prstGeom>
          <a:solidFill>
            <a:srgbClr val="EF6C00"/>
          </a:solidFill>
          <a:ln w="12700">
            <a:solidFill>
              <a:srgbClr val="BF360C"/>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Vercel</a:t>
            </a:r>
          </a:p>
          <a:p>
            <a:pPr algn="ctr">
              <a:lnSpc>
                <a:spcPct val="110000"/>
              </a:lnSpc>
              <a:spcAft>
                <a:spcPts val="0"/>
              </a:spcAft>
            </a:pPr>
            <a:r>
              <a:rPr lang="en-US" sz="1200" b="0" dirty="0">
                <a:solidFill>
                  <a:srgbClr val="FFCCBC"/>
                </a:solidFill>
                <a:latin typeface="Calibri" pitchFamily="34" charset="0"/>
              </a:rPr>
              <a:t>Next.js frontend</a:t>
            </a:r>
          </a:p>
          <a:p>
            <a:pPr algn="ctr">
              <a:lnSpc>
                <a:spcPct val="110000"/>
              </a:lnSpc>
              <a:spcAft>
                <a:spcPts val="0"/>
              </a:spcAft>
            </a:pPr>
            <a:r>
              <a:rPr lang="en-US" sz="1200" b="0" dirty="0">
                <a:solidFill>
                  <a:srgbClr val="FFCCBC"/>
                </a:solidFill>
                <a:latin typeface="Calibri" pitchFamily="34" charset="0"/>
              </a:rPr>
              <a:t>Global CDN</a:t>
            </a:r>
          </a:p>
          <a:p>
            <a:pPr algn="ctr">
              <a:lnSpc>
                <a:spcPct val="110000"/>
              </a:lnSpc>
              <a:spcAft>
                <a:spcPts val="0"/>
              </a:spcAft>
            </a:pPr>
            <a:r>
              <a:rPr lang="en-US" sz="1200" b="0" dirty="0">
                <a:solidFill>
                  <a:srgbClr val="FFCCBC"/>
                </a:solidFill>
                <a:latin typeface="Calibri" pitchFamily="34" charset="0"/>
              </a:rPr>
              <a:t>CI/CD from GitHub</a:t>
            </a:r>
          </a:p>
          <a:p>
            <a:pPr algn="ctr">
              <a:lnSpc>
                <a:spcPct val="110000"/>
              </a:lnSpc>
              <a:spcAft>
                <a:spcPts val="0"/>
              </a:spcAft>
            </a:pPr>
            <a:r>
              <a:rPr lang="en-US" sz="1200" b="0" dirty="0">
                <a:solidFill>
                  <a:srgbClr val="FFCCBC"/>
                </a:solidFill>
                <a:latin typeface="Calibri" pitchFamily="34" charset="0"/>
              </a:rPr>
              <a:t>Free tier for MVP</a:t>
            </a:r>
          </a:p>
        </p:txBody>
      </p:sp>
      <p:sp>
        <p:nvSpPr>
          <p:cNvPr id="51" name="dep1"/>
          <p:cNvSpPr/>
          <p:nvPr/>
        </p:nvSpPr>
        <p:spPr>
          <a:xfrm>
            <a:off x="2560000" y="5420000"/>
            <a:ext cx="2200000" cy="600000"/>
          </a:xfrm>
          <a:prstGeom prst="rect">
            <a:avLst/>
          </a:prstGeom>
          <a:solidFill>
            <a:srgbClr val="F57F17"/>
          </a:solidFill>
          <a:ln w="12700">
            <a:solidFill>
              <a:srgbClr val="BF360C"/>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Railway</a:t>
            </a:r>
          </a:p>
          <a:p>
            <a:pPr algn="ctr">
              <a:lnSpc>
                <a:spcPct val="110000"/>
              </a:lnSpc>
              <a:spcAft>
                <a:spcPts val="0"/>
              </a:spcAft>
            </a:pPr>
            <a:r>
              <a:rPr lang="en-US" sz="1200" b="0" dirty="0">
                <a:solidFill>
                  <a:srgbClr val="FFF9C4"/>
                </a:solidFill>
                <a:latin typeface="Calibri" pitchFamily="34" charset="0"/>
              </a:rPr>
              <a:t>FastAPI Python</a:t>
            </a:r>
          </a:p>
          <a:p>
            <a:pPr algn="ctr">
              <a:lnSpc>
                <a:spcPct val="110000"/>
              </a:lnSpc>
              <a:spcAft>
                <a:spcPts val="0"/>
              </a:spcAft>
            </a:pPr>
            <a:r>
              <a:rPr lang="en-US" sz="1200" b="0" dirty="0">
                <a:solidFill>
                  <a:srgbClr val="FFF9C4"/>
                </a:solidFill>
                <a:latin typeface="Calibri" pitchFamily="34" charset="0"/>
              </a:rPr>
              <a:t>Auto-scaling container</a:t>
            </a:r>
          </a:p>
          <a:p>
            <a:pPr algn="ctr">
              <a:lnSpc>
                <a:spcPct val="110000"/>
              </a:lnSpc>
              <a:spcAft>
                <a:spcPts val="0"/>
              </a:spcAft>
            </a:pPr>
            <a:r>
              <a:rPr lang="en-US" sz="1200" b="0" dirty="0">
                <a:solidFill>
                  <a:srgbClr val="FFF9C4"/>
                </a:solidFill>
                <a:latin typeface="Calibri" pitchFamily="34" charset="0"/>
              </a:rPr>
              <a:t>Env var management</a:t>
            </a:r>
          </a:p>
          <a:p>
            <a:pPr algn="ctr">
              <a:lnSpc>
                <a:spcPct val="110000"/>
              </a:lnSpc>
              <a:spcAft>
                <a:spcPts val="0"/>
              </a:spcAft>
            </a:pPr>
            <a:r>
              <a:rPr lang="en-US" sz="1200" b="0" dirty="0">
                <a:solidFill>
                  <a:srgbClr val="FFF9C4"/>
                </a:solidFill>
                <a:latin typeface="Calibri" pitchFamily="34" charset="0"/>
              </a:rPr>
              <a:t>~USD 5/month</a:t>
            </a:r>
          </a:p>
        </p:txBody>
      </p:sp>
      <p:sp>
        <p:nvSpPr>
          <p:cNvPr id="52" name="dep2"/>
          <p:cNvSpPr/>
          <p:nvPr/>
        </p:nvSpPr>
        <p:spPr>
          <a:xfrm>
            <a:off x="4820000" y="5420000"/>
            <a:ext cx="2200000" cy="600000"/>
          </a:xfrm>
          <a:prstGeom prst="rect">
            <a:avLst/>
          </a:prstGeom>
          <a:solidFill>
            <a:srgbClr val="1565C0"/>
          </a:solidFill>
          <a:ln w="12700">
            <a:solidFill>
              <a:srgbClr val="BF360C"/>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Supabase</a:t>
            </a:r>
          </a:p>
          <a:p>
            <a:pPr algn="ctr">
              <a:lnSpc>
                <a:spcPct val="110000"/>
              </a:lnSpc>
              <a:spcAft>
                <a:spcPts val="0"/>
              </a:spcAft>
            </a:pPr>
            <a:r>
              <a:rPr lang="en-US" sz="1200" b="0" dirty="0">
                <a:solidFill>
                  <a:srgbClr val="BBDEFB"/>
                </a:solidFill>
                <a:latin typeface="Calibri" pitchFamily="34" charset="0"/>
              </a:rPr>
              <a:t>PostgreSQL 15</a:t>
            </a:r>
          </a:p>
          <a:p>
            <a:pPr algn="ctr">
              <a:lnSpc>
                <a:spcPct val="110000"/>
              </a:lnSpc>
              <a:spcAft>
                <a:spcPts val="0"/>
              </a:spcAft>
            </a:pPr>
            <a:r>
              <a:rPr lang="en-US" sz="1200" b="0" dirty="0">
                <a:solidFill>
                  <a:srgbClr val="BBDEFB"/>
                </a:solidFill>
                <a:latin typeface="Calibri" pitchFamily="34" charset="0"/>
              </a:rPr>
              <a:t>Row-Level Security</a:t>
            </a:r>
          </a:p>
          <a:p>
            <a:pPr algn="ctr">
              <a:lnSpc>
                <a:spcPct val="110000"/>
              </a:lnSpc>
              <a:spcAft>
                <a:spcPts val="0"/>
              </a:spcAft>
            </a:pPr>
            <a:r>
              <a:rPr lang="en-US" sz="1200" b="0" dirty="0">
                <a:solidFill>
                  <a:srgbClr val="BBDEFB"/>
                </a:solidFill>
                <a:latin typeface="Calibri" pitchFamily="34" charset="0"/>
              </a:rPr>
              <a:t>Email + Phone OTP auth</a:t>
            </a:r>
          </a:p>
          <a:p>
            <a:pPr algn="ctr">
              <a:lnSpc>
                <a:spcPct val="110000"/>
              </a:lnSpc>
              <a:spcAft>
                <a:spcPts val="0"/>
              </a:spcAft>
            </a:pPr>
            <a:r>
              <a:rPr lang="en-US" sz="1200" b="0" dirty="0">
                <a:solidFill>
                  <a:srgbClr val="BBDEFB"/>
                </a:solidFill>
                <a:latin typeface="Calibri" pitchFamily="34" charset="0"/>
              </a:rPr>
              <a:t>Free tier for MVP</a:t>
            </a:r>
          </a:p>
        </p:txBody>
      </p:sp>
      <p:sp>
        <p:nvSpPr>
          <p:cNvPr id="53" name="dep3"/>
          <p:cNvSpPr/>
          <p:nvPr/>
        </p:nvSpPr>
        <p:spPr>
          <a:xfrm>
            <a:off x="7080000" y="5420000"/>
            <a:ext cx="2200000" cy="600000"/>
          </a:xfrm>
          <a:prstGeom prst="rect">
            <a:avLst/>
          </a:prstGeom>
          <a:solidFill>
            <a:srgbClr val="6A1B9A"/>
          </a:solidFill>
          <a:ln w="12700">
            <a:solidFill>
              <a:srgbClr val="BF360C"/>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Anthropic API</a:t>
            </a:r>
          </a:p>
          <a:p>
            <a:pPr algn="ctr">
              <a:lnSpc>
                <a:spcPct val="110000"/>
              </a:lnSpc>
              <a:spcAft>
                <a:spcPts val="0"/>
              </a:spcAft>
            </a:pPr>
            <a:r>
              <a:rPr lang="en-US" sz="1200" b="0" dirty="0">
                <a:solidFill>
                  <a:srgbClr val="E1BEE7"/>
                </a:solidFill>
                <a:latin typeface="Calibri" pitchFamily="34" charset="0"/>
              </a:rPr>
              <a:t>Claude claude-sonnet-4-6</a:t>
            </a:r>
          </a:p>
          <a:p>
            <a:pPr algn="ctr">
              <a:lnSpc>
                <a:spcPct val="110000"/>
              </a:lnSpc>
              <a:spcAft>
                <a:spcPts val="0"/>
              </a:spcAft>
            </a:pPr>
            <a:r>
              <a:rPr lang="en-US" sz="1200" b="0" dirty="0">
                <a:solidFill>
                  <a:srgbClr val="E1BEE7"/>
                </a:solidFill>
                <a:latin typeface="Calibri" pitchFamily="34" charset="0"/>
              </a:rPr>
              <a:t>Meal generation</a:t>
            </a:r>
          </a:p>
          <a:p>
            <a:pPr algn="ctr">
              <a:lnSpc>
                <a:spcPct val="110000"/>
              </a:lnSpc>
              <a:spcAft>
                <a:spcPts val="0"/>
              </a:spcAft>
            </a:pPr>
            <a:r>
              <a:rPr lang="en-US" sz="1200" b="0" dirty="0">
                <a:solidFill>
                  <a:srgbClr val="E1BEE7"/>
                </a:solidFill>
                <a:latin typeface="Calibri" pitchFamily="34" charset="0"/>
              </a:rPr>
              <a:t>Bilingual responses</a:t>
            </a:r>
          </a:p>
          <a:p>
            <a:pPr algn="ctr">
              <a:lnSpc>
                <a:spcPct val="110000"/>
              </a:lnSpc>
              <a:spcAft>
                <a:spcPts val="0"/>
              </a:spcAft>
            </a:pPr>
            <a:r>
              <a:rPr lang="en-US" sz="1200" b="0" dirty="0">
                <a:solidFill>
                  <a:srgbClr val="E1BEE7"/>
                </a:solidFill>
                <a:latin typeface="Calibri" pitchFamily="34" charset="0"/>
              </a:rPr>
              <a:t>~USD 5-20/month</a:t>
            </a:r>
          </a:p>
        </p:txBody>
      </p:sp>
      <p:sp>
        <p:nvSpPr>
          <p:cNvPr id="54" name="dep4"/>
          <p:cNvSpPr/>
          <p:nvPr/>
        </p:nvSpPr>
        <p:spPr>
          <a:xfrm>
            <a:off x="9340000" y="5420000"/>
            <a:ext cx="2200000" cy="600000"/>
          </a:xfrm>
          <a:prstGeom prst="rect">
            <a:avLst/>
          </a:prstGeom>
          <a:solidFill>
            <a:srgbClr val="37474F"/>
          </a:solidFill>
          <a:ln w="12700">
            <a:solidFill>
              <a:srgbClr val="BF360C"/>
            </a:solidFill>
          </a:ln>
        </p:spPr>
        <p:txBody>
          <a:bodyPr wrap="square" anchor="ctr" lIns="80000" rIns="80000" tIns="60000">
            <a:normAutofit/>
          </a:bodyPr>
          <a:lstStyle/>
          <a:p>
            <a:pPr algn="ctr">
              <a:lnSpc>
                <a:spcPct val="110000"/>
              </a:lnSpc>
              <a:spcAft>
                <a:spcPts val="0"/>
              </a:spcAft>
            </a:pPr>
            <a:r>
              <a:rPr lang="en-US" sz="1400" b="1" dirty="0">
                <a:solidFill>
                  <a:srgbClr val="FFFFFF"/>
                </a:solidFill>
                <a:latin typeface="Calibri" pitchFamily="34" charset="0"/>
              </a:rPr>
              <a:t>GitHub +
Cursor IDE</a:t>
            </a:r>
          </a:p>
          <a:p>
            <a:pPr algn="ctr">
              <a:lnSpc>
                <a:spcPct val="110000"/>
              </a:lnSpc>
              <a:spcAft>
                <a:spcPts val="0"/>
              </a:spcAft>
            </a:pPr>
            <a:r>
              <a:rPr lang="en-US" sz="1200" b="0" dirty="0">
                <a:solidFill>
                  <a:srgbClr val="CFD8DC"/>
                </a:solidFill>
                <a:latin typeface="Calibri" pitchFamily="34" charset="0"/>
              </a:rPr>
              <a:t>Version control</a:t>
            </a:r>
          </a:p>
          <a:p>
            <a:pPr algn="ctr">
              <a:lnSpc>
                <a:spcPct val="110000"/>
              </a:lnSpc>
              <a:spcAft>
                <a:spcPts val="0"/>
              </a:spcAft>
            </a:pPr>
            <a:r>
              <a:rPr lang="en-US" sz="1200" b="0" dirty="0">
                <a:solidFill>
                  <a:srgbClr val="CFD8DC"/>
                </a:solidFill>
                <a:latin typeface="Calibri" pitchFamily="34" charset="0"/>
              </a:rPr>
              <a:t>GitHub Copilot</a:t>
            </a:r>
          </a:p>
          <a:p>
            <a:pPr algn="ctr">
              <a:lnSpc>
                <a:spcPct val="110000"/>
              </a:lnSpc>
              <a:spcAft>
                <a:spcPts val="0"/>
              </a:spcAft>
            </a:pPr>
            <a:r>
              <a:rPr lang="en-US" sz="1200" b="0" dirty="0">
                <a:solidFill>
                  <a:srgbClr val="CFD8DC"/>
                </a:solidFill>
                <a:latin typeface="Calibri" pitchFamily="34" charset="0"/>
              </a:rPr>
              <a:t>AI-assisted coding</a:t>
            </a:r>
          </a:p>
          <a:p>
            <a:pPr algn="ctr">
              <a:lnSpc>
                <a:spcPct val="110000"/>
              </a:lnSpc>
              <a:spcAft>
                <a:spcPts val="0"/>
              </a:spcAft>
            </a:pPr>
            <a:r>
              <a:rPr lang="en-US" sz="1200" b="0" dirty="0">
                <a:solidFill>
                  <a:srgbClr val="CFD8DC"/>
                </a:solidFill>
                <a:latin typeface="Calibri" pitchFamily="34" charset="0"/>
              </a:rPr>
              <a:t>CI/CD pipeline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2582109" y="131214"/>
            <a:ext cx="6837661" cy="584775"/>
          </a:xfrm>
          <a:prstGeom prst="rect">
            <a:avLst/>
          </a:prstGeom>
        </p:spPr>
        <p:txBody>
          <a:bodyPr wrap="square">
            <a:normAutofit/>
          </a:bodyPr>
          <a:lstStyle/>
          <a:p>
            <a:pPr algn="ctr"/>
            <a:r>
              <a:rPr lang="en-US" sz="2400" b="1" dirty="0">
                <a:solidFill>
                  <a:srgbClr val="0000FF"/>
                </a:solidFill>
                <a:latin typeface="Times New Roman" pitchFamily="18" charset="0"/>
              </a:rPr>
              <a:t>METHODOLOGY (2/4) -- Nutrition Inference Engine</a:t>
            </a:r>
          </a:p>
          <a:p>
            <a:pPr algn="ctr"/>
            <a:r>
              <a:rPr lang="en-US" sz="1700" b="0" dirty="0">
                <a:solidFill>
                  <a:srgbClr val="4527A0"/>
                </a:solidFill>
                <a:latin typeface="Calibri" pitchFamily="34" charset="0"/>
              </a:rPr>
              <a:t>4-step pipeline from user profile to daily nutrient specification</a:t>
            </a:r>
          </a:p>
        </p:txBody>
      </p:sp>
      <p:sp>
        <p:nvSpPr>
          <p:cNvPr id="10" name="Box10"/>
          <p:cNvSpPr/>
          <p:nvPr/>
        </p:nvSpPr>
        <p:spPr>
          <a:xfrm>
            <a:off x="300000" y="820000"/>
            <a:ext cx="11600000" cy="1130000"/>
          </a:xfrm>
          <a:prstGeom prst="rect">
            <a:avLst/>
          </a:prstGeom>
          <a:solidFill>
            <a:srgbClr val="1A237E"/>
          </a:solidFill>
          <a:ln w="15000">
            <a:solidFill>
              <a:srgbClr val="0D47A1"/>
            </a:solidFill>
          </a:ln>
        </p:spPr>
        <p:txBody>
          <a:bodyPr wrap="square" lIns="130000" rIns="100000" tIns="100000">
            <a:normAutofit/>
          </a:bodyPr>
          <a:lstStyle/>
          <a:p>
            <a:pPr algn="l">
              <a:lnSpc>
                <a:spcPct val="110000"/>
              </a:lnSpc>
              <a:spcAft>
                <a:spcPts val="120"/>
              </a:spcAft>
              <a:buNone/>
            </a:pPr>
            <a:r>
              <a:rPr lang="en-US" sz="1700" b="1" dirty="0">
                <a:solidFill>
                  <a:srgbClr val="FFFFFF"/>
                </a:solidFill>
                <a:latin typeface="Calibri" pitchFamily="34" charset="0"/>
              </a:rPr>
              <a:t>Step 1 — ICMR-NIN RDA Calculator</a:t>
            </a:r>
          </a:p>
          <a:p>
            <a:pPr algn="l" marL="120000">
              <a:lnSpc>
                <a:spcPct val="110000"/>
              </a:lnSpc>
              <a:spcAft>
                <a:spcPts val="100"/>
              </a:spcAft>
              <a:buChar char="-"/>
            </a:pPr>
            <a:r>
              <a:rPr lang="en-US" sz="1500" dirty="0">
                <a:solidFill>
                  <a:srgbClr val="111111"/>
                </a:solidFill>
                <a:latin typeface="Calibri" pitchFamily="34" charset="0"/>
              </a:rPr>
              <a:t>Looks up Dietary Reference Intake table keyed by (life_stage, sex)</a:t>
            </a:r>
          </a:p>
          <a:p>
            <a:pPr algn="l" marL="120000">
              <a:lnSpc>
                <a:spcPct val="110000"/>
              </a:lnSpc>
              <a:spcAft>
                <a:spcPts val="100"/>
              </a:spcAft>
              <a:buChar char="-"/>
            </a:pPr>
            <a:r>
              <a:rPr lang="en-US" sz="1500" dirty="0">
                <a:solidFill>
                  <a:srgbClr val="111111"/>
                </a:solidFill>
                <a:latin typeface="Calibri" pitchFamily="34" charset="0"/>
              </a:rPr>
              <a:t>Returns base targets for 14 nutrients: calories, protein, calcium, iron, zinc, folate, B12, vitamin D, vitamin C, magnesium, potassium, fiber, omega-3, carbs</a:t>
            </a:r>
          </a:p>
          <a:p>
            <a:pPr algn="l" marL="120000">
              <a:lnSpc>
                <a:spcPct val="110000"/>
              </a:lnSpc>
              <a:spcAft>
                <a:spcPts val="100"/>
              </a:spcAft>
              <a:buChar char="-"/>
            </a:pPr>
            <a:r>
              <a:rPr lang="en-US" sz="1500" dirty="0">
                <a:solidFill>
                  <a:srgbClr val="111111"/>
                </a:solidFill>
                <a:latin typeface="Calibri" pitchFamily="34" charset="0"/>
              </a:rPr>
              <a:t>Source: ICMR-NIN 2024 Dietary Guidelines for Indians</a:t>
            </a:r>
          </a:p>
          <a:p>
            <a:pPr algn="l" marL="120000">
              <a:lnSpc>
                <a:spcPct val="110000"/>
              </a:lnSpc>
              <a:spcAft>
                <a:spcPts val="100"/>
              </a:spcAft>
              <a:buChar char="-"/>
            </a:pPr>
            <a:r>
              <a:rPr lang="en-US" sz="1500" dirty="0">
                <a:solidFill>
                  <a:srgbClr val="111111"/>
                </a:solidFill>
                <a:latin typeface="Calibri" pitchFamily="34" charset="0"/>
              </a:rPr>
              <a:t>Example: Pregnant female -&gt; iron=27mg, folate=600mcg, protein=78g, calcium=1200mg</a:t>
            </a:r>
          </a:p>
        </p:txBody>
      </p:sp>
      <p:sp>
        <p:nvSpPr>
          <p:cNvPr id="50" name="ArrD50"/>
          <p:cNvSpPr>
            <a:spLocks noChangeArrowheads="1"/>
          </p:cNvSpPr>
          <p:nvPr/>
        </p:nvSpPr>
        <p:spPr>
          <a:xfrm>
            <a:off x="5980000" y="1950000"/>
            <a:ext cx="160000" cy="220000"/>
          </a:xfrm>
          <a:prstGeom prst="downArrow">
            <a:avLst>
              <a:gd name="adj1" fmla="val 50000"/>
              <a:gd name="adj2" fmla="val 50000"/>
            </a:avLst>
          </a:prstGeom>
          <a:solidFill>
            <a:srgbClr val="1A237E"/>
          </a:solidFill>
        </p:spPr>
        <p:txBody>
          <a:bodyPr/>
          <a:lstStyle/>
          <a:p/>
        </p:txBody>
      </p:sp>
      <p:sp>
        <p:nvSpPr>
          <p:cNvPr id="11" name="Box11"/>
          <p:cNvSpPr/>
          <p:nvPr/>
        </p:nvSpPr>
        <p:spPr>
          <a:xfrm>
            <a:off x="300000" y="2170000"/>
            <a:ext cx="11600000" cy="1130000"/>
          </a:xfrm>
          <a:prstGeom prst="rect">
            <a:avLst/>
          </a:prstGeom>
          <a:solidFill>
            <a:srgbClr val="1565C0"/>
          </a:solidFill>
          <a:ln w="15000">
            <a:solidFill>
              <a:srgbClr val="0D47A1"/>
            </a:solidFill>
          </a:ln>
        </p:spPr>
        <p:txBody>
          <a:bodyPr wrap="square" lIns="130000" rIns="100000" tIns="100000">
            <a:normAutofit/>
          </a:bodyPr>
          <a:lstStyle/>
          <a:p>
            <a:pPr algn="l">
              <a:lnSpc>
                <a:spcPct val="110000"/>
              </a:lnSpc>
              <a:spcAft>
                <a:spcPts val="120"/>
              </a:spcAft>
              <a:buNone/>
            </a:pPr>
            <a:r>
              <a:rPr lang="en-US" sz="1700" b="1" dirty="0">
                <a:solidFill>
                  <a:srgbClr val="FFFFFF"/>
                </a:solidFill>
                <a:latin typeface="Calibri" pitchFamily="34" charset="0"/>
              </a:rPr>
              <a:t>Step 2 — Health Condition Modifier</a:t>
            </a:r>
          </a:p>
          <a:p>
            <a:pPr algn="l" marL="120000">
              <a:lnSpc>
                <a:spcPct val="110000"/>
              </a:lnSpc>
              <a:spcAft>
                <a:spcPts val="100"/>
              </a:spcAft>
              <a:buChar char="-"/>
            </a:pPr>
            <a:r>
              <a:rPr lang="en-US" sz="1500" dirty="0">
                <a:solidFill>
                  <a:srgbClr val="111111"/>
                </a:solidFill>
                <a:latin typeface="Calibri" pitchFamily="34" charset="0"/>
              </a:rPr>
              <a:t>Applies condition-specific rules on top of base RDA</a:t>
            </a:r>
          </a:p>
          <a:p>
            <a:pPr algn="l" marL="120000">
              <a:lnSpc>
                <a:spcPct val="110000"/>
              </a:lnSpc>
              <a:spcAft>
                <a:spcPts val="100"/>
              </a:spcAft>
              <a:buChar char="-"/>
            </a:pPr>
            <a:r>
              <a:rPr lang="en-US" sz="1500" dirty="0">
                <a:solidFill>
                  <a:srgbClr val="111111"/>
                </a:solidFill>
                <a:latin typeface="Calibri" pitchFamily="34" charset="0"/>
              </a:rPr>
              <a:t>Diabetes: reduce carbs% to 45%, increase fiber to 35g, flag high-GI foods</a:t>
            </a:r>
          </a:p>
          <a:p>
            <a:pPr algn="l" marL="120000">
              <a:lnSpc>
                <a:spcPct val="110000"/>
              </a:lnSpc>
              <a:spcAft>
                <a:spcPts val="100"/>
              </a:spcAft>
              <a:buChar char="-"/>
            </a:pPr>
            <a:r>
              <a:rPr lang="en-US" sz="1500" dirty="0">
                <a:solidFill>
                  <a:srgbClr val="111111"/>
                </a:solidFill>
                <a:latin typeface="Calibri" pitchFamily="34" charset="0"/>
              </a:rPr>
              <a:t>Hypertension: sodium limit 1500mg/day, potassium priority, flag pickle/papad</a:t>
            </a:r>
          </a:p>
          <a:p>
            <a:pPr algn="l" marL="120000">
              <a:lnSpc>
                <a:spcPct val="110000"/>
              </a:lnSpc>
              <a:spcAft>
                <a:spcPts val="100"/>
              </a:spcAft>
              <a:buChar char="-"/>
            </a:pPr>
            <a:r>
              <a:rPr lang="en-US" sz="1500" dirty="0">
                <a:solidFill>
                  <a:srgbClr val="111111"/>
                </a:solidFill>
                <a:latin typeface="Calibri" pitchFamily="34" charset="0"/>
              </a:rPr>
              <a:t>Anaemia: iron x1.5, add vitamin C pairing rule, B12 daily source required</a:t>
            </a:r>
          </a:p>
          <a:p>
            <a:pPr algn="l" marL="120000">
              <a:lnSpc>
                <a:spcPct val="110000"/>
              </a:lnSpc>
              <a:spcAft>
                <a:spcPts val="100"/>
              </a:spcAft>
              <a:buChar char="-"/>
            </a:pPr>
            <a:r>
              <a:rPr lang="en-US" sz="1500" dirty="0">
                <a:solidFill>
                  <a:srgbClr val="111111"/>
                </a:solidFill>
                <a:latin typeface="Calibri" pitchFamily="34" charset="0"/>
              </a:rPr>
              <a:t>Hypothyroidism: add goitrogen-avoidance flag, selenium priority, iodised salt</a:t>
            </a:r>
          </a:p>
          <a:p>
            <a:pPr algn="l" marL="120000">
              <a:lnSpc>
                <a:spcPct val="110000"/>
              </a:lnSpc>
              <a:spcAft>
                <a:spcPts val="100"/>
              </a:spcAft>
              <a:buChar char="-"/>
            </a:pPr>
            <a:r>
              <a:rPr lang="en-US" sz="1500" dirty="0">
                <a:solidFill>
                  <a:srgbClr val="111111"/>
                </a:solidFill>
                <a:latin typeface="Calibri" pitchFamily="34" charset="0"/>
              </a:rPr>
              <a:t>Pregnancy: elevated iron, folate, DHA; nausea-safe food flags if first trimester</a:t>
            </a:r>
          </a:p>
        </p:txBody>
      </p:sp>
      <p:sp>
        <p:nvSpPr>
          <p:cNvPr id="51" name="ArrD51"/>
          <p:cNvSpPr>
            <a:spLocks noChangeArrowheads="1"/>
          </p:cNvSpPr>
          <p:nvPr/>
        </p:nvSpPr>
        <p:spPr>
          <a:xfrm>
            <a:off x="5980000" y="3300000"/>
            <a:ext cx="160000" cy="220000"/>
          </a:xfrm>
          <a:prstGeom prst="downArrow">
            <a:avLst>
              <a:gd name="adj1" fmla="val 50000"/>
              <a:gd name="adj2" fmla="val 50000"/>
            </a:avLst>
          </a:prstGeom>
          <a:solidFill>
            <a:srgbClr val="1A237E"/>
          </a:solidFill>
        </p:spPr>
        <p:txBody>
          <a:bodyPr/>
          <a:lstStyle/>
          <a:p/>
        </p:txBody>
      </p:sp>
      <p:sp>
        <p:nvSpPr>
          <p:cNvPr id="12" name="Box12"/>
          <p:cNvSpPr/>
          <p:nvPr/>
        </p:nvSpPr>
        <p:spPr>
          <a:xfrm>
            <a:off x="300000" y="3520000"/>
            <a:ext cx="11600000" cy="1130000"/>
          </a:xfrm>
          <a:prstGeom prst="rect">
            <a:avLst/>
          </a:prstGeom>
          <a:solidFill>
            <a:srgbClr val="4527A0"/>
          </a:solidFill>
          <a:ln w="15000">
            <a:solidFill>
              <a:srgbClr val="311B92"/>
            </a:solidFill>
          </a:ln>
        </p:spPr>
        <p:txBody>
          <a:bodyPr wrap="square" lIns="130000" rIns="100000" tIns="100000">
            <a:normAutofit/>
          </a:bodyPr>
          <a:lstStyle/>
          <a:p>
            <a:pPr algn="l">
              <a:lnSpc>
                <a:spcPct val="110000"/>
              </a:lnSpc>
              <a:spcAft>
                <a:spcPts val="120"/>
              </a:spcAft>
              <a:buNone/>
            </a:pPr>
            <a:r>
              <a:rPr lang="en-US" sz="1700" b="1" dirty="0">
                <a:solidFill>
                  <a:srgbClr val="FFFFFF"/>
                </a:solidFill>
                <a:latin typeface="Calibri" pitchFamily="34" charset="0"/>
              </a:rPr>
              <a:t>Step 3 — Medicine Impact Modifier</a:t>
            </a:r>
          </a:p>
          <a:p>
            <a:pPr algn="l" marL="120000">
              <a:lnSpc>
                <a:spcPct val="110000"/>
              </a:lnSpc>
              <a:spcAft>
                <a:spcPts val="100"/>
              </a:spcAft>
              <a:buChar char="-"/>
            </a:pPr>
            <a:r>
              <a:rPr lang="en-US" sz="1500" dirty="0">
                <a:solidFill>
                  <a:srgbClr val="111111"/>
                </a:solidFill>
                <a:latin typeface="Calibri" pitchFamily="34" charset="0"/>
              </a:rPr>
              <a:t>Loads user's active medicines from database</a:t>
            </a:r>
          </a:p>
          <a:p>
            <a:pPr algn="l" marL="120000">
              <a:lnSpc>
                <a:spcPct val="110000"/>
              </a:lnSpc>
              <a:spcAft>
                <a:spcPts val="100"/>
              </a:spcAft>
              <a:buChar char="-"/>
            </a:pPr>
            <a:r>
              <a:rPr lang="en-US" sz="1500" dirty="0">
                <a:solidFill>
                  <a:srgbClr val="111111"/>
                </a:solidFill>
                <a:latin typeface="Calibri" pitchFamily="34" charset="0"/>
              </a:rPr>
              <a:t>Matches each medicine name against medicine_impacts.json catalog</a:t>
            </a:r>
          </a:p>
          <a:p>
            <a:pPr algn="l" marL="120000">
              <a:lnSpc>
                <a:spcPct val="110000"/>
              </a:lnSpc>
              <a:spcAft>
                <a:spcPts val="100"/>
              </a:spcAft>
              <a:buChar char="-"/>
            </a:pPr>
            <a:r>
              <a:rPr lang="en-US" sz="1500" dirty="0">
                <a:solidFill>
                  <a:srgbClr val="111111"/>
                </a:solidFill>
                <a:latin typeface="Calibri" pitchFamily="34" charset="0"/>
              </a:rPr>
              <a:t>For each matched medicine: boosts depleted nutrients by 1.3x, adds food_avoid flags</a:t>
            </a:r>
          </a:p>
          <a:p>
            <a:pPr algn="l" marL="120000">
              <a:lnSpc>
                <a:spcPct val="110000"/>
              </a:lnSpc>
              <a:spcAft>
                <a:spcPts val="100"/>
              </a:spcAft>
              <a:buChar char="-"/>
            </a:pPr>
            <a:r>
              <a:rPr lang="en-US" sz="1500" dirty="0">
                <a:solidFill>
                  <a:srgbClr val="111111"/>
                </a:solidFill>
                <a:latin typeface="Calibri" pitchFamily="34" charset="0"/>
              </a:rPr>
              <a:t>Metformin -&gt; boost B12 target by 30%, add ‘take with food' note</a:t>
            </a:r>
          </a:p>
          <a:p>
            <a:pPr algn="l" marL="120000">
              <a:lnSpc>
                <a:spcPct val="110000"/>
              </a:lnSpc>
              <a:spcAft>
                <a:spcPts val="100"/>
              </a:spcAft>
              <a:buChar char="-"/>
            </a:pPr>
            <a:r>
              <a:rPr lang="en-US" sz="1500" dirty="0">
                <a:solidFill>
                  <a:srgbClr val="111111"/>
                </a:solidFill>
                <a:latin typeface="Calibri" pitchFamily="34" charset="0"/>
              </a:rPr>
              <a:t>Thyronorm -&gt; add empty-stomach flag, separate calcium by 2 hrs</a:t>
            </a:r>
          </a:p>
          <a:p>
            <a:pPr algn="l" marL="120000">
              <a:lnSpc>
                <a:spcPct val="110000"/>
              </a:lnSpc>
              <a:spcAft>
                <a:spcPts val="100"/>
              </a:spcAft>
              <a:buChar char="-"/>
            </a:pPr>
            <a:r>
              <a:rPr lang="en-US" sz="1500" dirty="0">
                <a:solidFill>
                  <a:srgbClr val="111111"/>
                </a:solidFill>
                <a:latin typeface="Calibri" pitchFamily="34" charset="0"/>
              </a:rPr>
              <a:t>Ferrous Sulphate -&gt; pair with vitamin C source, avoid tea 1hr after dose</a:t>
            </a:r>
          </a:p>
        </p:txBody>
      </p:sp>
      <p:sp>
        <p:nvSpPr>
          <p:cNvPr id="52" name="ArrD52"/>
          <p:cNvSpPr>
            <a:spLocks noChangeArrowheads="1"/>
          </p:cNvSpPr>
          <p:nvPr/>
        </p:nvSpPr>
        <p:spPr>
          <a:xfrm>
            <a:off x="5980000" y="4650000"/>
            <a:ext cx="160000" cy="220000"/>
          </a:xfrm>
          <a:prstGeom prst="downArrow">
            <a:avLst>
              <a:gd name="adj1" fmla="val 50000"/>
              <a:gd name="adj2" fmla="val 50000"/>
            </a:avLst>
          </a:prstGeom>
          <a:solidFill>
            <a:srgbClr val="1A237E"/>
          </a:solidFill>
        </p:spPr>
        <p:txBody>
          <a:bodyPr/>
          <a:lstStyle/>
          <a:p/>
        </p:txBody>
      </p:sp>
      <p:sp>
        <p:nvSpPr>
          <p:cNvPr id="13" name="Box13"/>
          <p:cNvSpPr/>
          <p:nvPr/>
        </p:nvSpPr>
        <p:spPr>
          <a:xfrm>
            <a:off x="300000" y="4870000"/>
            <a:ext cx="11600000" cy="1130000"/>
          </a:xfrm>
          <a:prstGeom prst="rect">
            <a:avLst/>
          </a:prstGeom>
          <a:solidFill>
            <a:srgbClr val="00695C"/>
          </a:solidFill>
          <a:ln w="15000">
            <a:solidFill>
              <a:srgbClr val="004D40"/>
            </a:solidFill>
          </a:ln>
        </p:spPr>
        <p:txBody>
          <a:bodyPr wrap="square" lIns="130000" rIns="100000" tIns="100000">
            <a:normAutofit/>
          </a:bodyPr>
          <a:lstStyle/>
          <a:p>
            <a:pPr algn="l">
              <a:lnSpc>
                <a:spcPct val="110000"/>
              </a:lnSpc>
              <a:spcAft>
                <a:spcPts val="120"/>
              </a:spcAft>
              <a:buNone/>
            </a:pPr>
            <a:r>
              <a:rPr lang="en-US" sz="1700" b="1" dirty="0">
                <a:solidFill>
                  <a:srgbClr val="FFFFFF"/>
                </a:solidFill>
                <a:latin typeface="Calibri" pitchFamily="34" charset="0"/>
              </a:rPr>
              <a:t>Step 4 — Physio-State Nutrient Boosts</a:t>
            </a:r>
          </a:p>
          <a:p>
            <a:pPr algn="l" marL="120000">
              <a:lnSpc>
                <a:spcPct val="110000"/>
              </a:lnSpc>
              <a:spcAft>
                <a:spcPts val="100"/>
              </a:spcAft>
              <a:buChar char="-"/>
            </a:pPr>
            <a:r>
              <a:rPr lang="en-US" sz="1500" dirty="0">
                <a:solidFill>
                  <a:srgbClr val="111111"/>
                </a:solidFill>
                <a:latin typeface="Calibri" pitchFamily="34" charset="0"/>
              </a:rPr>
              <a:t>Daily check-in scores (energy 1-5, sleep hours, focus 1-5) trigger nutrient boosts</a:t>
            </a:r>
          </a:p>
          <a:p>
            <a:pPr algn="l" marL="120000">
              <a:lnSpc>
                <a:spcPct val="110000"/>
              </a:lnSpc>
              <a:spcAft>
                <a:spcPts val="100"/>
              </a:spcAft>
              <a:buChar char="-"/>
            </a:pPr>
            <a:r>
              <a:rPr lang="en-US" sz="1500" dirty="0">
                <a:solidFill>
                  <a:srgbClr val="111111"/>
                </a:solidFill>
                <a:latin typeface="Calibri" pitchFamily="34" charset="0"/>
              </a:rPr>
              <a:t>Energy &lt; 3 -&gt; boost B12 by 30%, iron by 25%, magnesium by 20%, add iron-rich food flag</a:t>
            </a:r>
          </a:p>
          <a:p>
            <a:pPr algn="l" marL="120000">
              <a:lnSpc>
                <a:spcPct val="110000"/>
              </a:lnSpc>
              <a:spcAft>
                <a:spcPts val="100"/>
              </a:spcAft>
              <a:buChar char="-"/>
            </a:pPr>
            <a:r>
              <a:rPr lang="en-US" sz="1500" dirty="0">
                <a:solidFill>
                  <a:srgbClr val="111111"/>
                </a:solidFill>
                <a:latin typeface="Calibri" pitchFamily="34" charset="0"/>
              </a:rPr>
              <a:t>Sleep &lt; 6hrs -&gt; boost magnesium by 30%, add tryptophan-rich food flag</a:t>
            </a:r>
          </a:p>
          <a:p>
            <a:pPr algn="l" marL="120000">
              <a:lnSpc>
                <a:spcPct val="110000"/>
              </a:lnSpc>
              <a:spcAft>
                <a:spcPts val="100"/>
              </a:spcAft>
              <a:buChar char="-"/>
            </a:pPr>
            <a:r>
              <a:rPr lang="en-US" sz="1500" dirty="0">
                <a:solidFill>
                  <a:srgbClr val="111111"/>
                </a:solidFill>
                <a:latin typeface="Calibri" pitchFamily="34" charset="0"/>
              </a:rPr>
              <a:t>Focus &lt; 3 -&gt; boost omega-3 by 30%, add choline-rich food flag (eggs, chicken liver)</a:t>
            </a:r>
          </a:p>
          <a:p>
            <a:pPr algn="l" marL="120000">
              <a:lnSpc>
                <a:spcPct val="110000"/>
              </a:lnSpc>
              <a:spcAft>
                <a:spcPts val="100"/>
              </a:spcAft>
              <a:buChar char="-"/>
            </a:pPr>
            <a:r>
              <a:rPr lang="en-US" sz="1500" dirty="0">
                <a:solidFill>
                  <a:srgbClr val="111111"/>
                </a:solidFill>
                <a:latin typeface="Calibri" pitchFamily="34" charset="0"/>
              </a:rPr>
              <a:t>Output: NutritionContext object with final daily targets + all food flags</a:t>
            </a:r>
          </a:p>
        </p:txBody>
      </p:sp>
      <p:sp>
        <p:nvSpPr>
          <p:cNvPr id="30" name="out"/>
          <p:cNvSpPr/>
          <p:nvPr/>
        </p:nvSpPr>
        <p:spPr>
          <a:xfrm>
            <a:off x="300000" y="5610000"/>
            <a:ext cx="11600000" cy="420000"/>
          </a:xfrm>
          <a:prstGeom prst="rect">
            <a:avLst/>
          </a:prstGeom>
          <a:solidFill>
            <a:srgbClr val="2E7D32"/>
          </a:solidFill>
        </p:spPr>
        <p:txBody>
          <a:bodyPr wrap="square" anchor="ctr">
            <a:spAutoFit/>
          </a:bodyPr>
          <a:lstStyle/>
          <a:p>
            <a:pPr algn="ctr">
              <a:buNone/>
            </a:pPr>
            <a:r>
              <a:rPr lang="en-US" sz="1700" b="1" dirty="0">
                <a:solidFill>
                  <a:srgbClr val="FFFFFF"/>
                </a:solidFill>
                <a:latin typeface="Calibri" pitchFamily="34" charset="0"/>
              </a:rPr>
              <a:t>OUTPUT: NutritionContext  --  Final nutrient targets + food flags -&gt; passed to LangGraph meal_node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2582109" y="131214"/>
            <a:ext cx="6837661" cy="584775"/>
          </a:xfrm>
          <a:prstGeom prst="rect">
            <a:avLst/>
          </a:prstGeom>
        </p:spPr>
        <p:txBody>
          <a:bodyPr wrap="square">
            <a:normAutofit/>
          </a:bodyPr>
          <a:lstStyle/>
          <a:p>
            <a:pPr algn="ctr"/>
            <a:r>
              <a:rPr lang="en-US" sz="2400" b="1" dirty="0">
                <a:solidFill>
                  <a:srgbClr val="0000FF"/>
                </a:solidFill>
                <a:latin typeface="Times New Roman" pitchFamily="18" charset="0"/>
              </a:rPr>
              <a:t>METHODOLOGY (3/4) -- LangGraph Agent &amp; Meal Generation</a:t>
            </a:r>
          </a:p>
          <a:p>
            <a:pPr algn="ctr"/>
            <a:r>
              <a:rPr lang="en-US" sz="1700" b="0" dirty="0">
                <a:solidFill>
                  <a:srgbClr val="4527A0"/>
                </a:solidFill>
                <a:latin typeface="Calibri" pitchFamily="34" charset="0"/>
              </a:rPr>
              <a:t>5-node stateful AI agent with Claude API integration and IFCT nutrient calculation</a:t>
            </a:r>
          </a:p>
        </p:txBody>
      </p:sp>
      <p:sp>
        <p:nvSpPr>
          <p:cNvPr id="10" name="N0"/>
          <p:cNvSpPr/>
          <p:nvPr/>
        </p:nvSpPr>
        <p:spPr>
          <a:xfrm>
            <a:off x="300000" y="840000"/>
            <a:ext cx="4200000" cy="780000"/>
          </a:xfrm>
          <a:prstGeom prst="rect">
            <a:avLst/>
          </a:prstGeom>
          <a:solidFill>
            <a:srgbClr val="1A237E"/>
          </a:solidFill>
          <a:ln w="12000">
            <a:solidFill>
              <a:srgbClr val="FFFFFF"/>
            </a:solidFill>
          </a:ln>
        </p:spPr>
        <p:txBody>
          <a:bodyPr wrap="square" lIns="130000" rIns="100000" tIns="80000">
            <a:normAutofit/>
          </a:bodyPr>
          <a:lstStyle/>
          <a:p>
            <a:pPr algn="l">
              <a:buNone/>
            </a:pPr>
            <a:r>
              <a:rPr lang="en-US" sz="1700" b="1" dirty="0">
                <a:solidFill>
                  <a:srgbClr val="FFFFFF"/>
                </a:solidFill>
                <a:latin typeface="Calibri" pitchFamily="34" charset="0"/>
              </a:rPr>
              <a:t>Node: intake</a:t>
            </a:r>
          </a:p>
          <a:p>
            <a:pPr algn="l">
              <a:buNone/>
            </a:pPr>
            <a:r>
              <a:rPr lang="en-US" sz="1500" dirty="0">
                <a:solidFill>
                  <a:srgbClr val="FFFFFF"/>
                </a:solidFill>
                <a:latin typeface="Calibri" pitchFamily="34" charset="0"/>
              </a:rPr>
              <a:t>Parse user message, update session state (energy/sleep/focus). Load user profile, medicines, and district from Supabase if not in session.</a:t>
            </a:r>
          </a:p>
        </p:txBody>
      </p:sp>
      <p:sp>
        <p:nvSpPr>
          <p:cNvPr id="60" name="ArrD60"/>
          <p:cNvSpPr>
            <a:spLocks noChangeArrowheads="1"/>
          </p:cNvSpPr>
          <p:nvPr/>
        </p:nvSpPr>
        <p:spPr>
          <a:xfrm>
            <a:off x="2320000" y="1620000"/>
            <a:ext cx="160000" cy="160000"/>
          </a:xfrm>
          <a:prstGeom prst="downArrow">
            <a:avLst>
              <a:gd name="adj1" fmla="val 50000"/>
              <a:gd name="adj2" fmla="val 50000"/>
            </a:avLst>
          </a:prstGeom>
          <a:solidFill>
            <a:srgbClr val="1A237E"/>
          </a:solidFill>
        </p:spPr>
        <p:txBody>
          <a:bodyPr/>
          <a:lstStyle/>
          <a:p/>
        </p:txBody>
      </p:sp>
      <p:sp>
        <p:nvSpPr>
          <p:cNvPr id="11" name="N1"/>
          <p:cNvSpPr/>
          <p:nvPr/>
        </p:nvSpPr>
        <p:spPr>
          <a:xfrm>
            <a:off x="300000" y="1780000"/>
            <a:ext cx="4200000" cy="780000"/>
          </a:xfrm>
          <a:prstGeom prst="rect">
            <a:avLst/>
          </a:prstGeom>
          <a:solidFill>
            <a:srgbClr val="1565C0"/>
          </a:solidFill>
          <a:ln w="12000">
            <a:solidFill>
              <a:srgbClr val="FFFFFF"/>
            </a:solidFill>
          </a:ln>
        </p:spPr>
        <p:txBody>
          <a:bodyPr wrap="square" lIns="130000" rIns="100000" tIns="80000">
            <a:normAutofit/>
          </a:bodyPr>
          <a:lstStyle/>
          <a:p>
            <a:pPr algn="l">
              <a:buNone/>
            </a:pPr>
            <a:r>
              <a:rPr lang="en-US" sz="1700" b="1" dirty="0">
                <a:solidFill>
                  <a:srgbClr val="FFFFFF"/>
                </a:solidFill>
                <a:latin typeface="Calibri" pitchFamily="34" charset="0"/>
              </a:rPr>
              <a:t>Node: route</a:t>
            </a:r>
          </a:p>
          <a:p>
            <a:pPr algn="l">
              <a:buNone/>
            </a:pPr>
            <a:r>
              <a:rPr lang="en-US" sz="1500" dirty="0">
                <a:solidFill>
                  <a:srgbClr val="FFFFFF"/>
                </a:solidFill>
                <a:latin typeface="Calibri" pitchFamily="34" charset="0"/>
              </a:rPr>
              <a:t>LLM call classifies intent into: meal_request | medicine_question | nutrient_query | food_log | general_chat. Routes to correct downstream node.</a:t>
            </a:r>
          </a:p>
        </p:txBody>
      </p:sp>
      <p:sp>
        <p:nvSpPr>
          <p:cNvPr id="61" name="ArrD61"/>
          <p:cNvSpPr>
            <a:spLocks noChangeArrowheads="1"/>
          </p:cNvSpPr>
          <p:nvPr/>
        </p:nvSpPr>
        <p:spPr>
          <a:xfrm>
            <a:off x="2320000" y="2560000"/>
            <a:ext cx="160000" cy="160000"/>
          </a:xfrm>
          <a:prstGeom prst="downArrow">
            <a:avLst>
              <a:gd name="adj1" fmla="val 50000"/>
              <a:gd name="adj2" fmla="val 50000"/>
            </a:avLst>
          </a:prstGeom>
          <a:solidFill>
            <a:srgbClr val="1A237E"/>
          </a:solidFill>
        </p:spPr>
        <p:txBody>
          <a:bodyPr/>
          <a:lstStyle/>
          <a:p/>
        </p:txBody>
      </p:sp>
      <p:sp>
        <p:nvSpPr>
          <p:cNvPr id="12" name="N2"/>
          <p:cNvSpPr/>
          <p:nvPr/>
        </p:nvSpPr>
        <p:spPr>
          <a:xfrm>
            <a:off x="300000" y="2720000"/>
            <a:ext cx="4200000" cy="780000"/>
          </a:xfrm>
          <a:prstGeom prst="rect">
            <a:avLst/>
          </a:prstGeom>
          <a:solidFill>
            <a:srgbClr val="4527A0"/>
          </a:solidFill>
          <a:ln w="12000">
            <a:solidFill>
              <a:srgbClr val="FFFFFF"/>
            </a:solidFill>
          </a:ln>
        </p:spPr>
        <p:txBody>
          <a:bodyPr wrap="square" lIns="130000" rIns="100000" tIns="80000">
            <a:normAutofit/>
          </a:bodyPr>
          <a:lstStyle/>
          <a:p>
            <a:pPr algn="l">
              <a:buNone/>
            </a:pPr>
            <a:r>
              <a:rPr lang="en-US" sz="1700" b="1" dirty="0">
                <a:solidFill>
                  <a:srgbClr val="FFFFFF"/>
                </a:solidFill>
                <a:latin typeface="Calibri" pitchFamily="34" charset="0"/>
              </a:rPr>
              <a:t>Node: meal</a:t>
            </a:r>
          </a:p>
          <a:p>
            <a:pPr algn="l">
              <a:buNone/>
            </a:pPr>
            <a:r>
              <a:rPr lang="en-US" sz="1500" dirty="0">
                <a:solidFill>
                  <a:srgbClr val="FFFFFF"/>
                </a:solidFill>
                <a:latin typeface="Calibri" pitchFamily="34" charset="0"/>
              </a:rPr>
              <a:t>Runs inference engine (Step 2). Fetches district foods. Calls Claude API with nutrient-constrained prompt. Saves plan to meal_plans table.</a:t>
            </a:r>
          </a:p>
        </p:txBody>
      </p:sp>
      <p:sp>
        <p:nvSpPr>
          <p:cNvPr id="62" name="ArrD62"/>
          <p:cNvSpPr>
            <a:spLocks noChangeArrowheads="1"/>
          </p:cNvSpPr>
          <p:nvPr/>
        </p:nvSpPr>
        <p:spPr>
          <a:xfrm>
            <a:off x="2320000" y="3500000"/>
            <a:ext cx="160000" cy="160000"/>
          </a:xfrm>
          <a:prstGeom prst="downArrow">
            <a:avLst>
              <a:gd name="adj1" fmla="val 50000"/>
              <a:gd name="adj2" fmla="val 50000"/>
            </a:avLst>
          </a:prstGeom>
          <a:solidFill>
            <a:srgbClr val="1A237E"/>
          </a:solidFill>
        </p:spPr>
        <p:txBody>
          <a:bodyPr/>
          <a:lstStyle/>
          <a:p/>
        </p:txBody>
      </p:sp>
      <p:sp>
        <p:nvSpPr>
          <p:cNvPr id="13" name="N3"/>
          <p:cNvSpPr/>
          <p:nvPr/>
        </p:nvSpPr>
        <p:spPr>
          <a:xfrm>
            <a:off x="300000" y="3660000"/>
            <a:ext cx="4200000" cy="780000"/>
          </a:xfrm>
          <a:prstGeom prst="rect">
            <a:avLst/>
          </a:prstGeom>
          <a:solidFill>
            <a:srgbClr val="00695C"/>
          </a:solidFill>
          <a:ln w="12000">
            <a:solidFill>
              <a:srgbClr val="FFFFFF"/>
            </a:solidFill>
          </a:ln>
        </p:spPr>
        <p:txBody>
          <a:bodyPr wrap="square" lIns="130000" rIns="100000" tIns="80000">
            <a:normAutofit/>
          </a:bodyPr>
          <a:lstStyle/>
          <a:p>
            <a:pPr algn="l">
              <a:buNone/>
            </a:pPr>
            <a:r>
              <a:rPr lang="en-US" sz="1700" b="1" dirty="0">
                <a:solidFill>
                  <a:srgbClr val="FFFFFF"/>
                </a:solidFill>
                <a:latin typeface="Calibri" pitchFamily="34" charset="0"/>
              </a:rPr>
              <a:t>Node: info</a:t>
            </a:r>
          </a:p>
          <a:p>
            <a:pPr algn="l">
              <a:buNone/>
            </a:pPr>
            <a:r>
              <a:rPr lang="en-US" sz="1500" dirty="0">
                <a:solidFill>
                  <a:srgbClr val="FFFFFF"/>
                </a:solidFill>
                <a:latin typeface="Calibri" pitchFamily="34" charset="0"/>
              </a:rPr>
              <a:t>Answers nutrition questions, medicine interaction queries, and RDA explanations using Claude API with user health context loaded in system prompt.</a:t>
            </a:r>
          </a:p>
        </p:txBody>
      </p:sp>
      <p:sp>
        <p:nvSpPr>
          <p:cNvPr id="63" name="ArrD63"/>
          <p:cNvSpPr>
            <a:spLocks noChangeArrowheads="1"/>
          </p:cNvSpPr>
          <p:nvPr/>
        </p:nvSpPr>
        <p:spPr>
          <a:xfrm>
            <a:off x="2320000" y="4440000"/>
            <a:ext cx="160000" cy="160000"/>
          </a:xfrm>
          <a:prstGeom prst="downArrow">
            <a:avLst>
              <a:gd name="adj1" fmla="val 50000"/>
              <a:gd name="adj2" fmla="val 50000"/>
            </a:avLst>
          </a:prstGeom>
          <a:solidFill>
            <a:srgbClr val="1A237E"/>
          </a:solidFill>
        </p:spPr>
        <p:txBody>
          <a:bodyPr/>
          <a:lstStyle/>
          <a:p/>
        </p:txBody>
      </p:sp>
      <p:sp>
        <p:nvSpPr>
          <p:cNvPr id="14" name="N4"/>
          <p:cNvSpPr/>
          <p:nvPr/>
        </p:nvSpPr>
        <p:spPr>
          <a:xfrm>
            <a:off x="300000" y="4600000"/>
            <a:ext cx="4200000" cy="780000"/>
          </a:xfrm>
          <a:prstGeom prst="rect">
            <a:avLst/>
          </a:prstGeom>
          <a:solidFill>
            <a:srgbClr val="BF360C"/>
          </a:solidFill>
          <a:ln w="12000">
            <a:solidFill>
              <a:srgbClr val="FFFFFF"/>
            </a:solidFill>
          </a:ln>
        </p:spPr>
        <p:txBody>
          <a:bodyPr wrap="square" lIns="130000" rIns="100000" tIns="80000">
            <a:normAutofit/>
          </a:bodyPr>
          <a:lstStyle/>
          <a:p>
            <a:pPr algn="l">
              <a:buNone/>
            </a:pPr>
            <a:r>
              <a:rPr lang="en-US" sz="1700" b="1" dirty="0">
                <a:solidFill>
                  <a:srgbClr val="FFFFFF"/>
                </a:solidFill>
                <a:latin typeface="Calibri" pitchFamily="34" charset="0"/>
              </a:rPr>
              <a:t>Node: format</a:t>
            </a:r>
          </a:p>
          <a:p>
            <a:pPr algn="l">
              <a:buNone/>
            </a:pPr>
            <a:r>
              <a:rPr lang="en-US" sz="1500" dirty="0">
                <a:solidFill>
                  <a:srgbClr val="FFFFFF"/>
                </a:solidFill>
                <a:latin typeface="Calibri" pitchFamily="34" charset="0"/>
              </a:rPr>
              <a:t>Translates response to user language (Hindi/English/Hinglish). Converts gram weights to Indian portions (katori, chapati, glass). Adds medicine timing notes.</a:t>
            </a:r>
          </a:p>
        </p:txBody>
      </p:sp>
      <p:sp>
        <p:nvSpPr>
          <p:cNvPr id="30" name="Box30"/>
          <p:cNvSpPr/>
          <p:nvPr/>
        </p:nvSpPr>
        <p:spPr>
          <a:xfrm>
            <a:off x="4800000" y="840000"/>
            <a:ext cx="7300000" cy="1900000"/>
          </a:xfrm>
          <a:prstGeom prst="rect">
            <a:avLst/>
          </a:prstGeom>
          <a:solidFill>
            <a:srgbClr val="E65100"/>
          </a:solidFill>
          <a:ln w="15000">
            <a:solidFill>
              <a:srgbClr val="BF360C"/>
            </a:solidFill>
          </a:ln>
        </p:spPr>
        <p:txBody>
          <a:bodyPr wrap="square" lIns="130000" rIns="100000" tIns="100000">
            <a:normAutofit/>
          </a:bodyPr>
          <a:lstStyle/>
          <a:p>
            <a:pPr algn="l">
              <a:lnSpc>
                <a:spcPct val="110000"/>
              </a:lnSpc>
              <a:spcAft>
                <a:spcPts val="120"/>
              </a:spcAft>
              <a:buNone/>
            </a:pPr>
            <a:r>
              <a:rPr lang="en-US" sz="1700" b="1" dirty="0">
                <a:solidFill>
                  <a:srgbClr val="FFFFFF"/>
                </a:solidFill>
                <a:latin typeface="Calibri" pitchFamily="34" charset="0"/>
              </a:rPr>
              <a:t>Claude API — Meal Generation Prompt Structure</a:t>
            </a:r>
          </a:p>
          <a:p>
            <a:pPr algn="l" marL="120000">
              <a:lnSpc>
                <a:spcPct val="110000"/>
              </a:lnSpc>
              <a:spcAft>
                <a:spcPts val="100"/>
              </a:spcAft>
              <a:buChar char="-"/>
            </a:pPr>
            <a:r>
              <a:rPr lang="en-US" sz="1500" dirty="0">
                <a:solidFill>
                  <a:srgbClr val="111111"/>
                </a:solidFill>
                <a:latin typeface="Calibri" pitchFamily="34" charset="0"/>
              </a:rPr>
              <a:t>System prompt contains: user profile context, daily nutrient targets from inference engine, regional food list from district database, medication flags and food-timing rules, language preference</a:t>
            </a:r>
          </a:p>
          <a:p>
            <a:pPr algn="l" marL="120000">
              <a:lnSpc>
                <a:spcPct val="110000"/>
              </a:lnSpc>
              <a:spcAft>
                <a:spcPts val="100"/>
              </a:spcAft>
              <a:buChar char="-"/>
            </a:pPr>
            <a:r>
              <a:rPr lang="en-US" sz="1500" dirty="0">
                <a:solidFill>
                  <a:srgbClr val="111111"/>
                </a:solidFill>
                <a:latin typeface="Calibri" pitchFamily="34" charset="0"/>
              </a:rPr>
              <a:t>User message: "Generate my meal plan for today"</a:t>
            </a:r>
          </a:p>
          <a:p>
            <a:pPr algn="l" marL="120000">
              <a:lnSpc>
                <a:spcPct val="110000"/>
              </a:lnSpc>
              <a:spcAft>
                <a:spcPts val="100"/>
              </a:spcAft>
              <a:buChar char="-"/>
            </a:pPr>
            <a:r>
              <a:rPr lang="en-US" sz="1500" dirty="0">
                <a:solidFill>
                  <a:srgbClr val="111111"/>
                </a:solidFill>
                <a:latin typeface="Calibri" pitchFamily="34" charset="0"/>
              </a:rPr>
              <a:t>Output format: structured JSON with breakfast, lunch, dinner, snack -- each with food items, Indian portions, and a nutrition rationale note</a:t>
            </a:r>
          </a:p>
          <a:p>
            <a:pPr algn="l" marL="120000">
              <a:lnSpc>
                <a:spcPct val="110000"/>
              </a:lnSpc>
              <a:spcAft>
                <a:spcPts val="100"/>
              </a:spcAft>
              <a:buChar char="-"/>
            </a:pPr>
            <a:r>
              <a:rPr lang="en-US" sz="1500" dirty="0">
                <a:solidFill>
                  <a:srgbClr val="111111"/>
                </a:solidFill>
                <a:latin typeface="Calibri" pitchFamily="34" charset="0"/>
              </a:rPr>
              <a:t>Guard rails: post-processing Python rule engine validates protein floor, checks against food flags, verifies minimum micronutrient coverage</a:t>
            </a:r>
          </a:p>
        </p:txBody>
      </p:sp>
      <p:sp>
        <p:nvSpPr>
          <p:cNvPr id="31" name="Box31"/>
          <p:cNvSpPr/>
          <p:nvPr/>
        </p:nvSpPr>
        <p:spPr>
          <a:xfrm>
            <a:off x="4800000" y="2880000"/>
            <a:ext cx="7300000" cy="1350000"/>
          </a:xfrm>
          <a:prstGeom prst="rect">
            <a:avLst/>
          </a:prstGeom>
          <a:solidFill>
            <a:srgbClr val="2E7D32"/>
          </a:solidFill>
          <a:ln w="15000">
            <a:solidFill>
              <a:srgbClr val="1B5E20"/>
            </a:solidFill>
          </a:ln>
        </p:spPr>
        <p:txBody>
          <a:bodyPr wrap="square" lIns="130000" rIns="100000" tIns="100000">
            <a:normAutofit/>
          </a:bodyPr>
          <a:lstStyle/>
          <a:p>
            <a:pPr algn="l">
              <a:lnSpc>
                <a:spcPct val="110000"/>
              </a:lnSpc>
              <a:spcAft>
                <a:spcPts val="120"/>
              </a:spcAft>
              <a:buNone/>
            </a:pPr>
            <a:r>
              <a:rPr lang="en-US" sz="1700" b="1" dirty="0">
                <a:solidFill>
                  <a:srgbClr val="FFFFFF"/>
                </a:solidFill>
                <a:latin typeface="Calibri" pitchFamily="34" charset="0"/>
              </a:rPr>
              <a:t>IFCT 2017 Nutrient Calculation</a:t>
            </a:r>
          </a:p>
          <a:p>
            <a:pPr algn="l" marL="120000">
              <a:lnSpc>
                <a:spcPct val="110000"/>
              </a:lnSpc>
              <a:spcAft>
                <a:spcPts val="100"/>
              </a:spcAft>
              <a:buChar char="-"/>
            </a:pPr>
            <a:r>
              <a:rPr lang="en-US" sz="1500" dirty="0">
                <a:solidFill>
                  <a:srgbClr val="111111"/>
                </a:solidFill>
                <a:latin typeface="Calibri" pitchFamily="34" charset="0"/>
              </a:rPr>
              <a:t>After Claude returns the meal plan JSON, each food item is matched to IFCT 2017 database</a:t>
            </a:r>
          </a:p>
          <a:p>
            <a:pPr algn="l" marL="120000">
              <a:lnSpc>
                <a:spcPct val="110000"/>
              </a:lnSpc>
              <a:spcAft>
                <a:spcPts val="100"/>
              </a:spcAft>
              <a:buChar char="-"/>
            </a:pPr>
            <a:r>
              <a:rPr lang="en-US" sz="1500" dirty="0">
                <a:solidFill>
                  <a:srgbClr val="111111"/>
                </a:solidFill>
                <a:latin typeface="Calibri" pitchFamily="34" charset="0"/>
              </a:rPr>
              <a:t>Gram weights calculated using portion_conversions.json: 1 katori=150g, 1 chapati=35g, 1 glass=240ml</a:t>
            </a:r>
          </a:p>
          <a:p>
            <a:pPr algn="l" marL="120000">
              <a:lnSpc>
                <a:spcPct val="110000"/>
              </a:lnSpc>
              <a:spcAft>
                <a:spcPts val="100"/>
              </a:spcAft>
              <a:buChar char="-"/>
            </a:pPr>
            <a:r>
              <a:rPr lang="en-US" sz="1500" dirty="0">
                <a:solidFill>
                  <a:srgbClr val="111111"/>
                </a:solidFill>
                <a:latin typeface="Calibri" pitchFamily="34" charset="0"/>
              </a:rPr>
              <a:t>14 nutrients computed per food item at the stated gram weight</a:t>
            </a:r>
          </a:p>
          <a:p>
            <a:pPr algn="l" marL="120000">
              <a:lnSpc>
                <a:spcPct val="110000"/>
              </a:lnSpc>
              <a:spcAft>
                <a:spcPts val="100"/>
              </a:spcAft>
              <a:buChar char="-"/>
            </a:pPr>
            <a:r>
              <a:rPr lang="en-US" sz="1500" dirty="0">
                <a:solidFill>
                  <a:srgbClr val="111111"/>
                </a:solidFill>
                <a:latin typeface="Calibri" pitchFamily="34" charset="0"/>
              </a:rPr>
              <a:t>Meal-level totals and day-total computed and stored in meal_plans table</a:t>
            </a:r>
          </a:p>
        </p:txBody>
      </p:sp>
      <p:sp>
        <p:nvSpPr>
          <p:cNvPr id="32" name="Box32"/>
          <p:cNvSpPr/>
          <p:nvPr/>
        </p:nvSpPr>
        <p:spPr>
          <a:xfrm>
            <a:off x="4800000" y="4360000"/>
            <a:ext cx="7300000" cy="1350000"/>
          </a:xfrm>
          <a:prstGeom prst="rect">
            <a:avLst/>
          </a:prstGeom>
          <a:solidFill>
            <a:srgbClr val="37474F"/>
          </a:solidFill>
          <a:ln w="15000">
            <a:solidFill>
              <a:srgbClr val="212121"/>
            </a:solidFill>
          </a:ln>
        </p:spPr>
        <p:txBody>
          <a:bodyPr wrap="square" lIns="130000" rIns="100000" tIns="100000">
            <a:normAutofit/>
          </a:bodyPr>
          <a:lstStyle/>
          <a:p>
            <a:pPr algn="l">
              <a:lnSpc>
                <a:spcPct val="110000"/>
              </a:lnSpc>
              <a:spcAft>
                <a:spcPts val="120"/>
              </a:spcAft>
              <a:buNone/>
            </a:pPr>
            <a:r>
              <a:rPr lang="en-US" sz="1700" b="1" dirty="0">
                <a:solidFill>
                  <a:srgbClr val="FFFFFF"/>
                </a:solidFill>
                <a:latin typeface="Calibri" pitchFamily="34" charset="0"/>
              </a:rPr>
              <a:t>Persistent Memory (LangGraph PostgreSQL Checkpointer)</a:t>
            </a:r>
          </a:p>
          <a:p>
            <a:pPr algn="l" marL="120000">
              <a:lnSpc>
                <a:spcPct val="110000"/>
              </a:lnSpc>
              <a:spcAft>
                <a:spcPts val="100"/>
              </a:spcAft>
              <a:buChar char="-"/>
            </a:pPr>
            <a:r>
              <a:rPr lang="en-US" sz="1500" dirty="0">
                <a:solidFill>
                  <a:srgbClr val="111111"/>
                </a:solidFill>
                <a:latin typeface="Calibri" pitchFamily="34" charset="0"/>
              </a:rPr>
              <a:t>After every message, full AaharState is saved to PostgreSQL via LangGraph checkpointer</a:t>
            </a:r>
          </a:p>
          <a:p>
            <a:pPr algn="l" marL="120000">
              <a:lnSpc>
                <a:spcPct val="110000"/>
              </a:lnSpc>
              <a:spcAft>
                <a:spcPts val="100"/>
              </a:spcAft>
              <a:buChar char="-"/>
            </a:pPr>
            <a:r>
              <a:rPr lang="en-US" sz="1500" dirty="0">
                <a:solidFill>
                  <a:srgbClr val="111111"/>
                </a:solidFill>
                <a:latin typeface="Calibri" pitchFamily="34" charset="0"/>
              </a:rPr>
              <a:t>State includes: full conversation history, user profile, active medicines, today's nutrient targets, foods eaten so far today</a:t>
            </a:r>
          </a:p>
          <a:p>
            <a:pPr algn="l" marL="120000">
              <a:lnSpc>
                <a:spcPct val="110000"/>
              </a:lnSpc>
              <a:spcAft>
                <a:spcPts val="100"/>
              </a:spcAft>
              <a:buChar char="-"/>
            </a:pPr>
            <a:r>
              <a:rPr lang="en-US" sz="1500" dirty="0">
                <a:solidFill>
                  <a:srgbClr val="111111"/>
                </a:solidFill>
                <a:latin typeface="Calibri" pitchFamily="34" charset="0"/>
              </a:rPr>
              <a:t>Next session: agent restores state -- remembers past preferences, avoidances, and health context</a:t>
            </a:r>
          </a:p>
          <a:p>
            <a:pPr algn="l" marL="120000">
              <a:lnSpc>
                <a:spcPct val="110000"/>
              </a:lnSpc>
              <a:spcAft>
                <a:spcPts val="100"/>
              </a:spcAft>
              <a:buChar char="-"/>
            </a:pPr>
            <a:r>
              <a:rPr lang="en-US" sz="1500" dirty="0">
                <a:solidFill>
                  <a:srgbClr val="111111"/>
                </a:solidFill>
                <a:latin typeface="Calibri" pitchFamily="34" charset="0"/>
              </a:rPr>
              <a:t>Session identified by user_id -- different devices resume the same conversation thread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Bar"/>
          <p:cNvSpPr/>
          <p:nvPr/>
        </p:nvSpPr>
        <p:spPr>
          <a:xfrm>
            <a:off x="2582109" y="131214"/>
            <a:ext cx="6837661" cy="584775"/>
          </a:xfrm>
          <a:prstGeom prst="rect">
            <a:avLst/>
          </a:prstGeom>
        </p:spPr>
        <p:txBody>
          <a:bodyPr wrap="square">
            <a:normAutofit/>
          </a:bodyPr>
          <a:lstStyle/>
          <a:p>
            <a:pPr algn="ctr"/>
            <a:r>
              <a:rPr lang="en-US" sz="2400" b="1" dirty="0">
                <a:solidFill>
                  <a:srgbClr val="0000FF"/>
                </a:solidFill>
                <a:latin typeface="Times New Roman" pitchFamily="18" charset="0"/>
              </a:rPr>
              <a:t>METHODOLOGY (4/4) -- End-to-End System Architecture</a:t>
            </a:r>
          </a:p>
          <a:p>
            <a:pPr algn="ctr"/>
            <a:r>
              <a:rPr lang="en-US" sz="1700" b="0" dirty="0">
                <a:solidFill>
                  <a:srgbClr val="4527A0"/>
                </a:solidFill>
                <a:latin typeface="Calibri" pitchFamily="34" charset="0"/>
              </a:rPr>
              <a:t>Complete data flow from user request to personalised meal plan output</a:t>
            </a:r>
          </a:p>
        </p:txBody>
      </p:sp>
      <p:sp>
        <p:nvSpPr>
          <p:cNvPr id="10" name="Label10"/>
          <p:cNvSpPr/>
          <p:nvPr/>
        </p:nvSpPr>
        <p:spPr>
          <a:xfrm>
            <a:off x="300000" y="800000"/>
            <a:ext cx="11600000" cy="320000"/>
          </a:xfrm>
          <a:prstGeom prst="rect">
            <a:avLst/>
          </a:prstGeom>
          <a:solidFill>
            <a:srgbClr val="1A237E"/>
          </a:solidFill>
        </p:spPr>
        <p:txBody>
          <a:bodyPr wrap="square" anchor="ctr" lIns="80000" rIns="80000">
            <a:spAutoFit/>
          </a:bodyPr>
          <a:lstStyle/>
          <a:p>
            <a:pPr algn="ctr"/>
            <a:r>
              <a:rPr lang="en-US" sz="1800" b="1" dirty="0">
                <a:solidFill>
                  <a:srgbClr val="FFFFFF"/>
                </a:solidFill>
                <a:latin typeface="Calibri" pitchFamily="34" charset="0"/>
              </a:rPr>
              <a:t>LAYER 1: USER INPUT  --  Web Browser (Next.js) -&gt; FastAPI Backend (Python) -&gt; Supabase Auth JWT Validation</a:t>
            </a:r>
          </a:p>
        </p:txBody>
      </p:sp>
      <p:sp>
        <p:nvSpPr>
          <p:cNvPr id="50" name="ArrD50"/>
          <p:cNvSpPr>
            <a:spLocks noChangeArrowheads="1"/>
          </p:cNvSpPr>
          <p:nvPr/>
        </p:nvSpPr>
        <p:spPr>
          <a:xfrm>
            <a:off x="5980000" y="1120000"/>
            <a:ext cx="160000" cy="240000"/>
          </a:xfrm>
          <a:prstGeom prst="downArrow">
            <a:avLst>
              <a:gd name="adj1" fmla="val 50000"/>
              <a:gd name="adj2" fmla="val 50000"/>
            </a:avLst>
          </a:prstGeom>
          <a:solidFill>
            <a:srgbClr val="1A237E"/>
          </a:solidFill>
        </p:spPr>
        <p:txBody>
          <a:bodyPr/>
          <a:lstStyle/>
          <a:p/>
        </p:txBody>
      </p:sp>
      <p:sp>
        <p:nvSpPr>
          <p:cNvPr id="11" name="Label11"/>
          <p:cNvSpPr/>
          <p:nvPr/>
        </p:nvSpPr>
        <p:spPr>
          <a:xfrm>
            <a:off x="300000" y="1380000"/>
            <a:ext cx="11600000" cy="320000"/>
          </a:xfrm>
          <a:prstGeom prst="rect">
            <a:avLst/>
          </a:prstGeom>
          <a:solidFill>
            <a:srgbClr val="4527A0"/>
          </a:solidFill>
        </p:spPr>
        <p:txBody>
          <a:bodyPr wrap="square" anchor="ctr" lIns="80000" rIns="80000">
            <a:spAutoFit/>
          </a:bodyPr>
          <a:lstStyle/>
          <a:p>
            <a:pPr algn="ctr"/>
            <a:r>
              <a:rPr lang="en-US" sz="1800" b="1" dirty="0">
                <a:solidFill>
                  <a:srgbClr val="FFFFFF"/>
                </a:solidFill>
                <a:latin typeface="Calibri" pitchFamily="34" charset="0"/>
              </a:rPr>
              <a:t>LAYER 2: LANGGRAPH AGENT ENTRY  --  intake_node loads user context  -&gt;  route_node classifies intent (LLM call &lt;500ms)</a:t>
            </a:r>
          </a:p>
        </p:txBody>
      </p:sp>
      <p:sp>
        <p:nvSpPr>
          <p:cNvPr id="51" name="ArrD51"/>
          <p:cNvSpPr>
            <a:spLocks noChangeArrowheads="1"/>
          </p:cNvSpPr>
          <p:nvPr/>
        </p:nvSpPr>
        <p:spPr>
          <a:xfrm>
            <a:off x="5980000" y="1700000"/>
            <a:ext cx="160000" cy="240000"/>
          </a:xfrm>
          <a:prstGeom prst="downArrow">
            <a:avLst>
              <a:gd name="adj1" fmla="val 50000"/>
              <a:gd name="adj2" fmla="val 50000"/>
            </a:avLst>
          </a:prstGeom>
          <a:solidFill>
            <a:srgbClr val="1A237E"/>
          </a:solidFill>
        </p:spPr>
        <p:txBody>
          <a:bodyPr/>
          <a:lstStyle/>
          <a:p/>
        </p:txBody>
      </p:sp>
      <p:sp>
        <p:nvSpPr>
          <p:cNvPr id="12" name="Label12"/>
          <p:cNvSpPr/>
          <p:nvPr/>
        </p:nvSpPr>
        <p:spPr>
          <a:xfrm>
            <a:off x="300000" y="1960000"/>
            <a:ext cx="11600000" cy="320000"/>
          </a:xfrm>
          <a:prstGeom prst="rect">
            <a:avLst/>
          </a:prstGeom>
          <a:solidFill>
            <a:srgbClr val="1565C0"/>
          </a:solidFill>
        </p:spPr>
        <p:txBody>
          <a:bodyPr wrap="square" anchor="ctr" lIns="80000" rIns="80000">
            <a:spAutoFit/>
          </a:bodyPr>
          <a:lstStyle/>
          <a:p>
            <a:pPr algn="ctr"/>
            <a:r>
              <a:rPr lang="en-US" sz="1800" b="1" dirty="0">
                <a:solidFill>
                  <a:srgbClr val="FFFFFF"/>
                </a:solidFill>
                <a:latin typeface="Calibri" pitchFamily="34" charset="0"/>
              </a:rPr>
              <a:t>LAYER 3: INFERENCE ENGINE  --  get_rda() -&gt; apply_condition_rules() -&gt; apply_medicine_impact() -&gt; apply_physio_boosts()</a:t>
            </a:r>
          </a:p>
        </p:txBody>
      </p:sp>
      <p:sp>
        <p:nvSpPr>
          <p:cNvPr id="52" name="ArrD52"/>
          <p:cNvSpPr>
            <a:spLocks noChangeArrowheads="1"/>
          </p:cNvSpPr>
          <p:nvPr/>
        </p:nvSpPr>
        <p:spPr>
          <a:xfrm>
            <a:off x="5980000" y="2280000"/>
            <a:ext cx="160000" cy="240000"/>
          </a:xfrm>
          <a:prstGeom prst="downArrow">
            <a:avLst>
              <a:gd name="adj1" fmla="val 50000"/>
              <a:gd name="adj2" fmla="val 50000"/>
            </a:avLst>
          </a:prstGeom>
          <a:solidFill>
            <a:srgbClr val="1A237E"/>
          </a:solidFill>
        </p:spPr>
        <p:txBody>
          <a:bodyPr/>
          <a:lstStyle/>
          <a:p/>
        </p:txBody>
      </p:sp>
      <p:sp>
        <p:nvSpPr>
          <p:cNvPr id="13" name="Label13"/>
          <p:cNvSpPr/>
          <p:nvPr/>
        </p:nvSpPr>
        <p:spPr>
          <a:xfrm>
            <a:off x="300000" y="2540000"/>
            <a:ext cx="11600000" cy="320000"/>
          </a:xfrm>
          <a:prstGeom prst="rect">
            <a:avLst/>
          </a:prstGeom>
          <a:solidFill>
            <a:srgbClr val="00695C"/>
          </a:solidFill>
        </p:spPr>
        <p:txBody>
          <a:bodyPr wrap="square" anchor="ctr" lIns="80000" rIns="80000">
            <a:spAutoFit/>
          </a:bodyPr>
          <a:lstStyle/>
          <a:p>
            <a:pPr algn="ctr"/>
            <a:r>
              <a:rPr lang="en-US" sz="1800" b="1" dirty="0">
                <a:solidFill>
                  <a:srgbClr val="FFFFFF"/>
                </a:solidFill>
                <a:latin typeface="Calibri" pitchFamily="34" charset="0"/>
              </a:rPr>
              <a:t>LAYER 4: DATA LOOKUP  --  district_foods DB (state/district match)  +  IFCT 2017 food nutrients  +  medicine_impacts.json</a:t>
            </a:r>
          </a:p>
        </p:txBody>
      </p:sp>
      <p:sp>
        <p:nvSpPr>
          <p:cNvPr id="53" name="ArrD53"/>
          <p:cNvSpPr>
            <a:spLocks noChangeArrowheads="1"/>
          </p:cNvSpPr>
          <p:nvPr/>
        </p:nvSpPr>
        <p:spPr>
          <a:xfrm>
            <a:off x="5980000" y="2860000"/>
            <a:ext cx="160000" cy="240000"/>
          </a:xfrm>
          <a:prstGeom prst="downArrow">
            <a:avLst>
              <a:gd name="adj1" fmla="val 50000"/>
              <a:gd name="adj2" fmla="val 50000"/>
            </a:avLst>
          </a:prstGeom>
          <a:solidFill>
            <a:srgbClr val="1A237E"/>
          </a:solidFill>
        </p:spPr>
        <p:txBody>
          <a:bodyPr/>
          <a:lstStyle/>
          <a:p/>
        </p:txBody>
      </p:sp>
      <p:sp>
        <p:nvSpPr>
          <p:cNvPr id="14" name="Label14"/>
          <p:cNvSpPr/>
          <p:nvPr/>
        </p:nvSpPr>
        <p:spPr>
          <a:xfrm>
            <a:off x="300000" y="3120000"/>
            <a:ext cx="11600000" cy="320000"/>
          </a:xfrm>
          <a:prstGeom prst="rect">
            <a:avLst/>
          </a:prstGeom>
          <a:solidFill>
            <a:srgbClr val="E65100"/>
          </a:solidFill>
        </p:spPr>
        <p:txBody>
          <a:bodyPr wrap="square" anchor="ctr" lIns="80000" rIns="80000">
            <a:spAutoFit/>
          </a:bodyPr>
          <a:lstStyle/>
          <a:p>
            <a:pPr algn="ctr"/>
            <a:r>
              <a:rPr lang="en-US" sz="1800" b="1" dirty="0">
                <a:solidFill>
                  <a:srgbClr val="FFFFFF"/>
                </a:solidFill>
                <a:latin typeface="Calibri" pitchFamily="34" charset="0"/>
              </a:rPr>
              <a:t>LAYER 5: CLAUDE API CALL  --  Nutrient-constrained prompt  -&gt;  JSON meal plan generated  -&gt;  IFCT nutrient enrichment</a:t>
            </a:r>
          </a:p>
        </p:txBody>
      </p:sp>
      <p:sp>
        <p:nvSpPr>
          <p:cNvPr id="54" name="ArrD54"/>
          <p:cNvSpPr>
            <a:spLocks noChangeArrowheads="1"/>
          </p:cNvSpPr>
          <p:nvPr/>
        </p:nvSpPr>
        <p:spPr>
          <a:xfrm>
            <a:off x="5980000" y="3440000"/>
            <a:ext cx="160000" cy="240000"/>
          </a:xfrm>
          <a:prstGeom prst="downArrow">
            <a:avLst>
              <a:gd name="adj1" fmla="val 50000"/>
              <a:gd name="adj2" fmla="val 50000"/>
            </a:avLst>
          </a:prstGeom>
          <a:solidFill>
            <a:srgbClr val="1A237E"/>
          </a:solidFill>
        </p:spPr>
        <p:txBody>
          <a:bodyPr/>
          <a:lstStyle/>
          <a:p/>
        </p:txBody>
      </p:sp>
      <p:sp>
        <p:nvSpPr>
          <p:cNvPr id="15" name="Label15"/>
          <p:cNvSpPr/>
          <p:nvPr/>
        </p:nvSpPr>
        <p:spPr>
          <a:xfrm>
            <a:off x="300000" y="3700000"/>
            <a:ext cx="11600000" cy="320000"/>
          </a:xfrm>
          <a:prstGeom prst="rect">
            <a:avLst/>
          </a:prstGeom>
          <a:solidFill>
            <a:srgbClr val="2E7D32"/>
          </a:solidFill>
        </p:spPr>
        <p:txBody>
          <a:bodyPr wrap="square" anchor="ctr" lIns="80000" rIns="80000">
            <a:spAutoFit/>
          </a:bodyPr>
          <a:lstStyle/>
          <a:p>
            <a:pPr algn="ctr"/>
            <a:r>
              <a:rPr lang="en-US" sz="1800" b="1" dirty="0">
                <a:solidFill>
                  <a:srgbClr val="FFFFFF"/>
                </a:solidFill>
                <a:latin typeface="Calibri" pitchFamily="34" charset="0"/>
              </a:rPr>
              <a:t>LAYER 6: RESPONSE  --  Meal plan + nutrient totals saved to Supabase  -&gt;  format_node localises language + Indian portions</a:t>
            </a:r>
          </a:p>
        </p:txBody>
      </p:sp>
      <p:sp>
        <p:nvSpPr>
          <p:cNvPr id="55" name="ArrD55"/>
          <p:cNvSpPr>
            <a:spLocks noChangeArrowheads="1"/>
          </p:cNvSpPr>
          <p:nvPr/>
        </p:nvSpPr>
        <p:spPr>
          <a:xfrm>
            <a:off x="5980000" y="4020000"/>
            <a:ext cx="160000" cy="240000"/>
          </a:xfrm>
          <a:prstGeom prst="downArrow">
            <a:avLst>
              <a:gd name="adj1" fmla="val 50000"/>
              <a:gd name="adj2" fmla="val 50000"/>
            </a:avLst>
          </a:prstGeom>
          <a:solidFill>
            <a:srgbClr val="1A237E"/>
          </a:solidFill>
        </p:spPr>
        <p:txBody>
          <a:bodyPr/>
          <a:lstStyle/>
          <a:p/>
        </p:txBody>
      </p:sp>
      <p:sp>
        <p:nvSpPr>
          <p:cNvPr id="16" name="Label16"/>
          <p:cNvSpPr/>
          <p:nvPr/>
        </p:nvSpPr>
        <p:spPr>
          <a:xfrm>
            <a:off x="300000" y="4280000"/>
            <a:ext cx="11600000" cy="320000"/>
          </a:xfrm>
          <a:prstGeom prst="rect">
            <a:avLst/>
          </a:prstGeom>
          <a:solidFill>
            <a:srgbClr val="37474F"/>
          </a:solidFill>
        </p:spPr>
        <p:txBody>
          <a:bodyPr wrap="square" anchor="ctr" lIns="80000" rIns="80000">
            <a:spAutoFit/>
          </a:bodyPr>
          <a:lstStyle/>
          <a:p>
            <a:pPr algn="ctr"/>
            <a:r>
              <a:rPr lang="en-US" sz="1800" b="1" dirty="0">
                <a:solidFill>
                  <a:srgbClr val="FFFFFF"/>
                </a:solidFill>
                <a:latin typeface="Calibri" pitchFamily="34" charset="0"/>
              </a:rPr>
              <a:t>LAYER 7: FRONTEND DISPLAY  --  Meal plan cards  +  Micronutrient gauge dashboard  +  Food log  +  Admin Dashboard</a:t>
            </a:r>
          </a:p>
        </p:txBody>
      </p:sp>
      <p:sp>
        <p:nvSpPr>
          <p:cNvPr id="40" name="DataSrc"/>
          <p:cNvSpPr/>
          <p:nvPr/>
        </p:nvSpPr>
        <p:spPr>
          <a:xfrm>
            <a:off x="300000" y="4760000"/>
            <a:ext cx="11600000" cy="1380000"/>
          </a:xfrm>
          <a:prstGeom prst="rect">
            <a:avLst/>
          </a:prstGeom>
          <a:solidFill>
            <a:srgbClr val="FAFAFA"/>
          </a:solidFill>
          <a:ln w="12000">
            <a:solidFill>
              <a:srgbClr val="1A237E"/>
            </a:solidFill>
          </a:ln>
        </p:spPr>
        <p:txBody>
          <a:bodyPr wrap="square" lIns="150000" tIns="100000">
            <a:normAutofit/>
          </a:bodyPr>
          <a:lstStyle/>
          <a:p>
            <a:pPr algn="l">
              <a:buNone/>
            </a:pPr>
            <a:r>
              <a:rPr lang="en-US" sz="1700" b="1" dirty="0">
                <a:solidFill>
                  <a:srgbClr val="1A237E"/>
                </a:solidFill>
                <a:latin typeface="Calibri" pitchFamily="34" charset="0"/>
              </a:rPr>
              <a:t>Data Sources &amp; Validation</a:t>
            </a:r>
          </a:p>
          <a:p>
            <a:pPr marL="300000" indent="-300000" algn="l">
              <a:lnSpc>
                <a:spcPct val="110000"/>
              </a:lnSpc>
              <a:spcAft>
                <a:spcPts val="80"/>
              </a:spcAft>
              <a:buChar char="-"/>
            </a:pPr>
            <a:r>
              <a:rPr lang="en-US" sz="1500" dirty="0">
                <a:solidFill>
                  <a:srgbClr val="111111"/>
                </a:solidFill>
                <a:latin typeface="Calibri" pitchFamily="34" charset="0"/>
              </a:rPr>
              <a:t>IFCT 2017 (NIN Hyderabad) -- 600 Indian foods with verified lab-tested nutrient profiles per 100g</a:t>
            </a:r>
          </a:p>
          <a:p>
            <a:pPr marL="300000" indent="-300000" algn="l">
              <a:lnSpc>
                <a:spcPct val="110000"/>
              </a:lnSpc>
              <a:spcAft>
                <a:spcPts val="80"/>
              </a:spcAft>
              <a:buChar char="-"/>
            </a:pPr>
            <a:r>
              <a:rPr lang="en-US" sz="1500" dirty="0">
                <a:solidFill>
                  <a:srgbClr val="111111"/>
                </a:solidFill>
                <a:latin typeface="Calibri" pitchFamily="34" charset="0"/>
              </a:rPr>
              <a:t>ICMR-NIN 2024 Dietary Reference Values -- life-stage RDA for 14 nutrients; Indian population specific</a:t>
            </a:r>
          </a:p>
          <a:p>
            <a:pPr marL="300000" indent="-300000" algn="l">
              <a:lnSpc>
                <a:spcPct val="110000"/>
              </a:lnSpc>
              <a:spcAft>
                <a:spcPts val="80"/>
              </a:spcAft>
              <a:buChar char="-"/>
            </a:pPr>
            <a:r>
              <a:rPr lang="en-US" sz="1500" dirty="0">
                <a:solidFill>
                  <a:srgbClr val="111111"/>
                </a:solidFill>
                <a:latin typeface="Calibri" pitchFamily="34" charset="0"/>
              </a:rPr>
              <a:t>Medicine-Nutrition Catalog -- 200+ common Indian brand/generic drugs curated by pharmacist; validated against clinical literature</a:t>
            </a:r>
          </a:p>
          <a:p>
            <a:pPr marL="300000" indent="-300000" algn="l">
              <a:lnSpc>
                <a:spcPct val="110000"/>
              </a:lnSpc>
              <a:spcAft>
                <a:spcPts val="80"/>
              </a:spcAft>
              <a:buChar char="-"/>
            </a:pPr>
            <a:r>
              <a:rPr lang="en-US" sz="1500" dirty="0">
                <a:solidFill>
                  <a:srgbClr val="111111"/>
                </a:solidFill>
                <a:latin typeface="Calibri" pitchFamily="34" charset="0"/>
              </a:rPr>
              <a:t>District Foods DB -- NSSO consumption surveys + manual curation; 100 high-population districts at MVP; expanding to 770 districts</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TotalTime>
  <Words>80</Words>
  <Application>Microsoft Office PowerPoint</Application>
  <PresentationFormat>Widescreen</PresentationFormat>
  <Paragraphs>11</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Simple Light</vt:lpstr>
      <vt:lpstr>PowerPoint Presentation</vt:lpstr>
      <vt:lpstr>PowerPoint Presentation</vt:lpstr>
      <vt:lpstr>PowerPoint Presentation</vt:lpstr>
      <vt:lpstr>PROBLEM STATEMENT &amp; OBJECTIVES </vt:lpstr>
      <vt:lpstr>PowerPoint Presentation</vt:lpstr>
      <vt:lpstr>EXPECTED OUTCOMES</vt:lpstr>
      <vt:lpstr>TIMELINE(GANTT CHART FOR A DURATION OF 16 WEEKS)</vt:lpstr>
      <vt:lpstr>REFERENCES (MINIMUM 20 REFERENCES FROM SCOPUS/WOS/IEEE/PEER REVIEWED JOURNALS)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sv m</dc:creator>
  <cp:lastModifiedBy>tharun2005328@gmail.com</cp:lastModifiedBy>
  <cp:revision>52</cp:revision>
  <dcterms:created xsi:type="dcterms:W3CDTF">2025-01-30T10:05:46Z</dcterms:created>
  <dcterms:modified xsi:type="dcterms:W3CDTF">2026-03-14T10:47:41Z</dcterms:modified>
</cp:coreProperties>
</file>